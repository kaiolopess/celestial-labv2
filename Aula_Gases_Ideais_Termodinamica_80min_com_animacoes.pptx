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97a4a4586940e7" /><Relationship Type="http://schemas.openxmlformats.org/officeDocument/2006/relationships/extended-properties" Target="/docProps/app.xml" Id="Re8fa075af0394e7c" /><Relationship Type="http://schemas.openxmlformats.org/officeDocument/2006/relationships/officeDocument" Target="/ppt/presentation.xml" Id="R7b07bd0e30224c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f800e2d4bf4449"/>
  </p:sldMasterIdLst>
  <p:notesMasterIdLst>
    <p:notesMasterId xmlns:r="http://schemas.openxmlformats.org/officeDocument/2006/relationships" r:id="Rd42afd8aac7a431d"/>
  </p:notesMasterIdLst>
  <p:sldIdLst>
    <p:sldId xmlns:r="http://schemas.openxmlformats.org/officeDocument/2006/relationships" id="256" r:id="R5eea11844b644d21"/>
    <p:sldId xmlns:r="http://schemas.openxmlformats.org/officeDocument/2006/relationships" id="257" r:id="Rc07991e1c65f40ed"/>
    <p:sldId xmlns:r="http://schemas.openxmlformats.org/officeDocument/2006/relationships" id="258" r:id="R8b003e4496ec4e21"/>
    <p:sldId xmlns:r="http://schemas.openxmlformats.org/officeDocument/2006/relationships" id="259" r:id="R8d0d95ca7e484702"/>
    <p:sldId xmlns:r="http://schemas.openxmlformats.org/officeDocument/2006/relationships" id="260" r:id="R36470e9459624c69"/>
    <p:sldId xmlns:r="http://schemas.openxmlformats.org/officeDocument/2006/relationships" id="261" r:id="Rd06752e845bc4639"/>
    <p:sldId xmlns:r="http://schemas.openxmlformats.org/officeDocument/2006/relationships" id="262" r:id="Rf430963517444014"/>
    <p:sldId xmlns:r="http://schemas.openxmlformats.org/officeDocument/2006/relationships" id="263" r:id="R7e69073fe3f34fd7"/>
    <p:sldId xmlns:r="http://schemas.openxmlformats.org/officeDocument/2006/relationships" id="264" r:id="Rdb243c786c8f46bf"/>
    <p:sldId xmlns:r="http://schemas.openxmlformats.org/officeDocument/2006/relationships" id="265" r:id="R16cd8eb021f44cfe"/>
    <p:sldId xmlns:r="http://schemas.openxmlformats.org/officeDocument/2006/relationships" id="266" r:id="R69755cce0cd04430"/>
    <p:sldId xmlns:r="http://schemas.openxmlformats.org/officeDocument/2006/relationships" id="267" r:id="R5d68babdda494b3b"/>
    <p:sldId xmlns:r="http://schemas.openxmlformats.org/officeDocument/2006/relationships" id="268" r:id="R04329f2f3c8b45b1"/>
    <p:sldId xmlns:r="http://schemas.openxmlformats.org/officeDocument/2006/relationships" id="269" r:id="R8b1bb9e8f73f4713"/>
    <p:sldId xmlns:r="http://schemas.openxmlformats.org/officeDocument/2006/relationships" id="270" r:id="R394f4badd7db4bf1"/>
    <p:sldId xmlns:r="http://schemas.openxmlformats.org/officeDocument/2006/relationships" id="271" r:id="R97779e3a847d4606"/>
    <p:sldId xmlns:r="http://schemas.openxmlformats.org/officeDocument/2006/relationships" id="272" r:id="R70d3a37a465548a3"/>
    <p:sldId xmlns:r="http://schemas.openxmlformats.org/officeDocument/2006/relationships" id="273" r:id="Re1c17423c74b47be"/>
    <p:sldId xmlns:r="http://schemas.openxmlformats.org/officeDocument/2006/relationships" id="274" r:id="R8a5667286ee34318"/>
    <p:sldId xmlns:r="http://schemas.openxmlformats.org/officeDocument/2006/relationships" id="275" r:id="R8c061f403c7041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e65320f53843f2" /><Relationship Type="http://schemas.openxmlformats.org/officeDocument/2006/relationships/slideMaster" Target="/ppt/slideMasters/slideMaster1.xml" Id="R75f800e2d4bf4449" /><Relationship Type="http://schemas.openxmlformats.org/officeDocument/2006/relationships/notesMaster" Target="/ppt/notesMasters/notesMaster1.xml" Id="Rd42afd8aac7a431d" /><Relationship Type="http://schemas.openxmlformats.org/officeDocument/2006/relationships/presProps" Target="/ppt/presProps.xml" Id="R125906ee12d6441c" /><Relationship Type="http://schemas.openxmlformats.org/officeDocument/2006/relationships/tableStyles" Target="/ppt/tableStyles.xml" Id="Rc5ad0b6b50fd42b6" /><Relationship Type="http://schemas.openxmlformats.org/officeDocument/2006/relationships/slide" Target="/ppt/slides/slide1.xml" Id="R5eea11844b644d21" /><Relationship Type="http://schemas.openxmlformats.org/officeDocument/2006/relationships/slide" Target="/ppt/slides/slide2.xml" Id="Rc07991e1c65f40ed" /><Relationship Type="http://schemas.openxmlformats.org/officeDocument/2006/relationships/slide" Target="/ppt/slides/slide3.xml" Id="R8b003e4496ec4e21" /><Relationship Type="http://schemas.openxmlformats.org/officeDocument/2006/relationships/slide" Target="/ppt/slides/slide4.xml" Id="R8d0d95ca7e484702" /><Relationship Type="http://schemas.openxmlformats.org/officeDocument/2006/relationships/slide" Target="/ppt/slides/slide5.xml" Id="R36470e9459624c69" /><Relationship Type="http://schemas.openxmlformats.org/officeDocument/2006/relationships/slide" Target="/ppt/slides/slide6.xml" Id="Rd06752e845bc4639" /><Relationship Type="http://schemas.openxmlformats.org/officeDocument/2006/relationships/slide" Target="/ppt/slides/slide7.xml" Id="Rf430963517444014" /><Relationship Type="http://schemas.openxmlformats.org/officeDocument/2006/relationships/slide" Target="/ppt/slides/slide8.xml" Id="R7e69073fe3f34fd7" /><Relationship Type="http://schemas.openxmlformats.org/officeDocument/2006/relationships/slide" Target="/ppt/slides/slide9.xml" Id="Rdb243c786c8f46bf" /><Relationship Type="http://schemas.openxmlformats.org/officeDocument/2006/relationships/slide" Target="/ppt/slides/slide10.xml" Id="R16cd8eb021f44cfe" /><Relationship Type="http://schemas.openxmlformats.org/officeDocument/2006/relationships/slide" Target="/ppt/slides/slide11.xml" Id="R69755cce0cd04430" /><Relationship Type="http://schemas.openxmlformats.org/officeDocument/2006/relationships/slide" Target="/ppt/slides/slide12.xml" Id="R5d68babdda494b3b" /><Relationship Type="http://schemas.openxmlformats.org/officeDocument/2006/relationships/slide" Target="/ppt/slides/slide13.xml" Id="R04329f2f3c8b45b1" /><Relationship Type="http://schemas.openxmlformats.org/officeDocument/2006/relationships/slide" Target="/ppt/slides/slide14.xml" Id="R8b1bb9e8f73f4713" /><Relationship Type="http://schemas.openxmlformats.org/officeDocument/2006/relationships/slide" Target="/ppt/slides/slide15.xml" Id="R394f4badd7db4bf1" /><Relationship Type="http://schemas.openxmlformats.org/officeDocument/2006/relationships/slide" Target="/ppt/slides/slide16.xml" Id="R97779e3a847d4606" /><Relationship Type="http://schemas.openxmlformats.org/officeDocument/2006/relationships/slide" Target="/ppt/slides/slide17.xml" Id="R70d3a37a465548a3" /><Relationship Type="http://schemas.openxmlformats.org/officeDocument/2006/relationships/slide" Target="/ppt/slides/slide18.xml" Id="Re1c17423c74b47be" /><Relationship Type="http://schemas.openxmlformats.org/officeDocument/2006/relationships/slide" Target="/ppt/slides/slide19.xml" Id="R8a5667286ee34318" /><Relationship Type="http://schemas.openxmlformats.org/officeDocument/2006/relationships/slide" Target="/ppt/slides/slide20.xml" Id="R8c061f403c7041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d0bc00d63d4c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70bef22224997" /><Relationship Type="http://schemas.openxmlformats.org/officeDocument/2006/relationships/notesMaster" Target="/ppt/notesMasters/notesMaster1.xml" Id="Reb13417e714747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0e2565848b4410" /><Relationship Type="http://schemas.openxmlformats.org/officeDocument/2006/relationships/notesMaster" Target="/ppt/notesMasters/notesMaster1.xml" Id="Rfcb987c4dd2341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8a8ea8cfd948b4" /><Relationship Type="http://schemas.openxmlformats.org/officeDocument/2006/relationships/notesMaster" Target="/ppt/notesMasters/notesMaster1.xml" Id="Read23b3a287648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c34572a97a4624" /><Relationship Type="http://schemas.openxmlformats.org/officeDocument/2006/relationships/notesMaster" Target="/ppt/notesMasters/notesMaster1.xml" Id="R7e1130baa06b4f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a1ee19e1404a7c" /><Relationship Type="http://schemas.openxmlformats.org/officeDocument/2006/relationships/notesMaster" Target="/ppt/notesMasters/notesMaster1.xml" Id="R3993420de2864c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29a822265540f1" /><Relationship Type="http://schemas.openxmlformats.org/officeDocument/2006/relationships/notesMaster" Target="/ppt/notesMasters/notesMaster1.xml" Id="R10e8799d63ce4e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fce186e2704e55" /><Relationship Type="http://schemas.openxmlformats.org/officeDocument/2006/relationships/notesMaster" Target="/ppt/notesMasters/notesMaster1.xml" Id="Rc5a650d2cf004b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1c6fbdd917458c" /><Relationship Type="http://schemas.openxmlformats.org/officeDocument/2006/relationships/notesMaster" Target="/ppt/notesMasters/notesMaster1.xml" Id="R50834a609b9040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ac5b765c324a70" /><Relationship Type="http://schemas.openxmlformats.org/officeDocument/2006/relationships/notesMaster" Target="/ppt/notesMasters/notesMaster1.xml" Id="R3a78718a9b4f4a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d2cc5d7f2a4f01" /><Relationship Type="http://schemas.openxmlformats.org/officeDocument/2006/relationships/notesMaster" Target="/ppt/notesMasters/notesMaster1.xml" Id="Rb4f6c637253b48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4e2fb2fd1014f95" /><Relationship Type="http://schemas.openxmlformats.org/officeDocument/2006/relationships/notesMaster" Target="/ppt/notesMasters/notesMaster1.xml" Id="Ree303172179d47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51bbbd41534ab4" /><Relationship Type="http://schemas.openxmlformats.org/officeDocument/2006/relationships/notesMaster" Target="/ppt/notesMasters/notesMaster1.xml" Id="R6f880603d8124ca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1f65a3e2d54f96" /><Relationship Type="http://schemas.openxmlformats.org/officeDocument/2006/relationships/notesMaster" Target="/ppt/notesMasters/notesMaster1.xml" Id="Rc516e0ff9c9145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135c833c7464870" /><Relationship Type="http://schemas.openxmlformats.org/officeDocument/2006/relationships/notesMaster" Target="/ppt/notesMasters/notesMaster1.xml" Id="Rac207a6ba15247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b1bd04951d744ea" /><Relationship Type="http://schemas.openxmlformats.org/officeDocument/2006/relationships/notesMaster" Target="/ppt/notesMasters/notesMaster1.xml" Id="R297f3c4aeee1403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5c735b6b9ab4c84" /><Relationship Type="http://schemas.openxmlformats.org/officeDocument/2006/relationships/notesMaster" Target="/ppt/notesMasters/notesMaster1.xml" Id="R1622d0fdfec848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cebcb55ffc43d8" /><Relationship Type="http://schemas.openxmlformats.org/officeDocument/2006/relationships/notesMaster" Target="/ppt/notesMasters/notesMaster1.xml" Id="Rc55d72b9556146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6cd6b67e0744a76" /><Relationship Type="http://schemas.openxmlformats.org/officeDocument/2006/relationships/notesMaster" Target="/ppt/notesMasters/notesMaster1.xml" Id="R9bdcfd1d5bb54d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e879ebe1c94471e" /><Relationship Type="http://schemas.openxmlformats.org/officeDocument/2006/relationships/notesMaster" Target="/ppt/notesMasters/notesMaster1.xml" Id="R330078dae9224b8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6d57cb72a544357" /><Relationship Type="http://schemas.openxmlformats.org/officeDocument/2006/relationships/notesMaster" Target="/ppt/notesMasters/notesMaster1.xml" Id="Rcca6516d6c5f4d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simulador, cálculos rápidos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Apresente as relações proporcionais como ferramentas de cálculo.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Você controla o Celestial Lab. Em cada rodada, mostre o que ficará constante, peça uma votação rápida — sobe, desce ou fica igual —, altere um controle e só então discuta o resultado. Os alunos registram uma palavra ou frase curta.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V = 6,0 L e 40 partículas. Você ajusta T para 200 K, 400 K e 600 K. Antes de cada mudança, a turma prevê se P sobe, desce ou fica igual. Valores esperados no modelo: aproximadamente 110,9; 221,7; 332,6 kPa. Conclusão: quando T dobra, P dobra. Não peça a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 escolha antes de qualquer conta. Resposta: 200 kPa. Como V e n são constantes, P é diretamente proporcional à temperatura em kelvin; quando T dobra, P dobra. Convide um aluno a justificar e então confirme a tendência no simulador.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Mantenha T = 300 K e 40 partículas. Você ajusta V para 3,0 L, 6,0 L e 9,0 L. Antes de cada mudança, a turma prevê a tendência de P. Valores esperados: aproximadamente 332,6; 166,3; 110,9 kPa. Conclusão: quando V dobra, P cai à metade. Não exija cálculo de P×V nem construção de gráfico.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reta decrescente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a votação entre 240, 120 e 60 kPa. Resposta: 60 kPa. Com T e n constantes, pressão e volume são inversamente proporcionais; quando V dobra, P cai à metade. A conta pode ser apenas 120 ÷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três rodadas coletivas na aba Transformações. Em cada uma, a turma vota antes de você mover o controle. Gabarito: isotérmica — V aumenta, P diminui; isobárica — T aumenta, V aumenta; isocórica — T aumenta, P aumenta. Use os gráficos prontos apenas para confirmar as previsões.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uma pausa clara entre as duas partes da aula. Mostre apenas o sistema da animação 1 antes de apresentar qualquer equação. Pergunte: qual parte vamos chamar de sistema? Delimite o gás dentro do pistão; tudo que está fora é a vizinhança.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 Equations - Códigos/primeira_lei_termodinamica_16x9.py</a:t>
            </a:r>
          </a:p>
          <a:p xmlns:a="http://schemas.openxmlformats.org/drawingml/2006/main">
            <a:r>
              <a:t>- C:/Users/User/Desktop/celestial-labv1/Animacao_1_Primeira_Lei_Termodinamica.mp4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Use o desenho para nomear somente três grandezas. Q é a energia transferida por calor; W é a energia transferida por trabalho; ΔU é a mudança da energia interna do gás. Evite falar de transformações gasosas nesta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Q = ΔU + W em voz alta. Nesta aula, W representa o trabalho realizado pelo gás. Assim, Q &gt; 0 quando o calor entra; W &gt; 0 quando o gás realiza trabalho; ΔU &gt; 0 quando a energia interna aumenta. A Khan Academy também apresenta a convenção equivalente em que o trabalho sobre o sistema é positivo; não misture as duas durante a resolução.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Reproduza Animacao_1_Primeira_Lei_Termodinamica.mp4. Antes da equação aparecer, peça que a turma descreva o que observa: calor entrando, partículas mais agitadas e pistão subindo. No quadro final, conecte a cena a Q = ΔU + 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C:/Users/User/Desktop/celestial-labv1/Animacao_1_Primeira_Lei_Termodinamica.mp4</a:t>
            </a:r>
          </a:p>
          <a:p xmlns:a="http://schemas.openxmlformats.org/drawingml/2006/main">
            <a:r>
              <a:t>- C:/Users/User/Desktop/Celestial Equations - Códigos/primeira_lei_termodinamica_16x9.py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cerca de 20 segundos para a tentativa. Identifique Q = 100 J e W = 40 J. Em Q = ΔU + W, ΔU = 100 − 40 = 60 J. A conta tem uma única etapa: 40 J aparecem como trabalho e 60 J aumentam a energia interna.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Reproduza Animacao_2_Compressao_Convencao_Sinais.mp4. Pare depois que W &lt; 0 aparecer e pergunte quem realiza trabalho sobre quem. No exemplo isolado, Q = 0. Como Q = ΔU + W, temos ΔU = −W &gt; 0: o trabalho feito sobre o gás aumenta sua energia interna. Não introduza PΔV nem nomes de transformações.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C:/Users/User/Desktop/celestial-labv1/Animacao_2_Compressao_Convencao_Sinais.mp4</a:t>
            </a:r>
          </a:p>
          <a:p xmlns:a="http://schemas.openxmlformats.org/drawingml/2006/main">
            <a:r>
              <a:t>- C:/Users/User/Desktop/celestial-labv1/.deck_build/thermo_v2/animacao2_compressao_sinais.py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P sobe; (2) Q é calor transferido, ΔU é a mudança da energia interna e W é o trabalho realizado pelo gás; (3) 0 = ΔU − 40, portanto ΔU = 40 J.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https://pt.khanacademy.org/science/physics/thermodynamics/laws-of-thermodynamics/a/what-is-the-first-law-of-thermodynamics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9ebef667044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5be75f6e804717" /><Relationship Type="http://schemas.openxmlformats.org/officeDocument/2006/relationships/slideLayout" Target="/ppt/slideLayouts/slideLayout1.xml" Id="R9a26b203e3c346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6b203e3c346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e1e647dec443a" /><Relationship Type="http://schemas.openxmlformats.org/officeDocument/2006/relationships/image" Target="/ppt/media/image.jpeg" Id="Rb293b413fedc48c0" /><Relationship Type="http://schemas.openxmlformats.org/officeDocument/2006/relationships/notesSlide" Target="/ppt/notesSlides/notesSlide1.xml" Id="Rb2d0bc9a58a94d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acb23d16d4563" /><Relationship Type="http://schemas.openxmlformats.org/officeDocument/2006/relationships/notesSlide" Target="/ppt/notesSlides/notesSlide2.xml" Id="Rd009f87fe73c49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208fa5e8447e7" /><Relationship Type="http://schemas.openxmlformats.org/officeDocument/2006/relationships/image" Target="/ppt/media/image2.jpeg" Id="R6ddf0834936f47ce" /><Relationship Type="http://schemas.openxmlformats.org/officeDocument/2006/relationships/notesSlide" Target="/ppt/notesSlides/notesSlide3.xml" Id="R57617e3d7aa244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fe08b00fe4596" /><Relationship Type="http://schemas.openxmlformats.org/officeDocument/2006/relationships/notesSlide" Target="/ppt/notesSlides/notesSlide4.xml" Id="R648321aa7e8549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5c6f829c446f8" /><Relationship Type="http://schemas.openxmlformats.org/officeDocument/2006/relationships/image" Target="/ppt/media/image3.jpeg" Id="R8eb9f92451894989" /><Relationship Type="http://schemas.openxmlformats.org/officeDocument/2006/relationships/notesSlide" Target="/ppt/notesSlides/notesSlide5.xml" Id="Rc7ce30b9b4a84c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dcf8c85c64ce4" /><Relationship Type="http://schemas.openxmlformats.org/officeDocument/2006/relationships/notesSlide" Target="/ppt/notesSlides/notesSlide6.xml" Id="R6f1e56ddfeb949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5b173e6434223" /><Relationship Type="http://schemas.openxmlformats.org/officeDocument/2006/relationships/chart" Target="/ppt/slides/charts/chart1.xml" Id="R467d59526ad44740" /><Relationship Type="http://schemas.openxmlformats.org/officeDocument/2006/relationships/notesSlide" Target="/ppt/notesSlides/notesSlide7.xml" Id="R041815ddef714e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58d871cce4de2" /><Relationship Type="http://schemas.openxmlformats.org/officeDocument/2006/relationships/notesSlide" Target="/ppt/notesSlides/notesSlide8.xml" Id="R77a1b1454b7543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8c9728fef47ec" /><Relationship Type="http://schemas.openxmlformats.org/officeDocument/2006/relationships/notesSlide" Target="/ppt/notesSlides/notesSlide9.xml" Id="R0f854fe93a574c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489d24bde41c5" /><Relationship Type="http://schemas.openxmlformats.org/officeDocument/2006/relationships/chart" Target="/ppt/slides/charts/chart2.xml" Id="R2ce7b723e7414f8d" /><Relationship Type="http://schemas.openxmlformats.org/officeDocument/2006/relationships/notesSlide" Target="/ppt/notesSlides/notesSlide10.xml" Id="R887e92c559e340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dda6847774417" /><Relationship Type="http://schemas.openxmlformats.org/officeDocument/2006/relationships/notesSlide" Target="/ppt/notesSlides/notesSlide11.xml" Id="Rbe58b503dbca40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f67e90ec354948" /><Relationship Type="http://schemas.openxmlformats.org/officeDocument/2006/relationships/notesSlide" Target="/ppt/notesSlides/notesSlide12.xml" Id="R48ed559f147343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79fc67723440d" /><Relationship Type="http://schemas.openxmlformats.org/officeDocument/2006/relationships/image" Target="/ppt/media/image4.jpeg" Id="Rcab31cdf005849a7" /><Relationship Type="http://schemas.openxmlformats.org/officeDocument/2006/relationships/image" Target="/ppt/media/image5.jpeg" Id="Rfddabacba85944fc" /><Relationship Type="http://schemas.openxmlformats.org/officeDocument/2006/relationships/image" Target="/ppt/media/image6.jpeg" Id="Rd97619a3570f4133" /><Relationship Type="http://schemas.openxmlformats.org/officeDocument/2006/relationships/notesSlide" Target="/ppt/notesSlides/notesSlide13.xml" Id="R19ad08d62e8748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5db5766cb4691" /><Relationship Type="http://schemas.openxmlformats.org/officeDocument/2006/relationships/image" Target="/ppt/media/image.png" Id="R435fc65286154a9a" /><Relationship Type="http://schemas.openxmlformats.org/officeDocument/2006/relationships/notesSlide" Target="/ppt/notesSlides/notesSlide14.xml" Id="R8e2517b655a24c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7bbce97fc400b" /><Relationship Type="http://schemas.openxmlformats.org/officeDocument/2006/relationships/notesSlide" Target="/ppt/notesSlides/notesSlide15.xml" Id="R9bf736275b35483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c1e633db3493e" /><Relationship Type="http://schemas.openxmlformats.org/officeDocument/2006/relationships/notesSlide" Target="/ppt/notesSlides/notesSlide16.xml" Id="R406bb5a7012347f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26b0aa8e64154" /><Relationship Type="http://schemas.openxmlformats.org/officeDocument/2006/relationships/image" Target="/ppt/media/image2.png" Id="R480754ad94954658" /><Relationship Type="http://schemas.openxmlformats.org/officeDocument/2006/relationships/notesSlide" Target="/ppt/notesSlides/notesSlide17.xml" Id="R506fa8f5d9d9474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a3a6a73b64d71" /><Relationship Type="http://schemas.openxmlformats.org/officeDocument/2006/relationships/notesSlide" Target="/ppt/notesSlides/notesSlide18.xml" Id="Rd73f5f9648c54d1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a2b55f5cb47b2" /><Relationship Type="http://schemas.openxmlformats.org/officeDocument/2006/relationships/image" Target="/ppt/media/image3.png" Id="Rb015681d93944b67" /><Relationship Type="http://schemas.openxmlformats.org/officeDocument/2006/relationships/notesSlide" Target="/ppt/notesSlides/notesSlide19.xml" Id="R1714acc6be75477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1596da07a46ce" /><Relationship Type="http://schemas.openxmlformats.org/officeDocument/2006/relationships/notesSlide" Target="/ppt/notesSlides/notesSlide20.xml" Id="R5306916797504ad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3b413fedc48c0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f0834936f47ce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Na demonstração, observe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Faça uma previsão curta.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move um controle.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Registre: subiu, desceu ou ficou igual.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9f92451894989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Vote antes de cada teste.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T =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T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67d59526ad44740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T: 300 K → 600 K; P inicial = 100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50, 100 ou 200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Demonstração 2: expandir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V =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professor muda para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turma responde: P sobe, desce ou fica igual?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Complete: quando V dobra, P __________.</a:t>
            </a:r>
          </a:p>
        </p:txBody>
      </p:sp>
      <p:graphicFrame>
        <p:nvGraphicFramePr>
          <p:cNvPr id="33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Tendência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Sem construir gráfico: observe apenas a tendência.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e7b723e7414f8d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dobra, o que acontece com P?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 e n permanecem constantes.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V: 4,0 L → 8,0 L; P inicial = 120 kPa.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final será 240, 120 ou 60 kPa?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 → justifique → confira no simulador.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Três previsões; três testes no Celestial Lab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31cdf005849a7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V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abacba85944fc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V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619a3570f4133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T aumenta, P sobe,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desce ou fica igual?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 turma vota. O professor move o controle. O gráfico confirma.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Calor, energia interna e trabalho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Agora seguimos o caminho da energia.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5fc65286154a9a"/>
          <a:srcRect xmlns:a="http://schemas.openxmlformats.org/drawingml/2006/main" l="0" t="47" r="0" b="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091"/>
            </a:avLst>
          </a:prstGeom>
        </p:spPr>
      </p:pic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dentro do pistão é 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que entra ou sai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sistema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mudança: ΔU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transferida pelo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movimento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Q e W transferem energia; ΔU mede a mudança da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acompanha Q, ΔU e W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Q = ΔU +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calor = mudança interna + trabalho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calor entra no sistema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A energia se conserva: os sinais mostram para onde ela foi.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Aqui, W é o trabalho realizado pelo gás.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Animação 1 — calor entra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o sistema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Q entra no gás e as partículas se agitam mais.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Pergunta durante a animação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O que muda no gás e no pistão?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calor recebido se distribui entre ΔU e W.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754ad94954658"/>
          <a:stretch xmlns:a="http://schemas.openxmlformats.org/drawingml/2006/main"/>
        </p:blipFill>
        <p:spPr>
          <a:xfrm xmlns:a="http://schemas.openxmlformats.org/drawingml/2006/main">
            <a:off x="533400" y="2240161"/>
            <a:ext cx="5429250" cy="3053953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Conta rápida — para onde foram 100 J?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Q = 100 J.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W = 40 J.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qual é o valor de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 segundos em dupla → depois, explique.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Animação 2 — compressão e sinais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Observe a compressão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Quem realiza trabalho sobre quem?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Convenção desta aula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W &lt; 0: trabalho realizado sobre o gás.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Q = 0: ΔU = −W &gt; 0; a energia interna aumenta.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5681d93944b67"/>
          <a:stretch xmlns:a="http://schemas.openxmlformats.org/drawingml/2006/main"/>
        </p:blipFill>
        <p:spPr>
          <a:xfrm xmlns:a="http://schemas.openxmlformats.org/drawingml/2006/main">
            <a:off x="533400" y="2240161"/>
            <a:ext cx="5429250" cy="3053953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 — três respostas curtas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 fixo, se T aumenta, P sobe ou desce?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Q = ΔU + W, o que Q, ΔU e W representam?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Q = 0 e W = −40 J,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Poucas palavras e uma conta.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2026-08-23T17:59:50.2500000Z</dcterms:created>
  <dcterms:modified xsi:type="dcterms:W3CDTF">2026-08-23T17:59:50.2500000Z</dcterms:modified>
</coreProperties>
</file>