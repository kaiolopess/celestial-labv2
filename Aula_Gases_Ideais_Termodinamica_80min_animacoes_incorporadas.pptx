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3ba0c8d9b14f6e" /><Relationship Type="http://schemas.openxmlformats.org/officeDocument/2006/relationships/extended-properties" Target="/docProps/app.xml" Id="R2267124e1223431f" /><Relationship Type="http://schemas.openxmlformats.org/officeDocument/2006/relationships/officeDocument" Target="/ppt/presentation.xml" Id="Rfe2c339369e24f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08d0ecf7424143"/>
  </p:sldMasterIdLst>
  <p:notesMasterIdLst>
    <p:notesMasterId xmlns:r="http://schemas.openxmlformats.org/officeDocument/2006/relationships" r:id="Rdee2506b26da4505"/>
  </p:notesMasterIdLst>
  <p:sldIdLst>
    <p:sldId xmlns:r="http://schemas.openxmlformats.org/officeDocument/2006/relationships" id="256" r:id="Rddd2abceb173432c"/>
    <p:sldId xmlns:r="http://schemas.openxmlformats.org/officeDocument/2006/relationships" id="257" r:id="Ra711798addbc4cdf"/>
    <p:sldId xmlns:r="http://schemas.openxmlformats.org/officeDocument/2006/relationships" id="258" r:id="Ra10e2df7108a416d"/>
    <p:sldId xmlns:r="http://schemas.openxmlformats.org/officeDocument/2006/relationships" id="259" r:id="R9664808b5a1548f2"/>
    <p:sldId xmlns:r="http://schemas.openxmlformats.org/officeDocument/2006/relationships" id="260" r:id="R433c235f7d7049b8"/>
    <p:sldId xmlns:r="http://schemas.openxmlformats.org/officeDocument/2006/relationships" id="261" r:id="R5f406e28708642ac"/>
    <p:sldId xmlns:r="http://schemas.openxmlformats.org/officeDocument/2006/relationships" id="262" r:id="R80da7afde1f5488d"/>
    <p:sldId xmlns:r="http://schemas.openxmlformats.org/officeDocument/2006/relationships" id="263" r:id="R3970710948cc4710"/>
    <p:sldId xmlns:r="http://schemas.openxmlformats.org/officeDocument/2006/relationships" id="264" r:id="R8acf4f95ec944220"/>
    <p:sldId xmlns:r="http://schemas.openxmlformats.org/officeDocument/2006/relationships" id="265" r:id="R06a1d7c60f264165"/>
    <p:sldId xmlns:r="http://schemas.openxmlformats.org/officeDocument/2006/relationships" id="266" r:id="R1059aba3ac5b4c66"/>
    <p:sldId xmlns:r="http://schemas.openxmlformats.org/officeDocument/2006/relationships" id="267" r:id="Rec84d0ac98cc480c"/>
    <p:sldId xmlns:r="http://schemas.openxmlformats.org/officeDocument/2006/relationships" id="268" r:id="R09632b0e190f4e68"/>
    <p:sldId xmlns:r="http://schemas.openxmlformats.org/officeDocument/2006/relationships" id="269" r:id="R1dc3220590f44f79"/>
    <p:sldId xmlns:r="http://schemas.openxmlformats.org/officeDocument/2006/relationships" id="270" r:id="Re46cd16338384087"/>
    <p:sldId xmlns:r="http://schemas.openxmlformats.org/officeDocument/2006/relationships" id="271" r:id="R2e6823bfae064e84"/>
    <p:sldId xmlns:r="http://schemas.openxmlformats.org/officeDocument/2006/relationships" id="272" r:id="R0cc0ba7e9fe04c6e"/>
    <p:sldId xmlns:r="http://schemas.openxmlformats.org/officeDocument/2006/relationships" id="273" r:id="Rc9e3599e183445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8a0702b2fa4d3a" /><Relationship Type="http://schemas.openxmlformats.org/officeDocument/2006/relationships/slideMaster" Target="/ppt/slideMasters/slideMaster1.xml" Id="R1f08d0ecf7424143" /><Relationship Type="http://schemas.openxmlformats.org/officeDocument/2006/relationships/notesMaster" Target="/ppt/notesMasters/notesMaster1.xml" Id="Rdee2506b26da4505" /><Relationship Type="http://schemas.openxmlformats.org/officeDocument/2006/relationships/presProps" Target="/ppt/presProps.xml" Id="R370cec71d6fe48f0" /><Relationship Type="http://schemas.openxmlformats.org/officeDocument/2006/relationships/tableStyles" Target="/ppt/tableStyles.xml" Id="R30323830db22484d" /><Relationship Type="http://schemas.openxmlformats.org/officeDocument/2006/relationships/slide" Target="/ppt/slides/slide1.xml" Id="Rddd2abceb173432c" /><Relationship Type="http://schemas.openxmlformats.org/officeDocument/2006/relationships/slide" Target="/ppt/slides/slide2.xml" Id="Ra711798addbc4cdf" /><Relationship Type="http://schemas.openxmlformats.org/officeDocument/2006/relationships/slide" Target="/ppt/slides/slide3.xml" Id="Ra10e2df7108a416d" /><Relationship Type="http://schemas.openxmlformats.org/officeDocument/2006/relationships/slide" Target="/ppt/slides/slide4.xml" Id="R9664808b5a1548f2" /><Relationship Type="http://schemas.openxmlformats.org/officeDocument/2006/relationships/slide" Target="/ppt/slides/slide5.xml" Id="R433c235f7d7049b8" /><Relationship Type="http://schemas.openxmlformats.org/officeDocument/2006/relationships/slide" Target="/ppt/slides/slide6.xml" Id="R5f406e28708642ac" /><Relationship Type="http://schemas.openxmlformats.org/officeDocument/2006/relationships/slide" Target="/ppt/slides/slide7.xml" Id="R80da7afde1f5488d" /><Relationship Type="http://schemas.openxmlformats.org/officeDocument/2006/relationships/slide" Target="/ppt/slides/slide8.xml" Id="R3970710948cc4710" /><Relationship Type="http://schemas.openxmlformats.org/officeDocument/2006/relationships/slide" Target="/ppt/slides/slide9.xml" Id="R8acf4f95ec944220" /><Relationship Type="http://schemas.openxmlformats.org/officeDocument/2006/relationships/slide" Target="/ppt/slides/slide10.xml" Id="R06a1d7c60f264165" /><Relationship Type="http://schemas.openxmlformats.org/officeDocument/2006/relationships/slide" Target="/ppt/slides/slide11.xml" Id="R1059aba3ac5b4c66" /><Relationship Type="http://schemas.openxmlformats.org/officeDocument/2006/relationships/slide" Target="/ppt/slides/slide12.xml" Id="Rec84d0ac98cc480c" /><Relationship Type="http://schemas.openxmlformats.org/officeDocument/2006/relationships/slide" Target="/ppt/slides/slide13.xml" Id="R09632b0e190f4e68" /><Relationship Type="http://schemas.openxmlformats.org/officeDocument/2006/relationships/slide" Target="/ppt/slides/slide14.xml" Id="R1dc3220590f44f79" /><Relationship Type="http://schemas.openxmlformats.org/officeDocument/2006/relationships/slide" Target="/ppt/slides/slide15.xml" Id="Re46cd16338384087" /><Relationship Type="http://schemas.openxmlformats.org/officeDocument/2006/relationships/slide" Target="/ppt/slides/slide16.xml" Id="R2e6823bfae064e84" /><Relationship Type="http://schemas.openxmlformats.org/officeDocument/2006/relationships/slide" Target="/ppt/slides/slide17.xml" Id="R0cc0ba7e9fe04c6e" /><Relationship Type="http://schemas.openxmlformats.org/officeDocument/2006/relationships/slide" Target="/ppt/slides/slide18.xml" Id="Rc9e3599e183445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01389121f349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6cdfd34bf94fc8" /><Relationship Type="http://schemas.openxmlformats.org/officeDocument/2006/relationships/notesMaster" Target="/ppt/notesMasters/notesMaster1.xml" Id="R89f051892c8b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a0f6bc9a894eef" /><Relationship Type="http://schemas.openxmlformats.org/officeDocument/2006/relationships/notesMaster" Target="/ppt/notesMasters/notesMaster1.xml" Id="R11b8e374fded4a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0dbd9dacd2465a" /><Relationship Type="http://schemas.openxmlformats.org/officeDocument/2006/relationships/notesMaster" Target="/ppt/notesMasters/notesMaster1.xml" Id="Redd3259a602a4a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7b4db5f748497e" /><Relationship Type="http://schemas.openxmlformats.org/officeDocument/2006/relationships/notesMaster" Target="/ppt/notesMasters/notesMaster1.xml" Id="R81f0764a68164b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74a6a5bddc4716" /><Relationship Type="http://schemas.openxmlformats.org/officeDocument/2006/relationships/notesMaster" Target="/ppt/notesMasters/notesMaster1.xml" Id="R0970648b0a504f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e22287e28d4004" /><Relationship Type="http://schemas.openxmlformats.org/officeDocument/2006/relationships/notesMaster" Target="/ppt/notesMasters/notesMaster1.xml" Id="Re304d2dd045b4e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d59948f0284e51" /><Relationship Type="http://schemas.openxmlformats.org/officeDocument/2006/relationships/notesMaster" Target="/ppt/notesMasters/notesMaster1.xml" Id="R4b28b17b95884b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733601696446e2" /><Relationship Type="http://schemas.openxmlformats.org/officeDocument/2006/relationships/notesMaster" Target="/ppt/notesMasters/notesMaster1.xml" Id="R4ee9514997a844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98cdccb7094d1a" /><Relationship Type="http://schemas.openxmlformats.org/officeDocument/2006/relationships/notesMaster" Target="/ppt/notesMasters/notesMaster1.xml" Id="R6e7eb0644d3c42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f75f3dc1b44211" /><Relationship Type="http://schemas.openxmlformats.org/officeDocument/2006/relationships/notesMaster" Target="/ppt/notesMasters/notesMaster1.xml" Id="Rb5d4ec68e3374b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6e4fb4fc5847d9" /><Relationship Type="http://schemas.openxmlformats.org/officeDocument/2006/relationships/notesMaster" Target="/ppt/notesMasters/notesMaster1.xml" Id="R4745332ab05445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6fdefb55174d6c" /><Relationship Type="http://schemas.openxmlformats.org/officeDocument/2006/relationships/notesMaster" Target="/ppt/notesMasters/notesMaster1.xml" Id="R5ccb368382b649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dc39adb6ee46f9" /><Relationship Type="http://schemas.openxmlformats.org/officeDocument/2006/relationships/notesMaster" Target="/ppt/notesMasters/notesMaster1.xml" Id="R3ef7a8bc9e4d4a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36198b5b6a4de3" /><Relationship Type="http://schemas.openxmlformats.org/officeDocument/2006/relationships/notesMaster" Target="/ppt/notesMasters/notesMaster1.xml" Id="Re416fc33188249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f3af4af2884aef" /><Relationship Type="http://schemas.openxmlformats.org/officeDocument/2006/relationships/notesMaster" Target="/ppt/notesMasters/notesMaster1.xml" Id="R86d49fa725d047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ef043e2fb74a40" /><Relationship Type="http://schemas.openxmlformats.org/officeDocument/2006/relationships/notesMaster" Target="/ppt/notesMasters/notesMaster1.xml" Id="R3b96716f4df74b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2c5497292344f4" /><Relationship Type="http://schemas.openxmlformats.org/officeDocument/2006/relationships/notesMaster" Target="/ppt/notesMasters/notesMaster1.xml" Id="R3a3ad6fba8134b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3cb2e070e84058" /><Relationship Type="http://schemas.openxmlformats.org/officeDocument/2006/relationships/notesMaster" Target="/ppt/notesMasters/notesMaster1.xml" Id="R7321fa16166640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Inicie a animação no modo apresentação. Primeiro, delimite o sistema: o gás sob o pistão. Pergunte o que muda quando o calor entra. Ao final, conecte a cena a Q = ΔU + W, sem introduzir nomes de transformações gasosas.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C:/Users/User/Desktop/celestial-labv1/Animacao_1_Primeira_Lei_Termodinamica.mp4</a:t>
            </a:r>
          </a:p>
          <a:p xmlns:a="http://schemas.openxmlformats.org/drawingml/2006/main">
            <a:r>
              <a:t>- C:/Users/User/Desktop/Celestial Equations - Códigos/primeira_lei_termodinamica_16x9.py</a:t>
            </a:r>
          </a:p>
          <a:p xmlns:a="http://schemas.openxmlformats.org/drawingml/2006/main">
            <a:r>
              <a:t>- https://pt.khanacademy.org/science/chemistry/thermodynamics-chemistry/internal-energy-sal/v/work-from-expansion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o desenho para nomear somente três grandezas. Q é energia transferida por calor; W é energia transferida por trabalho; ΔU é a mudança da energia interna do gás.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https://pt.khanacademy.org/science/chemistry/thermodynamics-chemistry/internal-energy-sal/v/work-from-expansion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Q = ΔU + W em voz alta. Nesta convenção, W é o trabalho realizado pelo gás. Portanto: Q &gt; 0 quando o calor entra; Q &lt; 0 quando sai; W &gt; 0 quando o gás realiza trabalho; W &lt; 0 quando o trabalho é realizado sobre o gás. ΔU é positivo quando a energia interna aumenta e negativo quando diminui.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https://pt.khanacademy.org/science/chemistry/thermodynamics-chemistry/internal-energy-sal/v/work-from-expansion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Inicie a animação no modo apresentação. Peça que a turma observe o sentido do movimento do pistão. Quando W &lt; 0 aparecer, destaque: pela convenção Q = ΔU + W, o sinal negativo indica trabalho realizado sobre o gás. A animação não usa a hipótese Q = 0 e não introduz transformações.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C:/Users/User/Desktop/celestial-labv1/Animacao_2_Compressao_Convencao_Sinais.mp4</a:t>
            </a:r>
          </a:p>
          <a:p xmlns:a="http://schemas.openxmlformats.org/drawingml/2006/main">
            <a:r>
              <a:t>- C:/Users/User/Desktop/celestial-labv1/animacao2_compressao_sinais.py</a:t>
            </a:r>
          </a:p>
          <a:p xmlns:a="http://schemas.openxmlformats.org/drawingml/2006/main">
            <a:r>
              <a:t>- https://pt.khanacademy.org/science/chemistry/thermodynamics-chemistry/internal-energy-sal/v/work-from-expansion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a pressão aumenta; (2) Q é calor transferido, ΔU é a mudança da energia interna e W é o trabalho realizado pelo gás; (3) 0 = ΔU − 40, portanto ΔU =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https://pt.khanacademy.org/science/chemistry/thermodynamics-chemistry/internal-energy-sal/v/work-from-expansion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938e528de44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3e1a4e3a4d4777" /><Relationship Type="http://schemas.openxmlformats.org/officeDocument/2006/relationships/slideLayout" Target="/ppt/slideLayouts/slideLayout1.xml" Id="R9ba88c509db44a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a88c509db44a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50ade872e4739" /><Relationship Type="http://schemas.openxmlformats.org/officeDocument/2006/relationships/image" Target="/ppt/media/image.jpeg" Id="Rae1dba30542a4a9b" /><Relationship Type="http://schemas.openxmlformats.org/officeDocument/2006/relationships/notesSlide" Target="/ppt/notesSlides/notesSlide1.xml" Id="Re40cb106d4c647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d9bd5affd4930" /><Relationship Type="http://schemas.openxmlformats.org/officeDocument/2006/relationships/notesSlide" Target="/ppt/notesSlides/notesSlide2.xml" Id="Rec42159446284d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6924b06d54390" /><Relationship Type="http://schemas.openxmlformats.org/officeDocument/2006/relationships/image" Target="/ppt/media/image2.jpeg" Id="R8f8b7af8a18343f7" /><Relationship Type="http://schemas.openxmlformats.org/officeDocument/2006/relationships/notesSlide" Target="/ppt/notesSlides/notesSlide3.xml" Id="Re5a6945228934a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a066efa084354" /><Relationship Type="http://schemas.openxmlformats.org/officeDocument/2006/relationships/notesSlide" Target="/ppt/notesSlides/notesSlide4.xml" Id="Rad62f7d4027640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ac4e6694e4c6e" /><Relationship Type="http://schemas.openxmlformats.org/officeDocument/2006/relationships/image" Target="/ppt/media/image3.jpeg" Id="R6ef0046ef5ce4a39" /><Relationship Type="http://schemas.openxmlformats.org/officeDocument/2006/relationships/notesSlide" Target="/ppt/notesSlides/notesSlide5.xml" Id="R35e7ac93c76f4e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eebc1f3d04627" /><Relationship Type="http://schemas.openxmlformats.org/officeDocument/2006/relationships/notesSlide" Target="/ppt/notesSlides/notesSlide6.xml" Id="R79df26369f5d43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5e0cf0ea74363" /><Relationship Type="http://schemas.openxmlformats.org/officeDocument/2006/relationships/chart" Target="/ppt/slides/charts/chart1.xml" Id="Ra312db1f17ea4d03" /><Relationship Type="http://schemas.openxmlformats.org/officeDocument/2006/relationships/notesSlide" Target="/ppt/notesSlides/notesSlide7.xml" Id="R621837f0d97a42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6a77f06a8403d" /><Relationship Type="http://schemas.openxmlformats.org/officeDocument/2006/relationships/notesSlide" Target="/ppt/notesSlides/notesSlide8.xml" Id="R189e5b48fde243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1aaf13d264ba4" /><Relationship Type="http://schemas.openxmlformats.org/officeDocument/2006/relationships/notesSlide" Target="/ppt/notesSlides/notesSlide9.xml" Id="R5d104fcf7d7746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1472270864762" /><Relationship Type="http://schemas.openxmlformats.org/officeDocument/2006/relationships/chart" Target="/ppt/slides/charts/chart2.xml" Id="Ra436fe56994a4f4c" /><Relationship Type="http://schemas.openxmlformats.org/officeDocument/2006/relationships/notesSlide" Target="/ppt/notesSlides/notesSlide10.xml" Id="R0001fc4bc0454a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ee7ec1b5f48fa" /><Relationship Type="http://schemas.openxmlformats.org/officeDocument/2006/relationships/notesSlide" Target="/ppt/notesSlides/notesSlide11.xml" Id="Ra8452bee8fd347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24927b7e14c74" /><Relationship Type="http://schemas.openxmlformats.org/officeDocument/2006/relationships/notesSlide" Target="/ppt/notesSlides/notesSlide12.xml" Id="Rce5e910cc9bc4e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a45464cb940ca" /><Relationship Type="http://schemas.openxmlformats.org/officeDocument/2006/relationships/image" Target="/ppt/media/image4.jpeg" Id="R8c1dd7f4f7bd4045" /><Relationship Type="http://schemas.openxmlformats.org/officeDocument/2006/relationships/image" Target="/ppt/media/image5.jpeg" Id="R77e11b64f01c4b29" /><Relationship Type="http://schemas.openxmlformats.org/officeDocument/2006/relationships/image" Target="/ppt/media/image6.jpeg" Id="Rbf174a445aa04ce2" /><Relationship Type="http://schemas.openxmlformats.org/officeDocument/2006/relationships/notesSlide" Target="/ppt/notesSlides/notesSlide13.xml" Id="R859657a3d9ca4e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3afc2733746b9" /><Relationship Type="http://schemas.openxmlformats.org/officeDocument/2006/relationships/image" Target="/ppt/media/image.gif" Id="R9336dc5f22de45c6" /><Relationship Type="http://schemas.openxmlformats.org/officeDocument/2006/relationships/notesSlide" Target="/ppt/notesSlides/notesSlide14.xml" Id="Rdff31c248e8440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c3385dd8949c3" /><Relationship Type="http://schemas.openxmlformats.org/officeDocument/2006/relationships/notesSlide" Target="/ppt/notesSlides/notesSlide15.xml" Id="R5e1d3c133b0c49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3a732b3214672" /><Relationship Type="http://schemas.openxmlformats.org/officeDocument/2006/relationships/notesSlide" Target="/ppt/notesSlides/notesSlide16.xml" Id="Ra65c77aa9e5e4e7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a9a61698b4bab" /><Relationship Type="http://schemas.openxmlformats.org/officeDocument/2006/relationships/image" Target="/ppt/media/image2.gif" Id="Rc142ce11c61643b7" /><Relationship Type="http://schemas.openxmlformats.org/officeDocument/2006/relationships/notesSlide" Target="/ppt/notesSlides/notesSlide17.xml" Id="R7f8bb48a9a094f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cdc634e244f58" /><Relationship Type="http://schemas.openxmlformats.org/officeDocument/2006/relationships/notesSlide" Target="/ppt/notesSlides/notesSlide18.xml" Id="R1a7ccc364230475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dba30542a4a9b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b7af8a18343f7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0046ef5ce4a39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2db1f17ea4d03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36fe56994a4f4c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dd7f4f7bd4045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11b64f01c4b29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74a445aa04ce2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1ª Lei da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Calor, energia interna e trabalho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Observe o sistema: para onde vai a energia que entra?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6dc5f22de45c6"/>
          <a:stretch xmlns:a="http://schemas.openxmlformats.org/drawingml/2006/main"/>
        </p:blipFill>
        <p:spPr>
          <a:xfrm xmlns:a="http://schemas.openxmlformats.org/drawingml/2006/main">
            <a:off x="6191250" y="1743670"/>
            <a:ext cx="5467350" cy="3075384"/>
          </a:xfrm>
          <a:prstGeom xmlns:a="http://schemas.openxmlformats.org/drawingml/2006/main" prst="roundRect">
            <a:avLst>
              <a:gd name="adj" fmla="val 3715"/>
            </a:avLst>
          </a:prstGeom>
        </p:spPr>
      </p:pic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dentro do pistão é 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que entra ou sai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sistema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mudança: ΔU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transferida pelo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movimento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Q e W transferem energia; ΔU mede a mudança da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convenção de sinais completa a 1ª Lei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mudança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calor entra no sistema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Q &lt; 0: calor sai do sistema.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W &lt; 0: trabalho realizado sobre o gás.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Compressão: trabalho realizado sobre 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a compressão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 pistão desce e as partículas se agitam mais.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Convenção desta aula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W &lt; 0: trabalho realizado sobre o gás.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sinal negativo registra o sentido da transferência de energia.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2ce11c61643b7"/>
          <a:stretch xmlns:a="http://schemas.openxmlformats.org/drawingml/2006/main"/>
        </p:blipFill>
        <p:spPr>
          <a:xfrm xmlns:a="http://schemas.openxmlformats.org/drawingml/2006/main">
            <a:off x="533400" y="2240161"/>
            <a:ext cx="5429250" cy="3053953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 — duas ideias e uma conta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o que Q, ΔU e W representam?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Q = 0 e W = −40 J,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2026-08-23T18:36:05.3460000Z</dcterms:created>
  <dcterms:modified xsi:type="dcterms:W3CDTF">2026-08-23T18:36:05.3460000Z</dcterms:modified>
</coreProperties>
</file>