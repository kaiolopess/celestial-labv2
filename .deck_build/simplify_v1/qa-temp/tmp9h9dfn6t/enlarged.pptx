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b94ba0f4a9b4d6a" Type="http://schemas.openxmlformats.org/officeDocument/2006/relationships/extended-properties" Target="docProps/app.xml"/><Relationship Id="R60496338924545af" Type="http://schemas.openxmlformats.org/package/2006/relationships/metadata/core-properties" Target="docProps/core.xml"/><Relationship Id="Rf0a2a4a50a364d74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1711fd9c6540d4"/>
  </p:sldMasterIdLst>
  <p:notesMasterIdLst>
    <p:notesMasterId xmlns:r="http://schemas.openxmlformats.org/officeDocument/2006/relationships" r:id="R293bd81ac68646ae"/>
  </p:notesMasterIdLst>
  <p:sldIdLst>
    <p:sldId xmlns:r="http://schemas.openxmlformats.org/officeDocument/2006/relationships" id="256" r:id="Rb0322cc608f84cf0"/>
    <p:sldId xmlns:r="http://schemas.openxmlformats.org/officeDocument/2006/relationships" id="257" r:id="R096a4c0779ab4add"/>
    <p:sldId xmlns:r="http://schemas.openxmlformats.org/officeDocument/2006/relationships" id="258" r:id="R0d705ec36d2f45ef"/>
    <p:sldId xmlns:r="http://schemas.openxmlformats.org/officeDocument/2006/relationships" id="259" r:id="Ra4d74dd421354d7d"/>
    <p:sldId xmlns:r="http://schemas.openxmlformats.org/officeDocument/2006/relationships" id="260" r:id="Rece52e8f6dc9440c"/>
    <p:sldId xmlns:r="http://schemas.openxmlformats.org/officeDocument/2006/relationships" id="261" r:id="R6c3f72980b244a74"/>
    <p:sldId xmlns:r="http://schemas.openxmlformats.org/officeDocument/2006/relationships" id="262" r:id="R24ff5096e6fc4619"/>
    <p:sldId xmlns:r="http://schemas.openxmlformats.org/officeDocument/2006/relationships" id="263" r:id="R3dc29133f3ec4207"/>
    <p:sldId xmlns:r="http://schemas.openxmlformats.org/officeDocument/2006/relationships" id="264" r:id="R1a8993d0ac3d49c2"/>
    <p:sldId xmlns:r="http://schemas.openxmlformats.org/officeDocument/2006/relationships" id="265" r:id="R07e675e184154d28"/>
    <p:sldId xmlns:r="http://schemas.openxmlformats.org/officeDocument/2006/relationships" id="266" r:id="Rc4cc6ce26fb74baf"/>
    <p:sldId xmlns:r="http://schemas.openxmlformats.org/officeDocument/2006/relationships" id="267" r:id="Ra861f5acc6cf4811"/>
    <p:sldId xmlns:r="http://schemas.openxmlformats.org/officeDocument/2006/relationships" id="268" r:id="R1a9c4440c9fd4de9"/>
    <p:sldId xmlns:r="http://schemas.openxmlformats.org/officeDocument/2006/relationships" id="269" r:id="R685a205241ae445d"/>
    <p:sldId xmlns:r="http://schemas.openxmlformats.org/officeDocument/2006/relationships" id="270" r:id="R15f1e707b2ee4179"/>
    <p:sldId xmlns:r="http://schemas.openxmlformats.org/officeDocument/2006/relationships" id="271" r:id="R1bb278e9db9e414c"/>
    <p:sldId xmlns:r="http://schemas.openxmlformats.org/officeDocument/2006/relationships" id="272" r:id="R3c518a30f4d84c23"/>
    <p:sldId xmlns:r="http://schemas.openxmlformats.org/officeDocument/2006/relationships" id="273" r:id="R7d4539d6da2b4785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5864d957968478c" Type="http://schemas.openxmlformats.org/officeDocument/2006/relationships/presProps" Target="presProps.xml"/><Relationship Id="R07e675e184154d28" Type="http://schemas.openxmlformats.org/officeDocument/2006/relationships/slide" Target="slides/slide10.xml"/><Relationship Id="R096a4c0779ab4add" Type="http://schemas.openxmlformats.org/officeDocument/2006/relationships/slide" Target="slides/slide2.xml"/><Relationship Id="R0d705ec36d2f45ef" Type="http://schemas.openxmlformats.org/officeDocument/2006/relationships/slide" Target="slides/slide3.xml"/><Relationship Id="R15f1e707b2ee4179" Type="http://schemas.openxmlformats.org/officeDocument/2006/relationships/slide" Target="slides/slide15.xml"/><Relationship Id="R1a8993d0ac3d49c2" Type="http://schemas.openxmlformats.org/officeDocument/2006/relationships/slide" Target="slides/slide9.xml"/><Relationship Id="R1a9c4440c9fd4de9" Type="http://schemas.openxmlformats.org/officeDocument/2006/relationships/slide" Target="slides/slide13.xml"/><Relationship Id="R1bb278e9db9e414c" Type="http://schemas.openxmlformats.org/officeDocument/2006/relationships/slide" Target="slides/slide16.xml"/><Relationship Id="R24ff5096e6fc4619" Type="http://schemas.openxmlformats.org/officeDocument/2006/relationships/slide" Target="slides/slide7.xml"/><Relationship Id="R293bd81ac68646ae" Type="http://schemas.openxmlformats.org/officeDocument/2006/relationships/notesMaster" Target="notesMasters/notesMaster1.xml"/><Relationship Id="R3c518a30f4d84c23" Type="http://schemas.openxmlformats.org/officeDocument/2006/relationships/slide" Target="slides/slide17.xml"/><Relationship Id="R3dc29133f3ec4207" Type="http://schemas.openxmlformats.org/officeDocument/2006/relationships/slide" Target="slides/slide8.xml"/><Relationship Id="R685a205241ae445d" Type="http://schemas.openxmlformats.org/officeDocument/2006/relationships/slide" Target="slides/slide14.xml"/><Relationship Id="R6c3f72980b244a74" Type="http://schemas.openxmlformats.org/officeDocument/2006/relationships/slide" Target="slides/slide6.xml"/><Relationship Id="R7d4539d6da2b4785" Type="http://schemas.openxmlformats.org/officeDocument/2006/relationships/slide" Target="slides/slide18.xml"/><Relationship Id="R84041c6c687a48c4" Type="http://schemas.openxmlformats.org/officeDocument/2006/relationships/tableStyles" Target="tableStyles.xml"/><Relationship Id="R939a1c6307754b03" Type="http://schemas.openxmlformats.org/officeDocument/2006/relationships/theme" Target="theme/theme1.xml"/><Relationship Id="Ra4d74dd421354d7d" Type="http://schemas.openxmlformats.org/officeDocument/2006/relationships/slide" Target="slides/slide4.xml"/><Relationship Id="Ra861f5acc6cf4811" Type="http://schemas.openxmlformats.org/officeDocument/2006/relationships/slide" Target="slides/slide12.xml"/><Relationship Id="Rb0322cc608f84cf0" Type="http://schemas.openxmlformats.org/officeDocument/2006/relationships/slide" Target="slides/slide1.xml"/><Relationship Id="Rc4cc6ce26fb74baf" Type="http://schemas.openxmlformats.org/officeDocument/2006/relationships/slide" Target="slides/slide11.xml"/><Relationship Id="Rc51711fd9c6540d4" Type="http://schemas.openxmlformats.org/officeDocument/2006/relationships/slideMaster" Target="slideMasters/slideMaster1.xml"/><Relationship Id="Rece52e8f6dc9440c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707d3d5e64634597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6d70a48e9b734f44" Type="http://schemas.openxmlformats.org/officeDocument/2006/relationships/notesMaster" Target="../notesMasters/notesMaster1.xml"/><Relationship Id="Rd4d26aae851140cf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9e53406a5b034c0c" Type="http://schemas.openxmlformats.org/officeDocument/2006/relationships/notesMaster" Target="../notesMasters/notesMaster1.xml"/><Relationship Id="Rf3bf03662893496a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83bd50e78f214af3" Type="http://schemas.openxmlformats.org/officeDocument/2006/relationships/slide" Target="../slides/slide3.xml"/><Relationship Id="Rd28f7086fdf84517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643c51a294a04cbc" Type="http://schemas.openxmlformats.org/officeDocument/2006/relationships/slide" Target="../slides/slide4.xml"/><Relationship Id="Rf849cedc985b481c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4ea64bc4fd0a4f4f" Type="http://schemas.openxmlformats.org/officeDocument/2006/relationships/notesMaster" Target="../notesMasters/notesMaster1.xml"/><Relationship Id="R6097a91cc29e4621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6bab50274092427b" Type="http://schemas.openxmlformats.org/officeDocument/2006/relationships/slide" Target="../slides/slide6.xml"/><Relationship Id="R71011d844f624ae5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629f6206a9c249a1" Type="http://schemas.openxmlformats.org/officeDocument/2006/relationships/notesMaster" Target="../notesMasters/notesMaster1.xml"/><Relationship Id="Rca7f070440904823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6cfa6dc232434fdf" Type="http://schemas.openxmlformats.org/officeDocument/2006/relationships/notesMaster" Target="../notesMasters/notesMaster1.xml"/><Relationship Id="R750342c9f7f34e9d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70cdbf5ce1b140cc" Type="http://schemas.openxmlformats.org/officeDocument/2006/relationships/notesMaster" Target="../notesMasters/notesMaster1.xml"/><Relationship Id="R90c3548b0a394d4f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29b1688d038b4962" Type="http://schemas.openxmlformats.org/officeDocument/2006/relationships/notesMaster" Target="../notesMasters/notesMaster1.xml"/><Relationship Id="Rb43cca4825fa47b4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c0bccd6cd0464615" Type="http://schemas.openxmlformats.org/officeDocument/2006/relationships/notesMaster" Target="../notesMasters/notesMaster1.xml"/><Relationship Id="Rfa8c6952af6b414f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76d92c7ff6024b22" Type="http://schemas.openxmlformats.org/officeDocument/2006/relationships/slide" Target="../slides/slide12.xml"/><Relationship Id="R81c5f4d237ab4c38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1babaea9f76c4eb9" Type="http://schemas.openxmlformats.org/officeDocument/2006/relationships/slide" Target="../slides/slide13.xml"/><Relationship Id="R2d23d235b43b4a35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23dca886b60e476f" Type="http://schemas.openxmlformats.org/officeDocument/2006/relationships/notesMaster" Target="../notesMasters/notesMaster1.xml"/><Relationship Id="R41c43a8615ef4d9d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381577da9f9249fe" Type="http://schemas.openxmlformats.org/officeDocument/2006/relationships/slide" Target="../slides/slide15.xml"/><Relationship Id="R5f1ad2bff524443d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29115f423a154ca8" Type="http://schemas.openxmlformats.org/officeDocument/2006/relationships/notesMaster" Target="../notesMasters/notesMaster1.xml"/><Relationship Id="Rb6f3b56a71e4476a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3257ebbe96db41cd" Type="http://schemas.openxmlformats.org/officeDocument/2006/relationships/notesMaster" Target="../notesMasters/notesMaster1.xml"/><Relationship Id="Rac0386e600684978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b486e6eb6a224d96" Type="http://schemas.openxmlformats.org/officeDocument/2006/relationships/slide" Target="../slides/slide18.xml"/><Relationship Id="Rc568d9810c5649f0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Apresente a pergunta central: como prever o que acontece com um gás quando aquecemos, comprimimos ou deixamos expandir? Diga que a aula alternará previsões, testes no simulador, cálculos rápidos e explicações.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votação rápida com as mãos e peça duas justificativas. Não confirme ainda. Retome as respostas no slide 7, depois do experimento temperatura–pressão.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 animação à explicação: pressão é o efeito macroscópico de muitas colisões. Peça aos alunos que observem as cores/velocidades e formulem uma hipótese sobre o que muda ao aumentar 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https://openstax.org/books/college-physics-2e/pages/13-4-kinetic-theory-atomic-and-molecular-explanation-of-pressure-and-temperature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Dê significado a cada variável e às unidades usadas no Celestial Lab. Faça um teste oral: se V e n ficam constantes e T aumenta, qual lado da equação precisa acompanhar? Apresente as relações proporcionais como ferramentas de cálculo.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Você controla o Celestial Lab. Em cada rodada, mostre o que ficará constante, peça uma votação rápida — sobe, desce ou fica igual —, altere um controle e só então discuta o resultado. Os alunos registram uma palavra ou frase curta.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V = 6,0 L e 40 partículas. Você ajusta T para 200 K, 400 K e 600 K. Antes de cada mudança, a turma prevê se P sobe, desce ou fica igual. Valores esperados no modelo: aproximadamente 110,9; 221,7; 332,6 kPa. Conclusão: quando T dobra, P dobra. Não peça a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aos alunos que comparem seus dados com a tendência do gráfico. Retome o slide 2: num pneu, o volume varia pouco, portanto o aquecimento tende a elevar a pressão. Destaque que a proporcionalidade exige kelvin.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 escolha antes de qualquer conta. Resposta: 200 kPa. Como V e n são constantes, P é diretamente proporcional à temperatura em kelvin; quando T dobra, P dobra. Convide um aluno a justificar e então confirme a tendência no simulador.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T = 300 K e 40 partículas. Você ajusta V para 3,0 L, 6,0 L e 9,0 L. Antes de cada mudança, a turma prevê a tendência de P. Valores esperados: aproximadamente 332,6; 166,3; 110,9 kPa. Conclusão: quando V dobra, P cai à metade. Não exija cálculo de P×V nem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os alunos dizerem em voz alta o padrão inverso. Diferencie reta decrescente de relação inversa: o gráfico P×V é uma curva. Relacione com o produto aproximadamente constante calculado no experimento.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a votação entre 240, 120 e 60 kPa. Resposta: 60 kPa. Com T e n constantes, pressão e volume são inversamente proporcionais; quando V dobra, P cai à metade. A conta pode ser apenas 120 ÷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Leia a tabela por linhas. Peça um exemplo oral para cada transformação. Mostre que as três leis são recortes da mesma equação PV=nRT, sempre para quantidade de gás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três rodadas coletivas na aba Transformações. Em cada uma, a turma vota antes de você mover o controle. Gabarito: isotérmica — V aumenta, P diminui; isobárica — T aumenta, V aumenta; isocórica — T aumenta, P aumenta. Use os gráficos prontos apenas para confirmar as previsões.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C:/Users/User/Desktop/celestial-labv1/deck_assets/gases-transformacao-isotermica.png</a:t>
            </a:r>
          </a:p>
          <a:p xmlns:a="http://schemas.openxmlformats.org/drawingml/2006/main">
            <a:r>
              <a:t>- C:/Users/User/Desktop/celestial-labv1/deck_assets/gases-transformacao-isobarica.png</a:t>
            </a:r>
          </a:p>
          <a:p xmlns:a="http://schemas.openxmlformats.org/drawingml/2006/main">
            <a:r>
              <a:t>- C:/Users/User/Desktop/celestial-labv1/deck_assets/gases-transformacao-isocorica.png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Defina o gás como sistema e o restante como vizinhança. Diferencie calor de temperatura: calor é transferência de energia devido a uma diferença de temperatura. Trabalho aparece quando o gás desloca o pistão. Evite dizer que o corpo tem calor.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https://openstax.org/books/college-physics/pages/15-1-the-first-law-of-thermodynamics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Use a forma Q = ΔU + W: o calor recebido pelo gás se distribui entre aumento da energia interna e trabalho realizado pelo gás. Q positivo entra no sistema; W positivo sai como trabalho. Após explicar os sinais, reproduza Animacao_Primeira_Lei_Termodinamica.mp4 e pause no quadro final 100 J = 60 J + 40 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  <a:p xmlns:a="http://schemas.openxmlformats.org/drawingml/2006/main">
            <a:r>
              <a:t>- C:/Users/User/Desktop/celestial-labv1/Animacao_Primeira_Lei_Termodinamica.mp4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Identifique Q = 100 J e W = 40 J em Q = ΔU + W. Resposta: ΔU = 100 − 40 = 60 J. Explique que, dos 100 J recebidos, 40 J saem como trabalho e 60 J aumentam a energia interna.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as linhas aos gráficos do desafio. Na isocórica não há deslocamento do pistão. Na isotérmica de um gás ideal, a energia interna não muda porque T não muda; durante expansão, calor recebido compensa o trabalho. Na isobárica, o calor recebido se divide entre aumento de U e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  <a:p xmlns:a="http://schemas.openxmlformats.org/drawingml/2006/main">
            <a:r>
              <a:t>- https://openstax.org/books/college-physics-ap-courses/pages/15-2-the-first-law-of-thermodynamics-and-some-simple-processes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Colete respostas individuais e curtas. Gabarito: (1) P sobe; (2) P diminui — se V dobra, P cai à metade; (3) ΔU = 100 − 40 = 60 J. Use as respostas para decidir a retomada da próxima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daa76cd7486c4db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a97bc24ee60d47fd" Type="http://schemas.openxmlformats.org/officeDocument/2006/relationships/slideLayout" Target="../slideLayouts/slideLayout1.xml"/><Relationship Id="Rfd2e8c29bd314147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7bc24ee60d47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fa76d32907045ab" Type="http://schemas.openxmlformats.org/officeDocument/2006/relationships/notesSlide" Target="../notesSlides/notesSlide1.xml"/><Relationship Id="R4b3a3903ea5e47c1" Type="http://schemas.openxmlformats.org/officeDocument/2006/relationships/slideLayout" Target="../slideLayouts/slideLayout1.xml"/><Relationship Id="R64fe48716e854700" Type="http://schemas.openxmlformats.org/officeDocument/2006/relationships/image" Target="../media/image.jpeg"/></Relationships>
</file>

<file path=ppt/slides/_rels/slide2.xml.rels><?xml version='1.0' encoding='UTF-8' standalone='yes'?>
<Relationships xmlns="http://schemas.openxmlformats.org/package/2006/relationships"><Relationship Id="R4022a6ceae6940fa" Type="http://schemas.openxmlformats.org/officeDocument/2006/relationships/slideLayout" Target="../slideLayouts/slideLayout1.xml"/><Relationship Id="Ree20b8fae5774b4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03ed750bf7264cb1" Type="http://schemas.openxmlformats.org/officeDocument/2006/relationships/slideLayout" Target="../slideLayouts/slideLayout1.xml"/><Relationship Id="R9d64fbf271e14cd4" Type="http://schemas.openxmlformats.org/officeDocument/2006/relationships/image" Target="../media/image2.jpeg"/><Relationship Id="Rff7a72eb00e2413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ae090a1c3964d92" Type="http://schemas.openxmlformats.org/officeDocument/2006/relationships/notesSlide" Target="../notesSlides/notesSlide4.xml"/><Relationship Id="Reff0adf8bb284f1c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3797066bd3944e2b" Type="http://schemas.openxmlformats.org/officeDocument/2006/relationships/notesSlide" Target="../notesSlides/notesSlide5.xml"/><Relationship Id="R6330d1c17cf844e6" Type="http://schemas.openxmlformats.org/officeDocument/2006/relationships/image" Target="../media/image3.jpeg"/><Relationship Id="Rf4d95f466f6240db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7b536055cbb04a84" Type="http://schemas.openxmlformats.org/officeDocument/2006/relationships/slideLayout" Target="../slideLayouts/slideLayout1.xml"/><Relationship Id="R96a66345c776447e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1031db3374704bbe" Type="http://schemas.openxmlformats.org/officeDocument/2006/relationships/chart" Target="charts/chart1.xml"/><Relationship Id="R4183e3cb469e499b" Type="http://schemas.openxmlformats.org/officeDocument/2006/relationships/slideLayout" Target="../slideLayouts/slideLayout1.xml"/><Relationship Id="Ra3767b20069f4f2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70eadbaa051f4fe3" Type="http://schemas.openxmlformats.org/officeDocument/2006/relationships/slideLayout" Target="../slideLayouts/slideLayout1.xml"/><Relationship Id="Rf81ac7c851364cdd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83380ef812214f7d" Type="http://schemas.openxmlformats.org/officeDocument/2006/relationships/slideLayout" Target="../slideLayouts/slideLayout1.xml"/><Relationship Id="R8d10e23a7f244571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20dfe0b3d1e64a7b" Type="http://schemas.openxmlformats.org/officeDocument/2006/relationships/notesSlide" Target="../notesSlides/notesSlide10.xml"/><Relationship Id="Rba1315ef2e4f4934" Type="http://schemas.openxmlformats.org/officeDocument/2006/relationships/chart" Target="charts/chart2.xml"/><Relationship Id="Rc026e826cd884359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01e220a7384f4385" Type="http://schemas.openxmlformats.org/officeDocument/2006/relationships/notesSlide" Target="../notesSlides/notesSlide11.xml"/><Relationship Id="R476ce23135eb4304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2d955503449a4227" Type="http://schemas.openxmlformats.org/officeDocument/2006/relationships/notesSlide" Target="../notesSlides/notesSlide12.xml"/><Relationship Id="Rbf23df1d62a64722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0db0036ebba44411" Type="http://schemas.openxmlformats.org/officeDocument/2006/relationships/image" Target="../media/image4.jpeg"/><Relationship Id="R35dc2d86b5cd4557" Type="http://schemas.openxmlformats.org/officeDocument/2006/relationships/image" Target="../media/image5.jpeg"/><Relationship Id="R80e22b938af04150" Type="http://schemas.openxmlformats.org/officeDocument/2006/relationships/image" Target="../media/image6.jpeg"/><Relationship Id="Ra89e003ef9b24cf5" Type="http://schemas.openxmlformats.org/officeDocument/2006/relationships/notesSlide" Target="../notesSlides/notesSlide13.xml"/><Relationship Id="Rc71860e2930c4228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3dfa9d85b9de482f" Type="http://schemas.openxmlformats.org/officeDocument/2006/relationships/slideLayout" Target="../slideLayouts/slideLayout1.xml"/><Relationship Id="R9ea555d4ca7a400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6b89df4a43304fab" Type="http://schemas.openxmlformats.org/officeDocument/2006/relationships/notesSlide" Target="../notesSlides/notesSlide15.xml"/><Relationship Id="R8e492fa4b8e340c4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27dfeeed9c2948b4" Type="http://schemas.openxmlformats.org/officeDocument/2006/relationships/slideLayout" Target="../slideLayouts/slideLayout1.xml"/><Relationship Id="Ra427bd755e1146f0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e4f053940dd645f1" Type="http://schemas.openxmlformats.org/officeDocument/2006/relationships/notesSlide" Target="../notesSlides/notesSlide17.xml"/><Relationship Id="Rff180a85047e4647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b829ff07e1a3482b" Type="http://schemas.openxmlformats.org/officeDocument/2006/relationships/slideLayout" Target="../slideLayouts/slideLayout1.xml"/><Relationship Id="Rc9c68b76bb6340e1" Type="http://schemas.openxmlformats.org/officeDocument/2006/relationships/notesSlide" Target="../notesSlides/notesSlide18.xml"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temperatura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F28C45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F28C45"/>
              </a:solidFill>
            </c:spPr>
          </c:marker>
          <c:cat>
            <c:numLit>
              <c:formatCode>General</c:formatCode>
              <c:ptCount val="3"/>
              <c:pt idx="0">
                <c:v>200</c:v>
              </c:pt>
              <c:pt idx="1">
                <c:v>400</c:v>
              </c:pt>
              <c:pt idx="2">
                <c:v>600</c:v>
              </c:pt>
            </c:numLit>
          </c:cat>
          <c:val>
            <c:numLit>
              <c:formatCode>General</c:formatCode>
              <c:ptCount val="3"/>
              <c:pt idx="0">
                <c:v>110.9</c:v>
              </c:pt>
              <c:pt idx="1">
                <c:v>221.7</c:v>
              </c:pt>
              <c:pt idx="2">
                <c:v>332.6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3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T (K)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volume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5"/>
              <c:pt idx="0">
                <c:v>3,0</c:v>
              </c:pt>
              <c:pt idx="1">
                <c:v>4,5</c:v>
              </c:pt>
              <c:pt idx="2">
                <c:v>6,0</c:v>
              </c:pt>
              <c:pt idx="3">
                <c:v>7,5</c:v>
              </c:pt>
              <c:pt idx="4">
                <c:v>9,0</c:v>
              </c:pt>
            </c:strLit>
          </c:cat>
          <c:val>
            <c:numLit>
              <c:formatCode>General</c:formatCode>
              <c:ptCount val="5"/>
              <c:pt idx="0">
                <c:v>332.6</c:v>
              </c:pt>
              <c:pt idx="1">
                <c:v>221.7</c:v>
              </c:pt>
              <c:pt idx="2">
                <c:v>166.3</c:v>
              </c:pt>
              <c:pt idx="3">
                <c:v>133</c:v>
              </c:pt>
              <c:pt idx="4">
                <c:v>110.9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V (L)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868B525-06E0-45F5-8840-F730B126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38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FÍSICA • 1º ANO DO ENSINO MÉDIO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9F47C6-D359-454F-BD9D-D7B536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43125"/>
            <a:ext cx="5191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Gases ideais e</a:t>
            </a:r>
          </a:p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06D36E-6072-4341-BF3D-2D94FE0A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86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Do movimento das partículas à conservação de energia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8627104-CF7B-414C-9ECE-34553A80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197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9B2AB0-DDC9-4630-87B8-8791F01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81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Aula investigativa com o Celestial Lab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9397600A-FCA9-4BC1-A2DA-98672C2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133475"/>
            <a:ext cx="5524500" cy="58293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e48716e854700"/>
          <a:srcRect xmlns:a="http://schemas.openxmlformats.org/drawingml/2006/main" l="23342" t="0" r="23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1162050"/>
            <a:ext cx="5467350" cy="5772150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8" name="text-utgdpr5">
            <a:extLst xmlns:a="http://schemas.openxmlformats.org/drawingml/2006/main">
              <a:ext uri="{FF2B5EF4-FFF2-40B4-BE49-F238E27FC236}">
                <a16:creationId xmlns:a16="http://schemas.microsoft.com/office/drawing/2014/main" id="{75CC34EC-FB22-410F-8480-627BE48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7637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7" name="Rectangle 1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Rectangle 1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8505F0BE-F462-4F37-BEF1-9E9F15F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COMECE COM UMA PREVISÃO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10C242-21C3-4486-8268-D6DF5AE1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pneu muda sem ganhar nem perder ar?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CA28241-40E8-45A7-AAA2-0A46D530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2">
            <a:extLst xmlns:a="http://schemas.openxmlformats.org/drawingml/2006/main">
              <a:ext uri="{FF2B5EF4-FFF2-40B4-BE49-F238E27FC236}">
                <a16:creationId xmlns:a16="http://schemas.microsoft.com/office/drawing/2014/main" id="{44D75E7F-1412-4AA7-B7CD-F2E48467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hook-context">
            <a:extLst xmlns:a="http://schemas.openxmlformats.org/drawingml/2006/main">
              <a:ext uri="{FF2B5EF4-FFF2-40B4-BE49-F238E27FC236}">
                <a16:creationId xmlns:a16="http://schemas.microsoft.com/office/drawing/2014/main" id="{250707A1-339A-488D-8F5E-396BA134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86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carro sai cedo, com os pneus frios. Depois de rodar por uma hora, a temperatura do ar dentro deles aumenta.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00A269BA-0B8B-4DA1-B733-7F909C43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48100"/>
            <a:ext cx="872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lidx88i">
            <a:extLst xmlns:a="http://schemas.openxmlformats.org/drawingml/2006/main">
              <a:ext uri="{FF2B5EF4-FFF2-40B4-BE49-F238E27FC236}">
                <a16:creationId xmlns:a16="http://schemas.microsoft.com/office/drawing/2014/main" id="{CA45CE0A-4C73-4A9C-B48C-1D98E247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481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pressão tende a…</a:t>
            </a:r>
          </a:p>
        </p:txBody>
      </p:sp>
      <p:sp>
        <p:nvSpPr>
          <p:cNvPr id="8" name="text-z8yrxya">
            <a:extLst xmlns:a="http://schemas.openxmlformats.org/drawingml/2006/main">
              <a:ext uri="{FF2B5EF4-FFF2-40B4-BE49-F238E27FC236}">
                <a16:creationId xmlns:a16="http://schemas.microsoft.com/office/drawing/2014/main" id="{17BBB6DD-AB28-42A8-8968-AAB3806E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0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diminuir</a:t>
            </a:r>
          </a:p>
        </p:txBody>
      </p:sp>
      <p:sp>
        <p:nvSpPr>
          <p:cNvPr id="9" name="text-xvn5aul">
            <a:extLst xmlns:a="http://schemas.openxmlformats.org/drawingml/2006/main">
              <a:ext uri="{FF2B5EF4-FFF2-40B4-BE49-F238E27FC236}">
                <a16:creationId xmlns:a16="http://schemas.microsoft.com/office/drawing/2014/main" id="{3710E55E-DB36-491B-B588-AE4C3B98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10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9366E8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9366E8"/>
                </a:solidFill>
                <a:latin typeface="Arial"/>
                <a:ea typeface="Arial"/>
                <a:cs typeface="Arial"/>
              </a:rPr>
              <a:t>ficar igual</a:t>
            </a:r>
          </a:p>
        </p:txBody>
      </p:sp>
      <p:sp>
        <p:nvSpPr>
          <p:cNvPr id="10" name="text-6wlef9f">
            <a:extLst xmlns:a="http://schemas.openxmlformats.org/drawingml/2006/main">
              <a:ext uri="{FF2B5EF4-FFF2-40B4-BE49-F238E27FC236}">
                <a16:creationId xmlns:a16="http://schemas.microsoft.com/office/drawing/2014/main" id="{ABEDA3C8-A973-41B9-88ED-50EB67F1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10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aumentar</a:t>
            </a:r>
          </a:p>
        </p:txBody>
      </p:sp>
      <p:sp>
        <p:nvSpPr>
          <p:cNvPr id="11" name="text-tnhme7j">
            <a:extLst xmlns:a="http://schemas.openxmlformats.org/drawingml/2006/main">
              <a:ext uri="{FF2B5EF4-FFF2-40B4-BE49-F238E27FC236}">
                <a16:creationId xmlns:a16="http://schemas.microsoft.com/office/drawing/2014/main" id="{6A0D45F1-5EB9-4137-B828-E406C8D7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23887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10131A"/>
                </a:solidFill>
                <a:latin typeface="Arial"/>
                <a:ea typeface="Arial"/>
                <a:cs typeface="Arial"/>
              </a:rPr>
              <a:t>Escolha uma opção e justifique com partículas.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09F5DA-E34A-4727-99FB-020A0233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Situação-problema: gás confinado em volume quase constante</a:t>
            </a:r>
          </a:p>
        </p:txBody>
      </p:sp>
    </p:spTree>
    <p:extLst>
      <p:ext uri="{BB962C8B-B14F-4D97-AF65-F5344CB8AC3E}">
        <p14:creationId xmlns:p14="http://schemas.microsoft.com/office/powerpoint/2010/main" val="389973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6" name="Rectangle 2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ectangle 2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MODELO MICROSCÓPICO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nasce de colisões com as paredes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28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4fbf271e14cd4"/>
          <a:srcRect xmlns:a="http://schemas.openxmlformats.org/drawingml/2006/main" l="8743" t="0" r="87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95400" y="2457450"/>
            <a:ext cx="5429250" cy="4143375"/>
          </a:xfrm>
          <a:prstGeom xmlns:a="http://schemas.openxmlformats.org/drawingml/2006/main" prst="roundRect">
            <a:avLst>
              <a:gd name="adj" fmla="val 3218"/>
            </a:avLst>
          </a:prstGeom>
        </p:spPr>
      </p:pic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Partículas em movimento aleatório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81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Elas se chocam entre si e com as paredes do recipiente.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67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Temperatura maior → partículas mais rápidas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29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Colisões mais frequentes e intensas podem elevar a pressão.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886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153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No modelo ideal, as partículas ocupam volume desprezível e as colisões são elásticas.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Modelo de gás ideal</a:t>
            </a:r>
          </a:p>
        </p:txBody>
      </p:sp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8" name="Rectangle 2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A1B11D18-1426-443A-BC44-0FEA0BD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EQUAÇÃO DE ESTADO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026776-5F02-45D0-9869-A67CC8D9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Quatro grandezas descrevem o estado do gás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53FFFA5-3D42-400A-952F-550C525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4">
            <a:extLst xmlns:a="http://schemas.openxmlformats.org/drawingml/2006/main">
              <a:ext uri="{FF2B5EF4-FFF2-40B4-BE49-F238E27FC236}">
                <a16:creationId xmlns:a16="http://schemas.microsoft.com/office/drawing/2014/main" id="{92065B15-2CF9-448F-93F0-3F6571DD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deal-gas-equation">
            <a:extLst xmlns:a="http://schemas.openxmlformats.org/drawingml/2006/main">
              <a:ext uri="{FF2B5EF4-FFF2-40B4-BE49-F238E27FC236}">
                <a16:creationId xmlns:a16="http://schemas.microsoft.com/office/drawing/2014/main" id="{A0C87292-4776-45FC-AB9A-A8FB66D3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9080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PV = nRT</a:t>
            </a:r>
          </a:p>
        </p:txBody>
      </p:sp>
      <p:sp>
        <p:nvSpPr>
          <p:cNvPr id="6" name="text-ctlurte">
            <a:extLst xmlns:a="http://schemas.openxmlformats.org/drawingml/2006/main">
              <a:ext uri="{FF2B5EF4-FFF2-40B4-BE49-F238E27FC236}">
                <a16:creationId xmlns:a16="http://schemas.microsoft.com/office/drawing/2014/main" id="{486A6B52-23AE-4739-A02E-76946AE5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equação organiza as relações que vamos testar — não é uma lista de letras para decorar.</a:t>
            </a:r>
          </a:p>
        </p:txBody>
      </p:sp>
      <p:sp>
        <p:nvSpPr>
          <p:cNvPr id="7" name="variables-panel">
            <a:extLst xmlns:a="http://schemas.openxmlformats.org/drawingml/2006/main">
              <a:ext uri="{FF2B5EF4-FFF2-40B4-BE49-F238E27FC236}">
                <a16:creationId xmlns:a16="http://schemas.microsoft.com/office/drawing/2014/main" id="{B7F141C4-ABFA-4149-BEC0-C95B50C7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14600"/>
            <a:ext cx="4953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aet0i7u">
            <a:extLst xmlns:a="http://schemas.openxmlformats.org/drawingml/2006/main">
              <a:ext uri="{FF2B5EF4-FFF2-40B4-BE49-F238E27FC236}">
                <a16:creationId xmlns:a16="http://schemas.microsoft.com/office/drawing/2014/main" id="{3D5A8FE0-09FC-49E3-99F8-E71AFB05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622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9" name="text-nfc49ta">
            <a:extLst xmlns:a="http://schemas.openxmlformats.org/drawingml/2006/main">
              <a:ext uri="{FF2B5EF4-FFF2-40B4-BE49-F238E27FC236}">
                <a16:creationId xmlns:a16="http://schemas.microsoft.com/office/drawing/2014/main" id="{2729582F-9F67-490C-B7CD-C2C14B7C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81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pressão</a:t>
            </a:r>
          </a:p>
        </p:txBody>
      </p:sp>
      <p:sp>
        <p:nvSpPr>
          <p:cNvPr id="10" name="text-6ji6lgk">
            <a:extLst xmlns:a="http://schemas.openxmlformats.org/drawingml/2006/main">
              <a:ext uri="{FF2B5EF4-FFF2-40B4-BE49-F238E27FC236}">
                <a16:creationId xmlns:a16="http://schemas.microsoft.com/office/drawing/2014/main" id="{84ACBE10-8535-44C1-B8AD-90447806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098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kPa</a:t>
            </a:r>
          </a:p>
        </p:txBody>
      </p:sp>
      <p:sp>
        <p:nvSpPr>
          <p:cNvPr id="11" name="text-lgjpo1a">
            <a:extLst xmlns:a="http://schemas.openxmlformats.org/drawingml/2006/main">
              <a:ext uri="{FF2B5EF4-FFF2-40B4-BE49-F238E27FC236}">
                <a16:creationId xmlns:a16="http://schemas.microsoft.com/office/drawing/2014/main" id="{BBFE154C-A067-46E8-8D2E-1EEC1848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433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2" name="text-ojd8v2i">
            <a:extLst xmlns:a="http://schemas.openxmlformats.org/drawingml/2006/main">
              <a:ext uri="{FF2B5EF4-FFF2-40B4-BE49-F238E27FC236}">
                <a16:creationId xmlns:a16="http://schemas.microsoft.com/office/drawing/2014/main" id="{B5D6CF6C-9EF8-4A36-92D4-CF09C0CD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62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volume</a:t>
            </a:r>
          </a:p>
        </p:txBody>
      </p:sp>
      <p:sp>
        <p:nvSpPr>
          <p:cNvPr id="13" name="text-mz2y33h">
            <a:extLst xmlns:a="http://schemas.openxmlformats.org/drawingml/2006/main">
              <a:ext uri="{FF2B5EF4-FFF2-40B4-BE49-F238E27FC236}">
                <a16:creationId xmlns:a16="http://schemas.microsoft.com/office/drawing/2014/main" id="{50A00C9F-0890-427E-A8B1-6077FE11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909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14" name="text-ftgywrw">
            <a:extLst xmlns:a="http://schemas.openxmlformats.org/drawingml/2006/main">
              <a:ext uri="{FF2B5EF4-FFF2-40B4-BE49-F238E27FC236}">
                <a16:creationId xmlns:a16="http://schemas.microsoft.com/office/drawing/2014/main" id="{A7C67CCA-A4DD-421B-B7BC-A6AE0D3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243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5" name="text-djhvbsf">
            <a:extLst xmlns:a="http://schemas.openxmlformats.org/drawingml/2006/main">
              <a:ext uri="{FF2B5EF4-FFF2-40B4-BE49-F238E27FC236}">
                <a16:creationId xmlns:a16="http://schemas.microsoft.com/office/drawing/2014/main" id="{63A9F649-ACF2-40A5-B3AB-D9FA536B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43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quantidade de gás</a:t>
            </a:r>
          </a:p>
        </p:txBody>
      </p:sp>
      <p:sp>
        <p:nvSpPr>
          <p:cNvPr id="16" name="text-mwsrrsp">
            <a:extLst xmlns:a="http://schemas.openxmlformats.org/drawingml/2006/main">
              <a:ext uri="{FF2B5EF4-FFF2-40B4-BE49-F238E27FC236}">
                <a16:creationId xmlns:a16="http://schemas.microsoft.com/office/drawing/2014/main" id="{83668D86-153E-47AC-8DE2-FEA4A0B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719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mol / partículas</a:t>
            </a:r>
          </a:p>
        </p:txBody>
      </p:sp>
      <p:sp>
        <p:nvSpPr>
          <p:cNvPr id="17" name="text-ah1583m">
            <a:extLst xmlns:a="http://schemas.openxmlformats.org/drawingml/2006/main">
              <a:ext uri="{FF2B5EF4-FFF2-40B4-BE49-F238E27FC236}">
                <a16:creationId xmlns:a16="http://schemas.microsoft.com/office/drawing/2014/main" id="{FC0A069A-931D-4BD5-A396-E1FC779C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054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8" name="text-fbuicsq">
            <a:extLst xmlns:a="http://schemas.openxmlformats.org/drawingml/2006/main">
              <a:ext uri="{FF2B5EF4-FFF2-40B4-BE49-F238E27FC236}">
                <a16:creationId xmlns:a16="http://schemas.microsoft.com/office/drawing/2014/main" id="{DE470E1E-83B9-46E0-83E5-9B6B8561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24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absoluta</a:t>
            </a:r>
          </a:p>
        </p:txBody>
      </p:sp>
      <p:sp>
        <p:nvSpPr>
          <p:cNvPr id="19" name="text-p66fpch">
            <a:extLst xmlns:a="http://schemas.openxmlformats.org/drawingml/2006/main">
              <a:ext uri="{FF2B5EF4-FFF2-40B4-BE49-F238E27FC236}">
                <a16:creationId xmlns:a16="http://schemas.microsoft.com/office/drawing/2014/main" id="{FBD0771C-732F-4293-BBDA-41120941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530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20" name="kelvin-note">
            <a:extLst xmlns:a="http://schemas.openxmlformats.org/drawingml/2006/main">
              <a:ext uri="{FF2B5EF4-FFF2-40B4-BE49-F238E27FC236}">
                <a16:creationId xmlns:a16="http://schemas.microsoft.com/office/drawing/2014/main" id="{41768260-9663-4FB5-AEF2-B3268822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44830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hl09t8y">
            <a:extLst xmlns:a="http://schemas.openxmlformats.org/drawingml/2006/main">
              <a:ext uri="{FF2B5EF4-FFF2-40B4-BE49-F238E27FC236}">
                <a16:creationId xmlns:a16="http://schemas.microsoft.com/office/drawing/2014/main" id="{9EB5DBD7-F3FA-4D66-B22E-93B28B03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6388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Nas leis dos gases, use temperatura em kelvin.</a:t>
            </a:r>
          </a:p>
        </p:txBody>
      </p:sp>
      <p:sp>
        <p:nvSpPr>
          <p:cNvPr id="22" name="text-llqhpf2">
            <a:extLst xmlns:a="http://schemas.openxmlformats.org/drawingml/2006/main">
              <a:ext uri="{FF2B5EF4-FFF2-40B4-BE49-F238E27FC236}">
                <a16:creationId xmlns:a16="http://schemas.microsoft.com/office/drawing/2014/main" id="{E0C0807B-858E-44E1-BD6D-C38D61C9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419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R é a constante universal dos gases.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CE085D6-0D35-4167-B307-C82102C7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PV = nRT • estado macroscópico de um gás ideal</a:t>
            </a:r>
          </a:p>
        </p:txBody>
      </p:sp>
    </p:spTree>
    <p:extLst>
      <p:ext uri="{BB962C8B-B14F-4D97-AF65-F5344CB8AC3E}">
        <p14:creationId xmlns:p14="http://schemas.microsoft.com/office/powerpoint/2010/main" val="1702124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6" name="Rectangle 35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3" name="Rectangle 32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2B6CC835-A04D-4523-A269-B31C5C1B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COMO INVESTIGAR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92AE7E-AF07-403E-A9CF-C2851AC6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Na demonstração, observe uma variável por vez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01DF8EE-2D8E-4386-ABD1-3B94B21A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5">
            <a:extLst xmlns:a="http://schemas.openxmlformats.org/drawingml/2006/main">
              <a:ext uri="{FF2B5EF4-FFF2-40B4-BE49-F238E27FC236}">
                <a16:creationId xmlns:a16="http://schemas.microsoft.com/office/drawing/2014/main" id="{46CD96B6-6DF5-41F7-A280-E1524E03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0612D709-2C8D-46C8-923B-715D3F4A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tep-1-text">
            <a:extLst xmlns:a="http://schemas.openxmlformats.org/drawingml/2006/main">
              <a:ext uri="{FF2B5EF4-FFF2-40B4-BE49-F238E27FC236}">
                <a16:creationId xmlns:a16="http://schemas.microsoft.com/office/drawing/2014/main" id="{8EB88951-8A03-43EF-A1C5-D2B405FC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908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o que ficará constante.</a:t>
            </a:r>
          </a:p>
        </p:txBody>
      </p:sp>
      <p:sp>
        <p:nvSpPr>
          <p:cNvPr id="7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58E28088-7D2B-4980-9F3E-94143E0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86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tep-2-text">
            <a:extLst xmlns:a="http://schemas.openxmlformats.org/drawingml/2006/main">
              <a:ext uri="{FF2B5EF4-FFF2-40B4-BE49-F238E27FC236}">
                <a16:creationId xmlns:a16="http://schemas.microsoft.com/office/drawing/2014/main" id="{8D66469B-A500-4A04-A668-FCF407B7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671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Faça uma previsão curta.</a:t>
            </a:r>
          </a:p>
        </p:txBody>
      </p:sp>
      <p:sp>
        <p:nvSpPr>
          <p:cNvPr id="9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E3195B2E-0F38-40B4-9041-EAB8040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62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step-3-text">
            <a:extLst xmlns:a="http://schemas.openxmlformats.org/drawingml/2006/main">
              <a:ext uri="{FF2B5EF4-FFF2-40B4-BE49-F238E27FC236}">
                <a16:creationId xmlns:a16="http://schemas.microsoft.com/office/drawing/2014/main" id="{F9CD62F5-7A96-4AF9-92A8-488B9A0B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3434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move um controle.</a:t>
            </a:r>
          </a:p>
        </p:txBody>
      </p:sp>
      <p:sp>
        <p:nvSpPr>
          <p:cNvPr id="11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391F440A-19B4-4A38-BBFA-EA25D849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38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step-4-text">
            <a:extLst xmlns:a="http://schemas.openxmlformats.org/drawingml/2006/main">
              <a:ext uri="{FF2B5EF4-FFF2-40B4-BE49-F238E27FC236}">
                <a16:creationId xmlns:a16="http://schemas.microsoft.com/office/drawing/2014/main" id="{54216E60-35E8-41D7-B885-4F2116F8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197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Registre: subiu, desceu ou ficou igual.</a:t>
            </a:r>
          </a:p>
        </p:txBody>
      </p:sp>
      <p:sp>
        <p:nvSpPr>
          <p:cNvPr id="1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89C06BC4-7945-4C28-951A-005A437C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428875"/>
            <a:ext cx="6781800" cy="4295775"/>
          </a:xfrm>
          <a:prstGeom xmlns:a="http://schemas.openxmlformats.org/drawingml/2006/main" prst="roundRect">
            <a:avLst>
              <a:gd name="adj" fmla="val 354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0d1c17cf844e6"/>
          <a:stretch xmlns:a="http://schemas.openxmlformats.org/drawingml/2006/main"/>
        </p:blipFill>
        <p:spPr>
          <a:xfrm xmlns:a="http://schemas.openxmlformats.org/drawingml/2006/main">
            <a:off x="5695950" y="2459449"/>
            <a:ext cx="6724650" cy="4234626"/>
          </a:xfrm>
          <a:prstGeom xmlns:a="http://schemas.openxmlformats.org/drawingml/2006/main" prst="roundRect">
            <a:avLst>
              <a:gd name="adj" fmla="val 3146"/>
            </a:avLst>
          </a:prstGeom>
        </p:spPr>
      </p:pic>
      <p:sp>
        <p:nvSpPr>
          <p:cNvPr id="15" name="text-qyz355l">
            <a:extLst xmlns:a="http://schemas.openxmlformats.org/drawingml/2006/main">
              <a:ext uri="{FF2B5EF4-FFF2-40B4-BE49-F238E27FC236}">
                <a16:creationId xmlns:a16="http://schemas.microsoft.com/office/drawing/2014/main" id="{37A75A5C-55D6-48DF-AB70-130D928F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381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Vote antes de cada teste.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250C83D-9261-4C31-8F69-81905329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Interface real do Celestial Lab</a:t>
            </a:r>
          </a:p>
        </p:txBody>
      </p:sp>
    </p:spTree>
    <p:extLst>
      <p:ext uri="{BB962C8B-B14F-4D97-AF65-F5344CB8AC3E}">
        <p14:creationId xmlns:p14="http://schemas.microsoft.com/office/powerpoint/2010/main" val="165037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7" name="Rectangle 3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3F1453AE-1AB9-4715-8B18-E439A79C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PREVER → TESTAR → REGISTRAR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0AB2A8-BBC6-45FB-9F9B-C7C3D9C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1: aquecer sem deixar expandir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9EEC861-0764-4A47-A9FB-0CCAD181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6">
            <a:extLst xmlns:a="http://schemas.openxmlformats.org/drawingml/2006/main">
              <a:ext uri="{FF2B5EF4-FFF2-40B4-BE49-F238E27FC236}">
                <a16:creationId xmlns:a16="http://schemas.microsoft.com/office/drawing/2014/main" id="{0A97D231-3153-4351-87E6-D4E30D35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-j1gq0xy">
            <a:extLst xmlns:a="http://schemas.openxmlformats.org/drawingml/2006/main">
              <a:ext uri="{FF2B5EF4-FFF2-40B4-BE49-F238E27FC236}">
                <a16:creationId xmlns:a16="http://schemas.microsoft.com/office/drawing/2014/main" id="{4B42C2DF-DBCB-405D-98DD-6E23F92F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14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V = 6,0 L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3E8DF890-AF1D-44F8-849C-801A5348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BF3D2291-BD2B-4AA2-80A7-374CB0C5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24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T = 200 K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979AB800-6534-4D0B-980F-10B50D37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ABF0753F-4EB0-47A3-8C1B-64485B2E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67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400 K e 600 K.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6C367F32-310F-4C54-906F-5968882A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29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2EE299E7-9803-4B8D-8A6A-5449C183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10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C6FCCDC7-3C8C-45C4-99E6-73B583C2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72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DEC76DED-D4DE-4709-9C92-02FA90D9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53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T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877050" y="2762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 (K)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prediction-prompt">
            <a:extLst xmlns:a="http://schemas.openxmlformats.org/drawingml/2006/main">
              <a:ext uri="{FF2B5EF4-FFF2-40B4-BE49-F238E27FC236}">
                <a16:creationId xmlns:a16="http://schemas.microsoft.com/office/drawing/2014/main" id="{25D2EA02-335F-46EA-A24A-C515AF81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981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hkw0fcl">
            <a:extLst xmlns:a="http://schemas.openxmlformats.org/drawingml/2006/main">
              <a:ext uri="{FF2B5EF4-FFF2-40B4-BE49-F238E27FC236}">
                <a16:creationId xmlns:a16="http://schemas.microsoft.com/office/drawing/2014/main" id="{60EAE2A0-C685-4963-ADF4-3AD093D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143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20DFC5D-A9E5-4D80-9259-8FF96353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Atividade prática • 7 minutos</a:t>
            </a:r>
          </a:p>
        </p:txBody>
      </p:sp>
    </p:spTree>
    <p:extLst>
      <p:ext uri="{BB962C8B-B14F-4D97-AF65-F5344CB8AC3E}">
        <p14:creationId xmlns:p14="http://schemas.microsoft.com/office/powerpoint/2010/main" val="875539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C388F127-7111-49AF-B39F-25A198BF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RESULTADO: TRANSFORMAÇÃO ISOCÓRICA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8D8D55-744C-4709-A77A-489DF110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volume constante, P acompanha 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7B8274-9788-4284-8527-7BCF4318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7">
            <a:extLst xmlns:a="http://schemas.openxmlformats.org/drawingml/2006/main">
              <a:ext uri="{FF2B5EF4-FFF2-40B4-BE49-F238E27FC236}">
                <a16:creationId xmlns:a16="http://schemas.microsoft.com/office/drawing/2014/main" id="{6CC0A9D6-4562-4C36-8460-DF10E713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1352550" y="2476500"/>
          <a:ext xmlns:a="http://schemas.openxmlformats.org/drawingml/2006/main" cx="6572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31db3374704bbe"/>
          </a:graphicData>
        </a:graphic>
      </p:graphicFrame>
      <p:sp>
        <p:nvSpPr>
          <p:cNvPr id="6" name="text-npft33j">
            <a:extLst xmlns:a="http://schemas.openxmlformats.org/drawingml/2006/main">
              <a:ext uri="{FF2B5EF4-FFF2-40B4-BE49-F238E27FC236}">
                <a16:creationId xmlns:a16="http://schemas.microsoft.com/office/drawing/2014/main" id="{7AA218DB-1923-4A3F-9AB2-4F423CBC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V e n constantes</a:t>
            </a:r>
          </a:p>
        </p:txBody>
      </p:sp>
      <p:sp>
        <p:nvSpPr>
          <p:cNvPr id="7" name="text-9v4r9gz">
            <a:extLst xmlns:a="http://schemas.openxmlformats.org/drawingml/2006/main">
              <a:ext uri="{FF2B5EF4-FFF2-40B4-BE49-F238E27FC236}">
                <a16:creationId xmlns:a16="http://schemas.microsoft.com/office/drawing/2014/main" id="{D24315F3-746D-4537-9C65-8B30FD23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480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P / T = constante</a:t>
            </a:r>
          </a:p>
        </p:txBody>
      </p:sp>
      <p:sp>
        <p:nvSpPr>
          <p:cNvPr id="8" name="text-2wwt5av">
            <a:extLst xmlns:a="http://schemas.openxmlformats.org/drawingml/2006/main">
              <a:ext uri="{FF2B5EF4-FFF2-40B4-BE49-F238E27FC236}">
                <a16:creationId xmlns:a16="http://schemas.microsoft.com/office/drawing/2014/main" id="{34A362BE-7258-45DB-A142-41B9343C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76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maior → partículas mais rápidas → colisões mais intensas → pressão maior.</a:t>
            </a:r>
          </a:p>
        </p:txBody>
      </p:sp>
      <p:sp>
        <p:nvSpPr>
          <p:cNvPr id="9" name="hook-answer">
            <a:extLst xmlns:a="http://schemas.openxmlformats.org/drawingml/2006/main">
              <a:ext uri="{FF2B5EF4-FFF2-40B4-BE49-F238E27FC236}">
                <a16:creationId xmlns:a16="http://schemas.microsoft.com/office/drawing/2014/main" id="{7C7AA510-9D14-4F27-AC73-E58C0E57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9436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ccqjhm0">
            <a:extLst xmlns:a="http://schemas.openxmlformats.org/drawingml/2006/main">
              <a:ext uri="{FF2B5EF4-FFF2-40B4-BE49-F238E27FC236}">
                <a16:creationId xmlns:a16="http://schemas.microsoft.com/office/drawing/2014/main" id="{B714D864-84EC-4E55-8A6C-E07705B6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1150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Voltando ao pneu: a pressão aumenta.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CEB88E-83C3-4738-A2E5-E868D96B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Dados calculados pelo mesmo modelo do simulador</a:t>
            </a:r>
          </a:p>
        </p:txBody>
      </p:sp>
    </p:spTree>
    <p:extLst>
      <p:ext uri="{BB962C8B-B14F-4D97-AF65-F5344CB8AC3E}">
        <p14:creationId xmlns:p14="http://schemas.microsoft.com/office/powerpoint/2010/main" val="323840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CÁLCULO-RELÂMPAGO • 2 MIN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24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29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T: 300 K → 600 K; P inicial = 100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81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05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86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50, 100 ou 200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419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543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Trabalho em duplas</a:t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7" name="Rectangle 3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184B7438-1C4F-4774-AB7D-46C8CA7F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PREVER → TESTAR → REGISTRAR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2D3EF3-510B-4D3D-9F92-CC55113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2: expandir sem aquecer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963694-74E2-46C0-A176-3CB126B5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8">
            <a:extLst xmlns:a="http://schemas.openxmlformats.org/drawingml/2006/main">
              <a:ext uri="{FF2B5EF4-FFF2-40B4-BE49-F238E27FC236}">
                <a16:creationId xmlns:a16="http://schemas.microsoft.com/office/drawing/2014/main" id="{3923B34B-DDC9-441C-83DE-88BFD150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-e0a65jk">
            <a:extLst xmlns:a="http://schemas.openxmlformats.org/drawingml/2006/main">
              <a:ext uri="{FF2B5EF4-FFF2-40B4-BE49-F238E27FC236}">
                <a16:creationId xmlns:a16="http://schemas.microsoft.com/office/drawing/2014/main" id="{6C17F9FD-8712-4496-9B4E-90DB159A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14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T = 300 K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9BA43900-D12F-48D4-A39B-C3C1134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09449D8E-DAED-4D70-91C0-24B5C5F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24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V = 3,0 L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0DFAE3BF-F5C7-42A5-9003-B40E826F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EDC02611-4DD7-4847-BDCC-35F4D2C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67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6,0 L e 9,0 L.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8C0BFCBA-EC33-4E06-9C0F-60019913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29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0DEDD5D3-F6F6-4738-8EC5-0C7C46F6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10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721804F3-99AB-4EC8-A85D-40472F62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72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932F6151-BC2D-4CB1-A450-A6C33D15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353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V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877050" y="2762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 (L)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3,0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9,0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volume-prediction">
            <a:extLst xmlns:a="http://schemas.openxmlformats.org/drawingml/2006/main">
              <a:ext uri="{FF2B5EF4-FFF2-40B4-BE49-F238E27FC236}">
                <a16:creationId xmlns:a16="http://schemas.microsoft.com/office/drawing/2014/main" id="{CFEC5DE9-E541-43D4-A645-DF444F7D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981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u04m0c">
            <a:extLst xmlns:a="http://schemas.openxmlformats.org/drawingml/2006/main">
              <a:ext uri="{FF2B5EF4-FFF2-40B4-BE49-F238E27FC236}">
                <a16:creationId xmlns:a16="http://schemas.microsoft.com/office/drawing/2014/main" id="{C41EC01D-2CB1-4C80-98E9-BBE67067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6143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0B98D1-B235-4784-B9BD-75345828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Atividade prática • 7 minutos</a:t>
            </a:r>
          </a:p>
        </p:txBody>
      </p:sp>
    </p:spTree>
    <p:extLst>
      <p:ext uri="{BB962C8B-B14F-4D97-AF65-F5344CB8AC3E}">
        <p14:creationId xmlns:p14="http://schemas.microsoft.com/office/powerpoint/2010/main" val="151027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593B793A-7B9C-4707-BA84-B908FBC5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RESULTADO: TRANSFORMAÇÃO ISOTÉRMICA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6A7158-A8A9-44E9-8234-BA29EC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 constante, aumentar V reduz P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F6C96C3-9D1F-49A2-956F-A3072102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9">
            <a:extLst xmlns:a="http://schemas.openxmlformats.org/drawingml/2006/main">
              <a:ext uri="{FF2B5EF4-FFF2-40B4-BE49-F238E27FC236}">
                <a16:creationId xmlns:a16="http://schemas.microsoft.com/office/drawing/2014/main" id="{D0C35F70-22E6-4BC6-853D-854C4F05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1352550" y="247650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1315ef2e4f4934"/>
          </a:graphicData>
        </a:graphic>
      </p:graphicFrame>
      <p:sp>
        <p:nvSpPr>
          <p:cNvPr id="6" name="text-q1i70iz">
            <a:extLst xmlns:a="http://schemas.openxmlformats.org/drawingml/2006/main">
              <a:ext uri="{FF2B5EF4-FFF2-40B4-BE49-F238E27FC236}">
                <a16:creationId xmlns:a16="http://schemas.microsoft.com/office/drawing/2014/main" id="{82671F90-68C3-4E75-93FE-9FD40A46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T e n constantes</a:t>
            </a:r>
          </a:p>
        </p:txBody>
      </p:sp>
      <p:sp>
        <p:nvSpPr>
          <p:cNvPr id="7" name="text-wbbwgea">
            <a:extLst xmlns:a="http://schemas.openxmlformats.org/drawingml/2006/main">
              <a:ext uri="{FF2B5EF4-FFF2-40B4-BE49-F238E27FC236}">
                <a16:creationId xmlns:a16="http://schemas.microsoft.com/office/drawing/2014/main" id="{78C652B2-5161-4CFB-BA27-B8733DF9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480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 × V = constante</a:t>
            </a:r>
          </a:p>
        </p:txBody>
      </p:sp>
      <p:sp>
        <p:nvSpPr>
          <p:cNvPr id="8" name="text-n7gceh3">
            <a:extLst xmlns:a="http://schemas.openxmlformats.org/drawingml/2006/main">
              <a:ext uri="{FF2B5EF4-FFF2-40B4-BE49-F238E27FC236}">
                <a16:creationId xmlns:a16="http://schemas.microsoft.com/office/drawing/2014/main" id="{FB8131E1-255A-4337-98CF-570B92B4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767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Menos espaço → mais encontros com as paredes por intervalo de tempo → pressão maior.</a:t>
            </a:r>
          </a:p>
        </p:txBody>
      </p:sp>
      <p:sp>
        <p:nvSpPr>
          <p:cNvPr id="9" name="inverse-callout">
            <a:extLst xmlns:a="http://schemas.openxmlformats.org/drawingml/2006/main">
              <a:ext uri="{FF2B5EF4-FFF2-40B4-BE49-F238E27FC236}">
                <a16:creationId xmlns:a16="http://schemas.microsoft.com/office/drawing/2014/main" id="{014429FC-5180-47B7-933D-F7F6700E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0007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uaa07ie">
            <a:extLst xmlns:a="http://schemas.openxmlformats.org/drawingml/2006/main">
              <a:ext uri="{FF2B5EF4-FFF2-40B4-BE49-F238E27FC236}">
                <a16:creationId xmlns:a16="http://schemas.microsoft.com/office/drawing/2014/main" id="{03454AF7-32E8-40D7-A1DA-F44A9EDE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61531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Dobrar V reduz P à metade.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38E057-7865-4B1C-948D-6F98E0BF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Dados calculados pelo mesmo modelo do simulador</a:t>
            </a:r>
          </a:p>
        </p:txBody>
      </p:sp>
    </p:spTree>
    <p:extLst>
      <p:ext uri="{BB962C8B-B14F-4D97-AF65-F5344CB8AC3E}">
        <p14:creationId xmlns:p14="http://schemas.microsoft.com/office/powerpoint/2010/main" val="15266787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CÁLCULO-RELÂMPAGO • 2 MIN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24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29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V: 4,0 L → 8,0 L; P inicial = 120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81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05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86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240, 120 ou 60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419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543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Trabalho em duplas</a:t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8" name="Rectangle 1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5EB9514F-70E8-41E7-9BCD-2DA1A339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MAPA DAS TRANSFORMAÇÕES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B6243B-25AB-401B-B415-FD4EB6E0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fixa uma grandeza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CA0B417-786D-444D-BB28-463E5BF8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5B2B05BA-C480-409F-A365-C0592024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1295400" y="2552700"/>
          <a:ext xmlns:a="http://schemas.openxmlformats.org/drawingml/2006/main" cx="111252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619250"/>
                <a:gridCol w="2476500"/>
                <a:gridCol w="2381250"/>
                <a:gridCol w="2552700"/>
              </a:tblGrid>
              <a:tr h="9191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Transformação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Constante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Controle livre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Gráfico no Celestial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Isotérmica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Volume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P·V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Isobárica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Isocórica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7qxhztu">
            <a:extLst xmlns:a="http://schemas.openxmlformats.org/drawingml/2006/main">
              <a:ext uri="{FF2B5EF4-FFF2-40B4-BE49-F238E27FC236}">
                <a16:creationId xmlns:a16="http://schemas.microsoft.com/office/drawing/2014/main" id="{6AFE972A-C4F1-4D8C-8227-988EF34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5341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Regra de ouro: identifique primeiro o que permanece constante.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7E2B71F-ABD4-4F5D-813F-A8BC03C2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Modelo de gás ideal</a:t>
            </a:r>
          </a:p>
        </p:txBody>
      </p:sp>
    </p:spTree>
    <p:extLst>
      <p:ext uri="{BB962C8B-B14F-4D97-AF65-F5344CB8AC3E}">
        <p14:creationId xmlns:p14="http://schemas.microsoft.com/office/powerpoint/2010/main" val="16036881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2" name="Rectangle 4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1" name="Rectangle 4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Rectangle 3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AE61DB03-F300-4FD5-8853-255643E3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TESTE COLETIVO • 8 MINUTOS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3A87B3-A3F5-4B02-9885-DF2D66A7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Três previsões; três testes no Celestial Lab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71C839A-9BFC-41BD-95E2-98594C92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659A8CAD-32CE-44F6-BFA5-9AE41CAE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text-kvsdpsd">
            <a:extLst xmlns:a="http://schemas.openxmlformats.org/drawingml/2006/main">
              <a:ext uri="{FF2B5EF4-FFF2-40B4-BE49-F238E27FC236}">
                <a16:creationId xmlns:a16="http://schemas.microsoft.com/office/drawing/2014/main" id="{05F9BF97-6981-4397-B62C-CA137289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76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Isotérmica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030C63E7-E8CA-40AA-AE3D-73C15C0F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86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b0036ebba44411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14450" y="2914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8" name="text-yeilbsy">
            <a:extLst xmlns:a="http://schemas.openxmlformats.org/drawingml/2006/main">
              <a:ext uri="{FF2B5EF4-FFF2-40B4-BE49-F238E27FC236}">
                <a16:creationId xmlns:a16="http://schemas.microsoft.com/office/drawing/2014/main" id="{AE82284D-02CC-4ACF-9F69-883DDF2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14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9" name="text-1eanlnu">
            <a:extLst xmlns:a="http://schemas.openxmlformats.org/drawingml/2006/main">
              <a:ext uri="{FF2B5EF4-FFF2-40B4-BE49-F238E27FC236}">
                <a16:creationId xmlns:a16="http://schemas.microsoft.com/office/drawing/2014/main" id="{76BCE19A-94EF-4CF6-AF3E-B50A61A4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Isobárica</a:t>
            </a:r>
          </a:p>
        </p:txBody>
      </p:sp>
      <p:sp>
        <p:nvSpPr>
          <p:cNvPr id="10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22CDE6AE-FC7C-4FFD-B20E-3DEF226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886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c2d86b5cd4557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10150" y="2914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2" name="text-89glrhe">
            <a:extLst xmlns:a="http://schemas.openxmlformats.org/drawingml/2006/main">
              <a:ext uri="{FF2B5EF4-FFF2-40B4-BE49-F238E27FC236}">
                <a16:creationId xmlns:a16="http://schemas.microsoft.com/office/drawing/2014/main" id="{EA0E13FF-53BA-4A9C-8CB7-5CEB9E97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314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V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3" name="text-mn0pupv">
            <a:extLst xmlns:a="http://schemas.openxmlformats.org/drawingml/2006/main">
              <a:ext uri="{FF2B5EF4-FFF2-40B4-BE49-F238E27FC236}">
                <a16:creationId xmlns:a16="http://schemas.microsoft.com/office/drawing/2014/main" id="{3CEE17DC-64E1-4F0D-A638-CE0DF11D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76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Isocórica</a:t>
            </a:r>
          </a:p>
        </p:txBody>
      </p:sp>
      <p:sp>
        <p:nvSpPr>
          <p:cNvPr id="14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5A62022-C5D7-48D8-864F-C62F5AC5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886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22b938af04150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5850" y="2914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6" name="text-uiax9ui">
            <a:extLst xmlns:a="http://schemas.openxmlformats.org/drawingml/2006/main">
              <a:ext uri="{FF2B5EF4-FFF2-40B4-BE49-F238E27FC236}">
                <a16:creationId xmlns:a16="http://schemas.microsoft.com/office/drawing/2014/main" id="{6E19147C-F53E-45CF-92E5-720133C9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14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463D073-F957-4C6D-B7FE-556751BC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198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u1xrmv7">
            <a:extLst xmlns:a="http://schemas.openxmlformats.org/drawingml/2006/main">
              <a:ext uri="{FF2B5EF4-FFF2-40B4-BE49-F238E27FC236}">
                <a16:creationId xmlns:a16="http://schemas.microsoft.com/office/drawing/2014/main" id="{8BB9043A-A7F1-4D45-AABD-4D051007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610350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 turma vota. O professor move o controle. O gráfico confirma.</a:t>
            </a:r>
          </a:p>
        </p:txBody>
      </p:sp>
      <p:sp>
        <p:nvSpPr>
          <p:cNvPr id="1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D83965E-3B7B-406A-AEB4-53C688E0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Celestial Lab • aba Transformações</a:t>
            </a:r>
          </a:p>
        </p:txBody>
      </p:sp>
    </p:spTree>
    <p:extLst>
      <p:ext uri="{BB962C8B-B14F-4D97-AF65-F5344CB8AC3E}">
        <p14:creationId xmlns:p14="http://schemas.microsoft.com/office/powerpoint/2010/main" val="13758733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EEAC3E19-365D-4B13-A402-4E639D57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SISTEMA • VIZINHANÇA • ENERGIA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947874-E086-4515-9D7B-FE387AB8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 rastreia a energia do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B96B3D4-0F33-48B0-BF5E-A2DCBEC8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4C0FC5AE-422D-457C-87D3-78675B53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text-w7w423h">
            <a:extLst xmlns:a="http://schemas.openxmlformats.org/drawingml/2006/main">
              <a:ext uri="{FF2B5EF4-FFF2-40B4-BE49-F238E27FC236}">
                <a16:creationId xmlns:a16="http://schemas.microsoft.com/office/drawing/2014/main" id="{5D6AE144-7059-4048-BED5-6FAE7684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CALOR (Q)</a:t>
            </a:r>
          </a:p>
        </p:txBody>
      </p:sp>
      <p:sp>
        <p:nvSpPr>
          <p:cNvPr id="6" name="text-9pvnr3q">
            <a:extLst xmlns:a="http://schemas.openxmlformats.org/drawingml/2006/main">
              <a:ext uri="{FF2B5EF4-FFF2-40B4-BE49-F238E27FC236}">
                <a16:creationId xmlns:a16="http://schemas.microsoft.com/office/drawing/2014/main" id="{BC74B7B0-BFD3-4122-AA42-82A93F0D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90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por diferença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 temperatura</a:t>
            </a:r>
          </a:p>
        </p:txBody>
      </p:sp>
      <p:sp>
        <p:nvSpPr>
          <p:cNvPr id="7" name="text-kavayxw">
            <a:extLst xmlns:a="http://schemas.openxmlformats.org/drawingml/2006/main">
              <a:ext uri="{FF2B5EF4-FFF2-40B4-BE49-F238E27FC236}">
                <a16:creationId xmlns:a16="http://schemas.microsoft.com/office/drawing/2014/main" id="{D1093A28-D7BE-4054-84DB-A5A4E29C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24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ext-hrk1zq6">
            <a:extLst xmlns:a="http://schemas.openxmlformats.org/drawingml/2006/main">
              <a:ext uri="{FF2B5EF4-FFF2-40B4-BE49-F238E27FC236}">
                <a16:creationId xmlns:a16="http://schemas.microsoft.com/office/drawing/2014/main" id="{A0728E45-D9DB-4BFE-9125-94A7308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24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system-box">
            <a:extLst xmlns:a="http://schemas.openxmlformats.org/drawingml/2006/main">
              <a:ext uri="{FF2B5EF4-FFF2-40B4-BE49-F238E27FC236}">
                <a16:creationId xmlns:a16="http://schemas.microsoft.com/office/drawing/2014/main" id="{C35CE9B6-9CC0-4C22-9EDE-419B8F71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38450"/>
            <a:ext cx="4419600" cy="25717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10" name="text-hnh3luu">
            <a:extLst xmlns:a="http://schemas.openxmlformats.org/drawingml/2006/main">
              <a:ext uri="{FF2B5EF4-FFF2-40B4-BE49-F238E27FC236}">
                <a16:creationId xmlns:a16="http://schemas.microsoft.com/office/drawing/2014/main" id="{4F45F8A1-873D-46EE-94A0-09AC499D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19450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GÁS</a:t>
            </a:r>
          </a:p>
        </p:txBody>
      </p:sp>
      <p:sp>
        <p:nvSpPr>
          <p:cNvPr id="11" name="text-r3xpi84">
            <a:extLst xmlns:a="http://schemas.openxmlformats.org/drawingml/2006/main">
              <a:ext uri="{FF2B5EF4-FFF2-40B4-BE49-F238E27FC236}">
                <a16:creationId xmlns:a16="http://schemas.microsoft.com/office/drawing/2014/main" id="{2A974CB3-42CB-4B67-B663-59A1778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052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12" name="text-s381127">
            <a:extLst xmlns:a="http://schemas.openxmlformats.org/drawingml/2006/main">
              <a:ext uri="{FF2B5EF4-FFF2-40B4-BE49-F238E27FC236}">
                <a16:creationId xmlns:a16="http://schemas.microsoft.com/office/drawing/2014/main" id="{7ED08A15-1B6A-4FA1-B441-92CC7393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529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energia interna U</a:t>
            </a:r>
          </a:p>
        </p:txBody>
      </p:sp>
      <p:sp>
        <p:nvSpPr>
          <p:cNvPr id="13" name="text-2wq5hwa">
            <a:extLst xmlns:a="http://schemas.openxmlformats.org/drawingml/2006/main">
              <a:ext uri="{FF2B5EF4-FFF2-40B4-BE49-F238E27FC236}">
                <a16:creationId xmlns:a16="http://schemas.microsoft.com/office/drawing/2014/main" id="{37804189-02F6-4766-BFFB-C1779608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14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TRABALHO W</a:t>
            </a:r>
          </a:p>
        </p:txBody>
      </p:sp>
      <p:sp>
        <p:nvSpPr>
          <p:cNvPr id="14" name="text-br3a57l">
            <a:extLst xmlns:a="http://schemas.openxmlformats.org/drawingml/2006/main">
              <a:ext uri="{FF2B5EF4-FFF2-40B4-BE49-F238E27FC236}">
                <a16:creationId xmlns:a16="http://schemas.microsoft.com/office/drawing/2014/main" id="{79E93434-A28D-4D98-ACA6-3DFA10E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790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por força e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deslocamento do pistão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F328EC2-5464-4AAD-8013-83DEAEB4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886450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lhibmuz">
            <a:extLst xmlns:a="http://schemas.openxmlformats.org/drawingml/2006/main">
              <a:ext uri="{FF2B5EF4-FFF2-40B4-BE49-F238E27FC236}">
                <a16:creationId xmlns:a16="http://schemas.microsoft.com/office/drawing/2014/main" id="{E32C00FD-EC6B-4F64-B578-5E27431A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6229350"/>
            <a:ext cx="906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Calor e trabalho são energia em trânsito; o sistema armazena energia interna.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41F0A15-891B-4315-9169-CBF60025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Convenção adotada: W &gt; 0 quando o gás realiza trabalho</a:t>
            </a:r>
          </a:p>
        </p:txBody>
      </p:sp>
    </p:spTree>
    <p:extLst>
      <p:ext uri="{BB962C8B-B14F-4D97-AF65-F5344CB8AC3E}">
        <p14:creationId xmlns:p14="http://schemas.microsoft.com/office/powerpoint/2010/main" val="5279360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2" name="Rectangle 2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ectangle 2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C0431A7E-92EF-4078-86A0-B6514DDB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PRIMEIRA LEI DA TERMODINÂMICA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AF007C-0FDE-4156-9592-951C1745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1ª Lei é a conservação da energia no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9AADDB6-8E92-4897-8F98-1D6010D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B2AF8E86-0B4E-48E5-8198-16E6BAF4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first-law">
            <a:extLst xmlns:a="http://schemas.openxmlformats.org/drawingml/2006/main">
              <a:ext uri="{FF2B5EF4-FFF2-40B4-BE49-F238E27FC236}">
                <a16:creationId xmlns:a16="http://schemas.microsoft.com/office/drawing/2014/main" id="{A4182F71-DCFC-402E-B058-CACB9D5C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7655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57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Q = ΔU + W</a:t>
            </a:r>
          </a:p>
        </p:txBody>
      </p:sp>
      <p:sp>
        <p:nvSpPr>
          <p:cNvPr id="6" name="text-r4fsmis">
            <a:extLst xmlns:a="http://schemas.openxmlformats.org/drawingml/2006/main">
              <a:ext uri="{FF2B5EF4-FFF2-40B4-BE49-F238E27FC236}">
                <a16:creationId xmlns:a16="http://schemas.microsoft.com/office/drawing/2014/main" id="{FB4AD577-E1AB-4C8F-9FB1-45E3ED8F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9575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calor = energia interna + trabalho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9748A67-D974-420D-AEB0-C075E286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hqbobar">
            <a:extLst xmlns:a="http://schemas.openxmlformats.org/drawingml/2006/main">
              <a:ext uri="{FF2B5EF4-FFF2-40B4-BE49-F238E27FC236}">
                <a16:creationId xmlns:a16="http://schemas.microsoft.com/office/drawing/2014/main" id="{99167D14-D924-476A-B960-75FDA5DC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003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Q &gt; 0</a:t>
            </a:r>
          </a:p>
        </p:txBody>
      </p:sp>
      <p:sp>
        <p:nvSpPr>
          <p:cNvPr id="9" name="text-ua6emk4">
            <a:extLst xmlns:a="http://schemas.openxmlformats.org/drawingml/2006/main">
              <a:ext uri="{FF2B5EF4-FFF2-40B4-BE49-F238E27FC236}">
                <a16:creationId xmlns:a16="http://schemas.microsoft.com/office/drawing/2014/main" id="{3593AEEF-3FD1-4EE1-8857-1650E498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194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recebe energia por calor</a:t>
            </a:r>
          </a:p>
        </p:txBody>
      </p:sp>
      <p:sp>
        <p:nvSpPr>
          <p:cNvPr id="10" name="text-nqrtg31">
            <a:extLst xmlns:a="http://schemas.openxmlformats.org/drawingml/2006/main">
              <a:ext uri="{FF2B5EF4-FFF2-40B4-BE49-F238E27FC236}">
                <a16:creationId xmlns:a16="http://schemas.microsoft.com/office/drawing/2014/main" id="{7E8F1CAC-F7D3-4BFE-8490-E570C2CB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243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 &gt; 0</a:t>
            </a:r>
          </a:p>
        </p:txBody>
      </p:sp>
      <p:sp>
        <p:nvSpPr>
          <p:cNvPr id="11" name="text-zpbfhj3">
            <a:extLst xmlns:a="http://schemas.openxmlformats.org/drawingml/2006/main">
              <a:ext uri="{FF2B5EF4-FFF2-40B4-BE49-F238E27FC236}">
                <a16:creationId xmlns:a16="http://schemas.microsoft.com/office/drawing/2014/main" id="{C0C246CA-3B99-4D8C-A20A-17663866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433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trabalho ao expandir</a:t>
            </a:r>
          </a:p>
        </p:txBody>
      </p:sp>
      <p:sp>
        <p:nvSpPr>
          <p:cNvPr id="12" name="text-ogiuhaw">
            <a:extLst xmlns:a="http://schemas.openxmlformats.org/drawingml/2006/main">
              <a:ext uri="{FF2B5EF4-FFF2-40B4-BE49-F238E27FC236}">
                <a16:creationId xmlns:a16="http://schemas.microsoft.com/office/drawing/2014/main" id="{C661CBDA-1305-42D0-8988-CBCC8CDF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ΔU &gt; 0</a:t>
            </a:r>
          </a:p>
        </p:txBody>
      </p:sp>
      <p:sp>
        <p:nvSpPr>
          <p:cNvPr id="13" name="text-jba0h6z">
            <a:extLst xmlns:a="http://schemas.openxmlformats.org/drawingml/2006/main">
              <a:ext uri="{FF2B5EF4-FFF2-40B4-BE49-F238E27FC236}">
                <a16:creationId xmlns:a16="http://schemas.microsoft.com/office/drawing/2014/main" id="{A032CD80-E676-4074-847C-236E1DD8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0673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energia interna aumenta</a:t>
            </a:r>
          </a:p>
        </p:txBody>
      </p:sp>
      <p:sp>
        <p:nvSpPr>
          <p:cNvPr id="14" name="energy-balance">
            <a:extLst xmlns:a="http://schemas.openxmlformats.org/drawingml/2006/main">
              <a:ext uri="{FF2B5EF4-FFF2-40B4-BE49-F238E27FC236}">
                <a16:creationId xmlns:a16="http://schemas.microsoft.com/office/drawing/2014/main" id="{E35A724B-8478-4E0B-8638-4E8B841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4350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3n7bmqn">
            <a:extLst xmlns:a="http://schemas.openxmlformats.org/drawingml/2006/main">
              <a:ext uri="{FF2B5EF4-FFF2-40B4-BE49-F238E27FC236}">
                <a16:creationId xmlns:a16="http://schemas.microsoft.com/office/drawing/2014/main" id="{27377B22-F657-42D8-8102-EB900A5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1020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 Q &gt; W, parte da energia recebida permanece no gás: ΔU aumenta.</a:t>
            </a:r>
          </a:p>
        </p:txBody>
      </p:sp>
      <p:sp>
        <p:nvSpPr>
          <p:cNvPr id="16" name="text-5g2b4um">
            <a:extLst xmlns:a="http://schemas.openxmlformats.org/drawingml/2006/main">
              <a:ext uri="{FF2B5EF4-FFF2-40B4-BE49-F238E27FC236}">
                <a16:creationId xmlns:a16="http://schemas.microsoft.com/office/drawing/2014/main" id="{0226B248-CA10-4FD6-B9B7-BB3CBA72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2674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Use sempre a convenção de sinais indicada.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3E0A63B-8432-40CA-9FE4-F19B0865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Modelo de gás ideal</a:t>
            </a:r>
          </a:p>
        </p:txBody>
      </p:sp>
    </p:spTree>
    <p:extLst>
      <p:ext uri="{BB962C8B-B14F-4D97-AF65-F5344CB8AC3E}">
        <p14:creationId xmlns:p14="http://schemas.microsoft.com/office/powerpoint/2010/main" val="20802207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CÁLCULO-RELÂMPAGO • 2 MIN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Quanto do calor aumenta a energia interna?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recebe Q = 100 J.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24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29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W = 40 J.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81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05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86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Em Q = ΔU + W, qual é o valor de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419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543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Tente a conta → explique o resultado.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Trabalho em duplas</a:t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8" name="Rectangle 1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5" name="Rectangle 1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C49CB637-092A-4CA2-BF24-F01D2D2E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GASES IDEAIS + TERMODINÂMICA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2E818F-9BFD-42E5-9C08-8EA2CF73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conta uma história de energia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1570672-6C43-4DBD-87D6-EA11B3AD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0BA0A2C2-3E0E-4BF8-B38E-815E946C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1295400" y="2533650"/>
          <a:ext xmlns:a="http://schemas.openxmlformats.org/drawingml/2006/main" cx="111252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667000"/>
                <a:gridCol w="2667000"/>
                <a:gridCol w="3695700"/>
              </a:tblGrid>
              <a:tr h="9286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Processo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 que não muda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Trabalho / energia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Leitura física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Isocórico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W = 0; ΔU = Q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Aquecer aumenta T, U e 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Isotérmico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ΔU = 0; Q = W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Energia recebida sustenta a expansão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Isobárico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Q = ΔU + W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Aquecer aumenta T e expande o gás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txlv8c6">
            <a:extLst xmlns:a="http://schemas.openxmlformats.org/drawingml/2006/main">
              <a:ext uri="{FF2B5EF4-FFF2-40B4-BE49-F238E27FC236}">
                <a16:creationId xmlns:a16="http://schemas.microsoft.com/office/drawing/2014/main" id="{36C63C7C-099F-4287-A3CF-537F97A2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65722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Para um gás ideal, mudar a temperatura significa mudar a energia interna.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8433B6F-8526-4F6E-82A2-5376C23E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Síntese conceitual • sem cálculo de áreas no 1º ano</a:t>
            </a:r>
          </a:p>
        </p:txBody>
      </p:sp>
    </p:spTree>
    <p:extLst>
      <p:ext uri="{BB962C8B-B14F-4D97-AF65-F5344CB8AC3E}">
        <p14:creationId xmlns:p14="http://schemas.microsoft.com/office/powerpoint/2010/main" val="11507481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0" name="Rectangle 1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85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47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Saída: três respostas em quatro minutos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14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010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90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 fixo, se T aumenta, P sobe ou desce?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24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48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29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T fixo, se V dobra, P aumenta ou diminui?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81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05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86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 = 100 J e W = 40 J. Qual é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419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543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Responda com poucas palavras e uma conta.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115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Síntese individual</a:t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2026-08-23T17:20:52.9770000Z</dcterms:created>
  <dcterms:modified xsi:type="dcterms:W3CDTF">2026-08-23T17:20:52.9770000Z</dcterms:modified>
</coreProperties>
</file>