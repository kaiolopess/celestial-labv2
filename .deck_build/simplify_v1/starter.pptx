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37efb628464a05" /><Relationship Type="http://schemas.openxmlformats.org/officeDocument/2006/relationships/extended-properties" Target="/docProps/app.xml" Id="Rcaf8b18f058046e5" /><Relationship Type="http://schemas.openxmlformats.org/officeDocument/2006/relationships/officeDocument" Target="/ppt/presentation.xml" Id="R38ad900a7c284c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53ab17286849d3"/>
  </p:sldMasterIdLst>
  <p:notesMasterIdLst>
    <p:notesMasterId xmlns:r="http://schemas.openxmlformats.org/officeDocument/2006/relationships" r:id="R515ed68783a44a6b"/>
  </p:notesMasterIdLst>
  <p:sldIdLst>
    <p:sldId xmlns:r="http://schemas.openxmlformats.org/officeDocument/2006/relationships" id="256" r:id="R762382f74eeb4714"/>
    <p:sldId xmlns:r="http://schemas.openxmlformats.org/officeDocument/2006/relationships" id="257" r:id="R1a176360beb149e7"/>
    <p:sldId xmlns:r="http://schemas.openxmlformats.org/officeDocument/2006/relationships" id="258" r:id="R5ae1dc95eca74201"/>
    <p:sldId xmlns:r="http://schemas.openxmlformats.org/officeDocument/2006/relationships" id="259" r:id="Rcdd4ff5af7034566"/>
    <p:sldId xmlns:r="http://schemas.openxmlformats.org/officeDocument/2006/relationships" id="260" r:id="R42ce4e17c6a7440f"/>
    <p:sldId xmlns:r="http://schemas.openxmlformats.org/officeDocument/2006/relationships" id="261" r:id="Ra68183a175404f68"/>
    <p:sldId xmlns:r="http://schemas.openxmlformats.org/officeDocument/2006/relationships" id="262" r:id="R5d51a23337974553"/>
    <p:sldId xmlns:r="http://schemas.openxmlformats.org/officeDocument/2006/relationships" id="263" r:id="Rc7791e3773804638"/>
    <p:sldId xmlns:r="http://schemas.openxmlformats.org/officeDocument/2006/relationships" id="264" r:id="R45870eee3ef04c50"/>
    <p:sldId xmlns:r="http://schemas.openxmlformats.org/officeDocument/2006/relationships" id="265" r:id="R9d7643f0aac94afd"/>
    <p:sldId xmlns:r="http://schemas.openxmlformats.org/officeDocument/2006/relationships" id="266" r:id="Rafe325cae64f431a"/>
    <p:sldId xmlns:r="http://schemas.openxmlformats.org/officeDocument/2006/relationships" id="267" r:id="R5e22ee95fc2440b7"/>
    <p:sldId xmlns:r="http://schemas.openxmlformats.org/officeDocument/2006/relationships" id="268" r:id="R3a202c61c08d4ad0"/>
    <p:sldId xmlns:r="http://schemas.openxmlformats.org/officeDocument/2006/relationships" id="269" r:id="R2198e43fb88046f1"/>
    <p:sldId xmlns:r="http://schemas.openxmlformats.org/officeDocument/2006/relationships" id="270" r:id="R321faab005d04e43"/>
    <p:sldId xmlns:r="http://schemas.openxmlformats.org/officeDocument/2006/relationships" id="271" r:id="Rc3041585c7d446ef"/>
    <p:sldId xmlns:r="http://schemas.openxmlformats.org/officeDocument/2006/relationships" id="272" r:id="Rc54d894441ae4537"/>
    <p:sldId xmlns:r="http://schemas.openxmlformats.org/officeDocument/2006/relationships" id="273" r:id="R7878fcbbefe3484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040c5641be4f63" /><Relationship Type="http://schemas.openxmlformats.org/officeDocument/2006/relationships/slideMaster" Target="/ppt/slideMasters/slideMaster1.xml" Id="R5c53ab17286849d3" /><Relationship Type="http://schemas.openxmlformats.org/officeDocument/2006/relationships/notesMaster" Target="/ppt/notesMasters/notesMaster1.xml" Id="R515ed68783a44a6b" /><Relationship Type="http://schemas.openxmlformats.org/officeDocument/2006/relationships/presProps" Target="/ppt/presProps.xml" Id="R1c0aee3f46fe40da" /><Relationship Type="http://schemas.openxmlformats.org/officeDocument/2006/relationships/tableStyles" Target="/ppt/tableStyles.xml" Id="Ra6d2fa5d173d418b" /><Relationship Type="http://schemas.openxmlformats.org/officeDocument/2006/relationships/slide" Target="/ppt/slides/slide1.xml" Id="R762382f74eeb4714" /><Relationship Type="http://schemas.openxmlformats.org/officeDocument/2006/relationships/slide" Target="/ppt/slides/slide2.xml" Id="R1a176360beb149e7" /><Relationship Type="http://schemas.openxmlformats.org/officeDocument/2006/relationships/slide" Target="/ppt/slides/slide3.xml" Id="R5ae1dc95eca74201" /><Relationship Type="http://schemas.openxmlformats.org/officeDocument/2006/relationships/slide" Target="/ppt/slides/slide4.xml" Id="Rcdd4ff5af7034566" /><Relationship Type="http://schemas.openxmlformats.org/officeDocument/2006/relationships/slide" Target="/ppt/slides/slide5.xml" Id="R42ce4e17c6a7440f" /><Relationship Type="http://schemas.openxmlformats.org/officeDocument/2006/relationships/slide" Target="/ppt/slides/slide6.xml" Id="Ra68183a175404f68" /><Relationship Type="http://schemas.openxmlformats.org/officeDocument/2006/relationships/slide" Target="/ppt/slides/slide7.xml" Id="R5d51a23337974553" /><Relationship Type="http://schemas.openxmlformats.org/officeDocument/2006/relationships/slide" Target="/ppt/slides/slide8.xml" Id="Rc7791e3773804638" /><Relationship Type="http://schemas.openxmlformats.org/officeDocument/2006/relationships/slide" Target="/ppt/slides/slide9.xml" Id="R45870eee3ef04c50" /><Relationship Type="http://schemas.openxmlformats.org/officeDocument/2006/relationships/slide" Target="/ppt/slides/slide10.xml" Id="R9d7643f0aac94afd" /><Relationship Type="http://schemas.openxmlformats.org/officeDocument/2006/relationships/slide" Target="/ppt/slides/slide11.xml" Id="Rafe325cae64f431a" /><Relationship Type="http://schemas.openxmlformats.org/officeDocument/2006/relationships/slide" Target="/ppt/slides/slide12.xml" Id="R5e22ee95fc2440b7" /><Relationship Type="http://schemas.openxmlformats.org/officeDocument/2006/relationships/slide" Target="/ppt/slides/slide13.xml" Id="R3a202c61c08d4ad0" /><Relationship Type="http://schemas.openxmlformats.org/officeDocument/2006/relationships/slide" Target="/ppt/slides/slide14.xml" Id="R2198e43fb88046f1" /><Relationship Type="http://schemas.openxmlformats.org/officeDocument/2006/relationships/slide" Target="/ppt/slides/slide15.xml" Id="R321faab005d04e43" /><Relationship Type="http://schemas.openxmlformats.org/officeDocument/2006/relationships/slide" Target="/ppt/slides/slide16.xml" Id="Rc3041585c7d446ef" /><Relationship Type="http://schemas.openxmlformats.org/officeDocument/2006/relationships/slide" Target="/ppt/slides/slide17.xml" Id="Rc54d894441ae4537" /><Relationship Type="http://schemas.openxmlformats.org/officeDocument/2006/relationships/slide" Target="/ppt/slides/slide18.xml" Id="R7878fcbbefe348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7aa4d3b97840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61bb13aa9c483e" /><Relationship Type="http://schemas.openxmlformats.org/officeDocument/2006/relationships/notesMaster" Target="/ppt/notesMasters/notesMaster1.xml" Id="Rcece2c5c347241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50e84afd924c5b" /><Relationship Type="http://schemas.openxmlformats.org/officeDocument/2006/relationships/notesMaster" Target="/ppt/notesMasters/notesMaster1.xml" Id="R55bb1cc604a640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6a1a7e3ca24db8" /><Relationship Type="http://schemas.openxmlformats.org/officeDocument/2006/relationships/notesMaster" Target="/ppt/notesMasters/notesMaster1.xml" Id="Rf757543daccf49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f07046b2a2404d" /><Relationship Type="http://schemas.openxmlformats.org/officeDocument/2006/relationships/notesMaster" Target="/ppt/notesMasters/notesMaster1.xml" Id="R128ec7c22b2b46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3599cf8f994d62" /><Relationship Type="http://schemas.openxmlformats.org/officeDocument/2006/relationships/notesMaster" Target="/ppt/notesMasters/notesMaster1.xml" Id="R202483a367664c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f481e58f4b40d0" /><Relationship Type="http://schemas.openxmlformats.org/officeDocument/2006/relationships/notesMaster" Target="/ppt/notesMasters/notesMaster1.xml" Id="Rc350185a28b347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fb47e02f22f4e18" /><Relationship Type="http://schemas.openxmlformats.org/officeDocument/2006/relationships/notesMaster" Target="/ppt/notesMasters/notesMaster1.xml" Id="R29e2ca88bdfc43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e1d1e7611b4c0e" /><Relationship Type="http://schemas.openxmlformats.org/officeDocument/2006/relationships/notesMaster" Target="/ppt/notesMasters/notesMaster1.xml" Id="R21d67a1a98be476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31b2e299b542aa" /><Relationship Type="http://schemas.openxmlformats.org/officeDocument/2006/relationships/notesMaster" Target="/ppt/notesMasters/notesMaster1.xml" Id="R496a234b0ff241d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566aa5b47b54f54" /><Relationship Type="http://schemas.openxmlformats.org/officeDocument/2006/relationships/notesMaster" Target="/ppt/notesMasters/notesMaster1.xml" Id="R596ce57f85234bf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a2188b8774f4867" /><Relationship Type="http://schemas.openxmlformats.org/officeDocument/2006/relationships/notesMaster" Target="/ppt/notesMasters/notesMaster1.xml" Id="R6b8f544dc421409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4f6955b5fe649f1" /><Relationship Type="http://schemas.openxmlformats.org/officeDocument/2006/relationships/notesMaster" Target="/ppt/notesMasters/notesMaster1.xml" Id="Rd1cc98940be5459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cfbf109015a4266" /><Relationship Type="http://schemas.openxmlformats.org/officeDocument/2006/relationships/notesMaster" Target="/ppt/notesMasters/notesMaster1.xml" Id="R23d7b7edac1b45f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5b69b56594141c3" /><Relationship Type="http://schemas.openxmlformats.org/officeDocument/2006/relationships/notesMaster" Target="/ppt/notesMasters/notesMaster1.xml" Id="R276fa7836014405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5e070f754f14033" /><Relationship Type="http://schemas.openxmlformats.org/officeDocument/2006/relationships/notesMaster" Target="/ppt/notesMasters/notesMaster1.xml" Id="R84a4d12462da4ae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4a11e0371b9477e" /><Relationship Type="http://schemas.openxmlformats.org/officeDocument/2006/relationships/notesMaster" Target="/ppt/notesMasters/notesMaster1.xml" Id="R34ad0314f7ae41f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eaaadae8a1248ed" /><Relationship Type="http://schemas.openxmlformats.org/officeDocument/2006/relationships/notesMaster" Target="/ppt/notesMasters/notesMaster1.xml" Id="Rbdd587b24cd342a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0328b73dc754108" /><Relationship Type="http://schemas.openxmlformats.org/officeDocument/2006/relationships/notesMaster" Target="/ppt/notesMasters/notesMaster1.xml" Id="R77da4c4483434f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Apresente a pergunta central: como prever o que acontece com um gás quando aquecemos, comprimimos ou deixamos expandir? Diga que a aula alternará previsões, testes no simulador, cálculos rápidos e explicações.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votação rápida com as mãos e peça duas justificativas. Não confirme ainda. Retome as respostas no slide 7, depois do experimento temperatura–pressão.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Conecte a animação à explicação: pressão é o efeito macroscópico de muitas colisões. Peça aos alunos que observem as cores/velocidades e formulem uma hipótese sobre o que muda ao aumentar 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C:/Users/User/Desktop/celestial-labv1/deck_assets/gases-laboratorio-full.png</a:t>
            </a:r>
          </a:p>
          <a:p xmlns:a="http://schemas.openxmlformats.org/drawingml/2006/main">
            <a:r>
              <a:t>- https://openstax.org/books/college-physics-2e/pages/13-4-kinetic-theory-atomic-and-molecular-explanation-of-pressure-and-temperature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Dê significado a cada variável e às unidades usadas no Celestial Lab. Faça um teste oral: se V e n ficam constantes e T aumenta, qual lado da equação precisa acompanhar? Apresente as relações proporcionais como ferramentas de cálculo.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Projete o Celestial Lab. Mostre as abas Laboratório e Transformações, o botão Resetar e os controles de T, V e Partículas. Reforce controle de variáveis: uma relação só fica clara quando as demais permanecem constantes.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C:/Users/User/Desktop/celestial-labv1/deck_assets/gases-laboratorio-full.png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7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Organize duplas. Antes do primeiro ajuste, peça uma previsão escrita. Valores esperados no modelo: aproximadamente 110,9; 221,7; 332,6 kPa. Circule verificando se V e o número de partículas foram mantidos. Não forneça os valores antes da coleta.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Peça aos alunos que comparem seus dados com a tendência do gráfico. Retome o slide 2: num pneu, o volume varia pouco, portanto o aquecimento tende a elevar a pressão. Destaque que a proporcionalidade exige kelvin.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Dê 30 segundos para a previsão, 60 segundos para o cálculo e 30 segundos para a conferência coletiva. Cálculo: P₂ = 100 × 450/300 = 150 kPa. No simulador, compare a razão entre os valores, pois a escala depende da configuração de partículas e volume.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7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Peça nova previsão antes de mover o pistão. Valores esperados: cerca de 332,6; 166,3; 110,9 kPa. O produto P×V deve permanecer próximo de 997,7 kPa·L. Aceite pequenas diferenças de leitura/arredondamento.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os alunos dizerem em voz alta o padrão inverso. Diferencie reta decrescente de relação inversa: o gráfico P×V é uma curva. Relacione com o produto aproximadamente constante calculado no experimento.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Repita a rotina previsão–cálculo–conferência. Cálculo: P₂ = 120 × 4,0/8,0 = 60 kPa. Peça que apontem no gráfico onde estaria o novo ponto.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Leia a tabela por linhas. Peça um exemplo oral para cada transformação. Mostre que as três leis são recortes da mesma equação PV=nRT, sempre para quantidade de gás constante.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8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Divida a turma em três grupos ou fileiras. Cada grupo deve mover o controle livre, registrar a forma do gráfico e preparar uma fala de 30 segundos. Reserve 5 minutos para testar e cerca de 1 minuto para cada apresentação. Se houver poucos dispositivos, conduza coletivamente.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C:/Users/User/Desktop/celestial-labv1/deck_assets/gases-transformacao-isotermica.png</a:t>
            </a:r>
          </a:p>
          <a:p xmlns:a="http://schemas.openxmlformats.org/drawingml/2006/main">
            <a:r>
              <a:t>- C:/Users/User/Desktop/celestial-labv1/deck_assets/gases-transformacao-isobarica.png</a:t>
            </a:r>
          </a:p>
          <a:p xmlns:a="http://schemas.openxmlformats.org/drawingml/2006/main">
            <a:r>
              <a:t>- C:/Users/User/Desktop/celestial-labv1/deck_assets/gases-transformacao-isocorica.png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Defina o gás como sistema e o restante como vizinhança. Diferencie calor de temperatura: calor é transferência de energia devido a uma diferença de temperatura. Trabalho aparece quando o gás desloca o pistão. Evite dizer que o corpo tem calor.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https://openstax.org/books/college-physics/pages/15-1-the-first-law-of-thermodynamics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Use a forma Q = ΔU + W: o calor recebido pelo gás se distribui entre aumento da energia interna e trabalho realizado pelo gás. Q positivo entra no sistema; W positivo sai como trabalho. Após explicar os sinais, reproduza Animacao_Primeira_Lei_Termodinamica.mp4 e pause no quadro final 100 J = 60 J + 40 J.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  <a:p xmlns:a="http://schemas.openxmlformats.org/drawingml/2006/main">
            <a:r>
              <a:t>- C:/Users/User/Desktop/celestial-labv1/Animacao_Primeira_Lei_Termodinamica.mp4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Peça que identifiquem primeiro Q e W na equação Q = ΔU + W. Cálculo: ΔU = 180 − 70 = +110 J. O sinal positivo indica aumento da energia interna.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Conecte as linhas aos gráficos do desafio. Na isocórica não há deslocamento do pistão. Na isotérmica de um gás ideal, a energia interna não muda porque T não muda; durante expansão, calor recebido compensa o trabalho. Na isobárica, o calor recebido se divide entre aumento de U e trabalho.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  <a:p xmlns:a="http://schemas.openxmlformats.org/drawingml/2006/main">
            <a:r>
              <a:t>- https://openstax.org/books/college-physics-ap-courses/pages/15-2-the-first-law-of-thermodynamics-and-some-simple-processes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Colete respostas individuais. Gabarito: (1) partículas mais rápidas colidem mais intensamente/frequentemente com as paredes; (2) a pressão cai à metade; (3) usando Q = ΔU + W, ΔU=100−40=60 J. Use as respostas para decidir a retomada da próxima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b9964366c14b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51b47770394678" /><Relationship Type="http://schemas.openxmlformats.org/officeDocument/2006/relationships/slideLayout" Target="/ppt/slideLayouts/slideLayout1.xml" Id="R4a9d53cfce974b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9d53cfce974b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e1c3ba6204e04" /><Relationship Type="http://schemas.openxmlformats.org/officeDocument/2006/relationships/image" Target="/ppt/media/image.jpeg" Id="R719967f4b1be4e89" /><Relationship Type="http://schemas.openxmlformats.org/officeDocument/2006/relationships/notesSlide" Target="/ppt/notesSlides/notesSlide1.xml" Id="Rb7590edce5a948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ceca2cb8bb4e1e" /><Relationship Type="http://schemas.openxmlformats.org/officeDocument/2006/relationships/notesSlide" Target="/ppt/notesSlides/notesSlide2.xml" Id="R085f11047e264d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07edda1f234d22" /><Relationship Type="http://schemas.openxmlformats.org/officeDocument/2006/relationships/image" Target="/ppt/media/image2.jpeg" Id="R88ddc783644144ce" /><Relationship Type="http://schemas.openxmlformats.org/officeDocument/2006/relationships/notesSlide" Target="/ppt/notesSlides/notesSlide3.xml" Id="R6eb504a803424c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a36839e87f42b5" /><Relationship Type="http://schemas.openxmlformats.org/officeDocument/2006/relationships/notesSlide" Target="/ppt/notesSlides/notesSlide4.xml" Id="R03b3e5c3db0a41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b0c2e220fb4483" /><Relationship Type="http://schemas.openxmlformats.org/officeDocument/2006/relationships/image" Target="/ppt/media/image3.jpeg" Id="Rf99819ebe19d4560" /><Relationship Type="http://schemas.openxmlformats.org/officeDocument/2006/relationships/notesSlide" Target="/ppt/notesSlides/notesSlide5.xml" Id="R9b520f97655a45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5d339495e454c" /><Relationship Type="http://schemas.openxmlformats.org/officeDocument/2006/relationships/notesSlide" Target="/ppt/notesSlides/notesSlide6.xml" Id="R6939e2d913bb4d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3c655653f4cbb" /><Relationship Type="http://schemas.openxmlformats.org/officeDocument/2006/relationships/chart" Target="/ppt/slides/charts/chart1.xml" Id="R1bd675218dc6473d" /><Relationship Type="http://schemas.openxmlformats.org/officeDocument/2006/relationships/notesSlide" Target="/ppt/notesSlides/notesSlide7.xml" Id="R84f3f86233b141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dae81c8164c6b" /><Relationship Type="http://schemas.openxmlformats.org/officeDocument/2006/relationships/notesSlide" Target="/ppt/notesSlides/notesSlide8.xml" Id="Rd5b5ab1eed0d44f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2e3a0f6308450d" /><Relationship Type="http://schemas.openxmlformats.org/officeDocument/2006/relationships/notesSlide" Target="/ppt/notesSlides/notesSlide9.xml" Id="R9636c8ac29f844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016960a4824ca8" /><Relationship Type="http://schemas.openxmlformats.org/officeDocument/2006/relationships/chart" Target="/ppt/slides/charts/chart2.xml" Id="R9f58ba2d10174be8" /><Relationship Type="http://schemas.openxmlformats.org/officeDocument/2006/relationships/notesSlide" Target="/ppt/notesSlides/notesSlide10.xml" Id="R226704f9eb90420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03ceb5bad4024" /><Relationship Type="http://schemas.openxmlformats.org/officeDocument/2006/relationships/notesSlide" Target="/ppt/notesSlides/notesSlide11.xml" Id="Re79f240d99484a9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bd9352fb754535" /><Relationship Type="http://schemas.openxmlformats.org/officeDocument/2006/relationships/notesSlide" Target="/ppt/notesSlides/notesSlide12.xml" Id="Re9079b81645749f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b4e77147934612" /><Relationship Type="http://schemas.openxmlformats.org/officeDocument/2006/relationships/image" Target="/ppt/media/image4.jpeg" Id="R914a3c4855df43af" /><Relationship Type="http://schemas.openxmlformats.org/officeDocument/2006/relationships/image" Target="/ppt/media/image5.jpeg" Id="Rad1369f291a24c82" /><Relationship Type="http://schemas.openxmlformats.org/officeDocument/2006/relationships/image" Target="/ppt/media/image6.jpeg" Id="Ra129e3e4072a4878" /><Relationship Type="http://schemas.openxmlformats.org/officeDocument/2006/relationships/notesSlide" Target="/ppt/notesSlides/notesSlide13.xml" Id="R6764c6afccb24fb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c4fb025f324591" /><Relationship Type="http://schemas.openxmlformats.org/officeDocument/2006/relationships/notesSlide" Target="/ppt/notesSlides/notesSlide14.xml" Id="Rbd897f82c4114a7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3823082a934081" /><Relationship Type="http://schemas.openxmlformats.org/officeDocument/2006/relationships/notesSlide" Target="/ppt/notesSlides/notesSlide15.xml" Id="Rbff8b9e76e894ae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f4ba68aa19431e" /><Relationship Type="http://schemas.openxmlformats.org/officeDocument/2006/relationships/notesSlide" Target="/ppt/notesSlides/notesSlide16.xml" Id="R64d7be00351c4e4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c25d5551a44edc" /><Relationship Type="http://schemas.openxmlformats.org/officeDocument/2006/relationships/notesSlide" Target="/ppt/notesSlides/notesSlide17.xml" Id="R8c2c03d75843440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1e2c44bd449d4" /><Relationship Type="http://schemas.openxmlformats.org/officeDocument/2006/relationships/notesSlide" Target="/ppt/notesSlides/notesSlide18.xml" Id="Ra5b8b2c3ed1f474d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0131A"/>
                </a:solidFill>
              </a:rPr>
              <a:t>Pressão × temperatura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10131A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P (kPa)</c:v>
          </c:tx>
          <c:spPr>
            <a:ln xmlns:a="http://schemas.openxmlformats.org/drawingml/2006/main" w="38100">
              <a:solidFill>
                <a:srgbClr val="F28C45"/>
              </a:solidFill>
              <a:prstDash val="solid"/>
            </a:ln>
          </c:spPr>
          <c:marker>
            <c:symbol val="circle"/>
            <c:size val="9"/>
            <c:spPr>
              <a:solidFill xmlns:a="http://schemas.openxmlformats.org/drawingml/2006/main">
                <a:srgbClr val="F28C45"/>
              </a:solidFill>
            </c:spPr>
          </c:marker>
          <c:cat>
            <c:numLit>
              <c:formatCode>General</c:formatCode>
              <c:ptCount val="3"/>
              <c:pt idx="0">
                <c:v>200</c:v>
              </c:pt>
              <c:pt idx="1">
                <c:v>400</c:v>
              </c:pt>
              <c:pt idx="2">
                <c:v>600</c:v>
              </c:pt>
            </c:numLit>
          </c:cat>
          <c:val>
            <c:numLit>
              <c:formatCode>General</c:formatCode>
              <c:ptCount val="3"/>
              <c:pt idx="0">
                <c:v>110.9</c:v>
              </c:pt>
              <c:pt idx="1">
                <c:v>221.7</c:v>
              </c:pt>
              <c:pt idx="2">
                <c:v>332.6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0131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T (K)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P (kPa)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0131A"/>
                </a:solidFill>
              </a:rPr>
              <a:t>Pressão × volume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10131A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P (kPa)</c:v>
          </c:tx>
          <c:spPr>
            <a:ln xmlns:a="http://schemas.openxmlformats.org/drawingml/2006/main" w="38100">
              <a:solidFill>
                <a:srgbClr val="3D8DFF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3D8DFF"/>
              </a:solidFill>
            </c:spPr>
          </c:marker>
          <c:cat>
            <c:strLit>
              <c:ptCount val="5"/>
              <c:pt idx="0">
                <c:v>3,0</c:v>
              </c:pt>
              <c:pt idx="1">
                <c:v>4,5</c:v>
              </c:pt>
              <c:pt idx="2">
                <c:v>6,0</c:v>
              </c:pt>
              <c:pt idx="3">
                <c:v>7,5</c:v>
              </c:pt>
              <c:pt idx="4">
                <c:v>9,0</c:v>
              </c:pt>
            </c:strLit>
          </c:cat>
          <c:val>
            <c:numLit>
              <c:formatCode>General</c:formatCode>
              <c:ptCount val="5"/>
              <c:pt idx="0">
                <c:v>332.6</c:v>
              </c:pt>
              <c:pt idx="1">
                <c:v>221.7</c:v>
              </c:pt>
              <c:pt idx="2">
                <c:v>166.3</c:v>
              </c:pt>
              <c:pt idx="3">
                <c:v>133</c:v>
              </c:pt>
              <c:pt idx="4">
                <c:v>110.9</c:v>
              </c:pt>
            </c:numLit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V (L)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P (kPa)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8868B525-06E0-45F5-8840-F730B126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FÍSICA • 1º ANO DO ENSINO MÉDIO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59F47C6-D359-454F-BD9D-D7B536DC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5191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2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Gases ideais e</a:t>
            </a:r>
          </a:p>
          <a:p xmlns:a="http://schemas.openxmlformats.org/drawingml/2006/main">
            <a:pPr algn="l">
              <a:buNone/>
              <a:defRPr sz="52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termodinâmica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106D36E-6072-4341-BF3D-2D94FE0A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Do movimento das partículas à conservação de energia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E8627104-CF7B-414C-9ECE-34553A80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59B2AB0-DDC9-4630-87B8-8791F01C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Aula investigativa com o Celestial Lab</a:t>
            </a:r>
          </a:p>
        </p:txBody>
      </p:sp>
      <p:sp>
        <p:nvSpPr>
          <p:cNvPr id="6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9397600A-FCA9-4BC1-A2DA-98672C2D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71475"/>
            <a:ext cx="5524500" cy="582930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9967f4b1be4e89"/>
          <a:srcRect xmlns:a="http://schemas.openxmlformats.org/drawingml/2006/main" l="23342" t="0" r="233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400050"/>
            <a:ext cx="5467350" cy="5772150"/>
          </a:xfrm>
          <a:prstGeom xmlns:a="http://schemas.openxmlformats.org/drawingml/2006/main" prst="roundRect">
            <a:avLst>
              <a:gd name="adj" fmla="val 2439"/>
            </a:avLst>
          </a:prstGeom>
        </p:spPr>
      </p:pic>
      <p:sp>
        <p:nvSpPr>
          <p:cNvPr id="8" name="text-utgdpr5">
            <a:extLst xmlns:a="http://schemas.openxmlformats.org/drawingml/2006/main">
              <a:ext uri="{FF2B5EF4-FFF2-40B4-BE49-F238E27FC236}">
                <a16:creationId xmlns:a16="http://schemas.microsoft.com/office/drawing/2014/main" id="{75CC34EC-FB22-410F-8480-627BE481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976375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8505F0BE-F462-4F37-BEF1-9E9F15FB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COMECE COM UMA PREVISÃO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10C242-21C3-4486-8268-D6DF5AE1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pneu muda sem ganhar nem perder ar?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CA28241-40E8-45A7-AAA2-0A46D530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2">
            <a:extLst xmlns:a="http://schemas.openxmlformats.org/drawingml/2006/main">
              <a:ext uri="{FF2B5EF4-FFF2-40B4-BE49-F238E27FC236}">
                <a16:creationId xmlns:a16="http://schemas.microsoft.com/office/drawing/2014/main" id="{44D75E7F-1412-4AA7-B7CD-F2E48467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hook-context">
            <a:extLst xmlns:a="http://schemas.openxmlformats.org/drawingml/2006/main">
              <a:ext uri="{FF2B5EF4-FFF2-40B4-BE49-F238E27FC236}">
                <a16:creationId xmlns:a16="http://schemas.microsoft.com/office/drawing/2014/main" id="{250707A1-339A-488D-8F5E-396BA134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Um carro sai cedo, com os pneus frios. Depois de rodar por uma hora, a temperatura do ar dentro deles aumenta.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00A269BA-0B8B-4DA1-B733-7F909C43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86100"/>
            <a:ext cx="872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lidx88i">
            <a:extLst xmlns:a="http://schemas.openxmlformats.org/drawingml/2006/main">
              <a:ext uri="{FF2B5EF4-FFF2-40B4-BE49-F238E27FC236}">
                <a16:creationId xmlns:a16="http://schemas.microsoft.com/office/drawing/2014/main" id="{CA45CE0A-4C73-4A9C-B48C-1D98E247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61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A pressão tende a…</a:t>
            </a:r>
          </a:p>
        </p:txBody>
      </p:sp>
      <p:sp>
        <p:nvSpPr>
          <p:cNvPr id="8" name="text-z8yrxya">
            <a:extLst xmlns:a="http://schemas.openxmlformats.org/drawingml/2006/main">
              <a:ext uri="{FF2B5EF4-FFF2-40B4-BE49-F238E27FC236}">
                <a16:creationId xmlns:a16="http://schemas.microsoft.com/office/drawing/2014/main" id="{17BBB6DD-AB28-42A8-8968-AAB3806E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48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diminuir</a:t>
            </a:r>
          </a:p>
        </p:txBody>
      </p:sp>
      <p:sp>
        <p:nvSpPr>
          <p:cNvPr id="9" name="text-xvn5aul">
            <a:extLst xmlns:a="http://schemas.openxmlformats.org/drawingml/2006/main">
              <a:ext uri="{FF2B5EF4-FFF2-40B4-BE49-F238E27FC236}">
                <a16:creationId xmlns:a16="http://schemas.microsoft.com/office/drawing/2014/main" id="{3710E55E-DB36-491B-B588-AE4C3B98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48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9366E8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9366E8"/>
                </a:solidFill>
                <a:latin typeface="Arial"/>
                <a:ea typeface="Arial"/>
                <a:cs typeface="Arial"/>
              </a:rPr>
              <a:t>ficar igual</a:t>
            </a:r>
          </a:p>
        </p:txBody>
      </p:sp>
      <p:sp>
        <p:nvSpPr>
          <p:cNvPr id="10" name="text-6wlef9f">
            <a:extLst xmlns:a="http://schemas.openxmlformats.org/drawingml/2006/main">
              <a:ext uri="{FF2B5EF4-FFF2-40B4-BE49-F238E27FC236}">
                <a16:creationId xmlns:a16="http://schemas.microsoft.com/office/drawing/2014/main" id="{ABEDA3C8-A973-41B9-88ED-50EB67F1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48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aumentar</a:t>
            </a:r>
          </a:p>
        </p:txBody>
      </p:sp>
      <p:sp>
        <p:nvSpPr>
          <p:cNvPr id="11" name="text-tnhme7j">
            <a:extLst xmlns:a="http://schemas.openxmlformats.org/drawingml/2006/main">
              <a:ext uri="{FF2B5EF4-FFF2-40B4-BE49-F238E27FC236}">
                <a16:creationId xmlns:a16="http://schemas.microsoft.com/office/drawing/2014/main" id="{6A0D45F1-5EB9-4137-B828-E406C8D7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476875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1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10131A"/>
                </a:solidFill>
                <a:latin typeface="Arial"/>
                <a:ea typeface="Arial"/>
                <a:cs typeface="Arial"/>
              </a:rPr>
              <a:t>Escolha uma opção e justifique com partículas.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009F5DA-E34A-4727-99FB-020A0233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Situação-problema: gás confinado em volume quase constante</a:t>
            </a:r>
          </a:p>
        </p:txBody>
      </p:sp>
    </p:spTree>
    <p:extLst>
      <p:ext uri="{BB962C8B-B14F-4D97-AF65-F5344CB8AC3E}">
        <p14:creationId xmlns:p14="http://schemas.microsoft.com/office/powerpoint/2010/main" val="3899733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46063E02-1884-4DC9-B871-44210756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MODELO MICROSCÓPICO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68C0DC-05DA-4C24-98D5-F56FE547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pressão nasce de colisões com as paredes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FFF6BDD-2FE3-40BD-8B14-453C7890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3">
            <a:extLst xmlns:a="http://schemas.openxmlformats.org/drawingml/2006/main">
              <a:ext uri="{FF2B5EF4-FFF2-40B4-BE49-F238E27FC236}">
                <a16:creationId xmlns:a16="http://schemas.microsoft.com/office/drawing/2014/main" id="{1C6A9495-96A8-4837-AA67-C8F1A8B5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7AC0AF71-A026-496B-8F83-48056CF2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666875"/>
            <a:ext cx="5486400" cy="4200525"/>
          </a:xfrm>
          <a:prstGeom xmlns:a="http://schemas.openxmlformats.org/drawingml/2006/main" prst="roundRect">
            <a:avLst>
              <a:gd name="adj" fmla="val 3628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ddc783644144ce"/>
          <a:srcRect xmlns:a="http://schemas.openxmlformats.org/drawingml/2006/main" l="8743" t="0" r="87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95450"/>
            <a:ext cx="5429250" cy="4143375"/>
          </a:xfrm>
          <a:prstGeom xmlns:a="http://schemas.openxmlformats.org/drawingml/2006/main" prst="roundRect">
            <a:avLst>
              <a:gd name="adj" fmla="val 3218"/>
            </a:avLst>
          </a:prstGeom>
        </p:spPr>
      </p:pic>
      <p:sp>
        <p:nvSpPr>
          <p:cNvPr id="7" name="text-0h7s5jw">
            <a:extLst xmlns:a="http://schemas.openxmlformats.org/drawingml/2006/main">
              <a:ext uri="{FF2B5EF4-FFF2-40B4-BE49-F238E27FC236}">
                <a16:creationId xmlns:a16="http://schemas.microsoft.com/office/drawing/2014/main" id="{070D56E8-9C9E-492B-9A6D-229B6072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Partículas em movimento aleatório</a:t>
            </a:r>
          </a:p>
        </p:txBody>
      </p:sp>
      <p:sp>
        <p:nvSpPr>
          <p:cNvPr id="8" name="text-7vayxig">
            <a:extLst xmlns:a="http://schemas.openxmlformats.org/drawingml/2006/main">
              <a:ext uri="{FF2B5EF4-FFF2-40B4-BE49-F238E27FC236}">
                <a16:creationId xmlns:a16="http://schemas.microsoft.com/office/drawing/2014/main" id="{41466BC7-666C-44E7-830D-3094B981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466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Elas se chocam entre si e com as paredes do recipiente.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80D35022-9CD3-4DA1-8C23-C12F2B81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dy89sif">
            <a:extLst xmlns:a="http://schemas.openxmlformats.org/drawingml/2006/main">
              <a:ext uri="{FF2B5EF4-FFF2-40B4-BE49-F238E27FC236}">
                <a16:creationId xmlns:a16="http://schemas.microsoft.com/office/drawing/2014/main" id="{5348ED10-848B-4694-BC20-7A51C99C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0520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Temperatura maior → partículas mais rápidas</a:t>
            </a:r>
          </a:p>
        </p:txBody>
      </p:sp>
      <p:sp>
        <p:nvSpPr>
          <p:cNvPr id="11" name="text-y09sok9">
            <a:extLst xmlns:a="http://schemas.openxmlformats.org/drawingml/2006/main">
              <a:ext uri="{FF2B5EF4-FFF2-40B4-BE49-F238E27FC236}">
                <a16:creationId xmlns:a16="http://schemas.microsoft.com/office/drawing/2014/main" id="{D6FE3375-4873-4BFC-97EE-8552B1E7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67200"/>
            <a:ext cx="466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Colisões mais frequentes e intensas podem elevar a pressão.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AFB43D33-3EAB-47CC-BD98-663777A5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24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ce347ry">
            <a:extLst xmlns:a="http://schemas.openxmlformats.org/drawingml/2006/main">
              <a:ext uri="{FF2B5EF4-FFF2-40B4-BE49-F238E27FC236}">
                <a16:creationId xmlns:a16="http://schemas.microsoft.com/office/drawing/2014/main" id="{3D62EC40-C17D-40C0-AEA5-EDC7D35F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9115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No modelo ideal, as partículas ocupam volume desprezível e as colisões são elásticas.</a:t>
            </a:r>
          </a:p>
        </p:txBody>
      </p:sp>
      <p:sp>
        <p:nvSpPr>
          <p:cNvPr id="1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C8D4C5F-E555-4C72-A85A-8415BFE6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Modelo de gás ideal</a:t>
            </a:r>
          </a:p>
        </p:txBody>
      </p:sp>
    </p:spTree>
    <p:extLst>
      <p:ext uri="{BB962C8B-B14F-4D97-AF65-F5344CB8AC3E}">
        <p14:creationId xmlns:p14="http://schemas.microsoft.com/office/powerpoint/2010/main" val="2725631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A1B11D18-1426-443A-BC44-0FEA0BD2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EQUAÇÃO DE ESTADO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026776-5F02-45D0-9869-A67CC8D9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Quatro grandezas descrevem o estado do gás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53FFFA5-3D42-400A-952F-550C5250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4">
            <a:extLst xmlns:a="http://schemas.openxmlformats.org/drawingml/2006/main">
              <a:ext uri="{FF2B5EF4-FFF2-40B4-BE49-F238E27FC236}">
                <a16:creationId xmlns:a16="http://schemas.microsoft.com/office/drawing/2014/main" id="{92065B15-2CF9-448F-93F0-3F6571DD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ideal-gas-equation">
            <a:extLst xmlns:a="http://schemas.openxmlformats.org/drawingml/2006/main">
              <a:ext uri="{FF2B5EF4-FFF2-40B4-BE49-F238E27FC236}">
                <a16:creationId xmlns:a16="http://schemas.microsoft.com/office/drawing/2014/main" id="{A0C87292-4776-45FC-AB9A-A8FB66D3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4762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85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585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PV = nRT</a:t>
            </a:r>
          </a:p>
        </p:txBody>
      </p:sp>
      <p:sp>
        <p:nvSpPr>
          <p:cNvPr id="6" name="text-ctlurte">
            <a:extLst xmlns:a="http://schemas.openxmlformats.org/drawingml/2006/main">
              <a:ext uri="{FF2B5EF4-FFF2-40B4-BE49-F238E27FC236}">
                <a16:creationId xmlns:a16="http://schemas.microsoft.com/office/drawing/2014/main" id="{486A6B52-23AE-4739-A02E-76946AE5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A equação organiza as relações que vamos testar — não é uma lista de letras para decorar.</a:t>
            </a:r>
          </a:p>
        </p:txBody>
      </p:sp>
      <p:sp>
        <p:nvSpPr>
          <p:cNvPr id="7" name="variables-panel">
            <a:extLst xmlns:a="http://schemas.openxmlformats.org/drawingml/2006/main">
              <a:ext uri="{FF2B5EF4-FFF2-40B4-BE49-F238E27FC236}">
                <a16:creationId xmlns:a16="http://schemas.microsoft.com/office/drawing/2014/main" id="{B7F141C4-ABFA-4149-BEC0-C95B50C7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49530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aet0i7u">
            <a:extLst xmlns:a="http://schemas.openxmlformats.org/drawingml/2006/main">
              <a:ext uri="{FF2B5EF4-FFF2-40B4-BE49-F238E27FC236}">
                <a16:creationId xmlns:a16="http://schemas.microsoft.com/office/drawing/2014/main" id="{3D5A8FE0-09FC-49E3-99F8-E71AFB05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9" name="text-nfc49ta">
            <a:extLst xmlns:a="http://schemas.openxmlformats.org/drawingml/2006/main">
              <a:ext uri="{FF2B5EF4-FFF2-40B4-BE49-F238E27FC236}">
                <a16:creationId xmlns:a16="http://schemas.microsoft.com/office/drawing/2014/main" id="{2729582F-9F67-490C-B7CD-C2C14B7C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193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pressão</a:t>
            </a:r>
          </a:p>
        </p:txBody>
      </p:sp>
      <p:sp>
        <p:nvSpPr>
          <p:cNvPr id="10" name="text-6ji6lgk">
            <a:extLst xmlns:a="http://schemas.openxmlformats.org/drawingml/2006/main">
              <a:ext uri="{FF2B5EF4-FFF2-40B4-BE49-F238E27FC236}">
                <a16:creationId xmlns:a16="http://schemas.microsoft.com/office/drawing/2014/main" id="{84ACBE10-8535-44C1-B8AD-90447806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478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kPa</a:t>
            </a:r>
          </a:p>
        </p:txBody>
      </p:sp>
      <p:sp>
        <p:nvSpPr>
          <p:cNvPr id="11" name="text-lgjpo1a">
            <a:extLst xmlns:a="http://schemas.openxmlformats.org/drawingml/2006/main">
              <a:ext uri="{FF2B5EF4-FFF2-40B4-BE49-F238E27FC236}">
                <a16:creationId xmlns:a16="http://schemas.microsoft.com/office/drawing/2014/main" id="{BBFE154C-A067-46E8-8D2E-1EEC1848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2" name="text-ojd8v2i">
            <a:extLst xmlns:a="http://schemas.openxmlformats.org/drawingml/2006/main">
              <a:ext uri="{FF2B5EF4-FFF2-40B4-BE49-F238E27FC236}">
                <a16:creationId xmlns:a16="http://schemas.microsoft.com/office/drawing/2014/main" id="{B5D6CF6C-9EF8-4A36-92D4-CF09C0CD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volume</a:t>
            </a:r>
          </a:p>
        </p:txBody>
      </p:sp>
      <p:sp>
        <p:nvSpPr>
          <p:cNvPr id="13" name="text-mz2y33h">
            <a:extLst xmlns:a="http://schemas.openxmlformats.org/drawingml/2006/main">
              <a:ext uri="{FF2B5EF4-FFF2-40B4-BE49-F238E27FC236}">
                <a16:creationId xmlns:a16="http://schemas.microsoft.com/office/drawing/2014/main" id="{50A00C9F-0890-427E-A8B1-6077FE11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289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L</a:t>
            </a:r>
          </a:p>
        </p:txBody>
      </p:sp>
      <p:sp>
        <p:nvSpPr>
          <p:cNvPr id="14" name="text-ftgywrw">
            <a:extLst xmlns:a="http://schemas.openxmlformats.org/drawingml/2006/main">
              <a:ext uri="{FF2B5EF4-FFF2-40B4-BE49-F238E27FC236}">
                <a16:creationId xmlns:a16="http://schemas.microsoft.com/office/drawing/2014/main" id="{A7C67CCA-A4DD-421B-B7BC-A6AE0D31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623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5" name="text-djhvbsf">
            <a:extLst xmlns:a="http://schemas.openxmlformats.org/drawingml/2006/main">
              <a:ext uri="{FF2B5EF4-FFF2-40B4-BE49-F238E27FC236}">
                <a16:creationId xmlns:a16="http://schemas.microsoft.com/office/drawing/2014/main" id="{63A9F649-ACF2-40A5-B3AB-D9FA536B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814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quantidade de gás</a:t>
            </a:r>
          </a:p>
        </p:txBody>
      </p:sp>
      <p:sp>
        <p:nvSpPr>
          <p:cNvPr id="16" name="text-mwsrrsp">
            <a:extLst xmlns:a="http://schemas.openxmlformats.org/drawingml/2006/main">
              <a:ext uri="{FF2B5EF4-FFF2-40B4-BE49-F238E27FC236}">
                <a16:creationId xmlns:a16="http://schemas.microsoft.com/office/drawing/2014/main" id="{83668D86-153E-47AC-8DE2-FEA4A0BC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099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mol / partículas</a:t>
            </a:r>
          </a:p>
        </p:txBody>
      </p:sp>
      <p:sp>
        <p:nvSpPr>
          <p:cNvPr id="17" name="text-ah1583m">
            <a:extLst xmlns:a="http://schemas.openxmlformats.org/drawingml/2006/main">
              <a:ext uri="{FF2B5EF4-FFF2-40B4-BE49-F238E27FC236}">
                <a16:creationId xmlns:a16="http://schemas.microsoft.com/office/drawing/2014/main" id="{FC0A069A-931D-4BD5-A396-E1FC779C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4340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8" name="text-fbuicsq">
            <a:extLst xmlns:a="http://schemas.openxmlformats.org/drawingml/2006/main">
              <a:ext uri="{FF2B5EF4-FFF2-40B4-BE49-F238E27FC236}">
                <a16:creationId xmlns:a16="http://schemas.microsoft.com/office/drawing/2014/main" id="{DE470E1E-83B9-46E0-83E5-9B6B8561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624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temperatura absoluta</a:t>
            </a:r>
          </a:p>
        </p:txBody>
      </p:sp>
      <p:sp>
        <p:nvSpPr>
          <p:cNvPr id="19" name="text-p66fpch">
            <a:extLst xmlns:a="http://schemas.openxmlformats.org/drawingml/2006/main">
              <a:ext uri="{FF2B5EF4-FFF2-40B4-BE49-F238E27FC236}">
                <a16:creationId xmlns:a16="http://schemas.microsoft.com/office/drawing/2014/main" id="{FBD0771C-732F-4293-BBDA-41120941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910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K</a:t>
            </a:r>
          </a:p>
        </p:txBody>
      </p:sp>
      <p:sp>
        <p:nvSpPr>
          <p:cNvPr id="20" name="kelvin-note">
            <a:extLst xmlns:a="http://schemas.openxmlformats.org/drawingml/2006/main">
              <a:ext uri="{FF2B5EF4-FFF2-40B4-BE49-F238E27FC236}">
                <a16:creationId xmlns:a16="http://schemas.microsoft.com/office/drawing/2014/main" id="{41768260-9663-4FB5-AEF2-B3268822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hl09t8y">
            <a:extLst xmlns:a="http://schemas.openxmlformats.org/drawingml/2006/main">
              <a:ext uri="{FF2B5EF4-FFF2-40B4-BE49-F238E27FC236}">
                <a16:creationId xmlns:a16="http://schemas.microsoft.com/office/drawing/2014/main" id="{9EB5DBD7-F3FA-4D66-B22E-93B28B03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Nas leis dos gases, use temperatura em kelvin.</a:t>
            </a:r>
          </a:p>
        </p:txBody>
      </p:sp>
      <p:sp>
        <p:nvSpPr>
          <p:cNvPr id="22" name="text-llqhpf2">
            <a:extLst xmlns:a="http://schemas.openxmlformats.org/drawingml/2006/main">
              <a:ext uri="{FF2B5EF4-FFF2-40B4-BE49-F238E27FC236}">
                <a16:creationId xmlns:a16="http://schemas.microsoft.com/office/drawing/2014/main" id="{E0C0807B-858E-44E1-BD6D-C38D61C9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R é a constante universal dos gases.</a:t>
            </a:r>
          </a:p>
        </p:txBody>
      </p:sp>
      <p:sp>
        <p:nvSpPr>
          <p:cNvPr id="2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CE085D6-0D35-4167-B307-C82102C7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PV = nRT • estado macroscópico de um gás ideal</a:t>
            </a:r>
          </a:p>
        </p:txBody>
      </p:sp>
    </p:spTree>
    <p:extLst>
      <p:ext uri="{BB962C8B-B14F-4D97-AF65-F5344CB8AC3E}">
        <p14:creationId xmlns:p14="http://schemas.microsoft.com/office/powerpoint/2010/main" val="17021243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2B6CC835-A04D-4523-A269-B31C5C1B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COMO INVESTIGAR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92AE7E-AF07-403E-A9CF-C2851AC6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No laboratório, mude uma variável por vez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01DF8EE-2D8E-4386-ABD1-3B94B21A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5">
            <a:extLst xmlns:a="http://schemas.openxmlformats.org/drawingml/2006/main">
              <a:ext uri="{FF2B5EF4-FFF2-40B4-BE49-F238E27FC236}">
                <a16:creationId xmlns:a16="http://schemas.microsoft.com/office/drawing/2014/main" id="{46CD96B6-6DF5-41F7-A280-E1524E03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0612D709-2C8D-46C8-923B-715D3F4A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step-1-text">
            <a:extLst xmlns:a="http://schemas.openxmlformats.org/drawingml/2006/main">
              <a:ext uri="{FF2B5EF4-FFF2-40B4-BE49-F238E27FC236}">
                <a16:creationId xmlns:a16="http://schemas.microsoft.com/office/drawing/2014/main" id="{8EB88951-8A03-43EF-A1C5-D2B405FC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288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Escolha o que ficará constante.</a:t>
            </a:r>
          </a:p>
        </p:txBody>
      </p:sp>
      <p:sp>
        <p:nvSpPr>
          <p:cNvPr id="7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58E28088-7D2B-4980-9F3E-94143E09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step-2-text">
            <a:extLst xmlns:a="http://schemas.openxmlformats.org/drawingml/2006/main">
              <a:ext uri="{FF2B5EF4-FFF2-40B4-BE49-F238E27FC236}">
                <a16:creationId xmlns:a16="http://schemas.microsoft.com/office/drawing/2014/main" id="{8D66469B-A500-4A04-A668-FCF407B7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051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Preveja antes de mover o controle.</a:t>
            </a:r>
          </a:p>
        </p:txBody>
      </p:sp>
      <p:sp>
        <p:nvSpPr>
          <p:cNvPr id="9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E3195B2E-0F38-40B4-9041-EAB80402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step-3-text">
            <a:extLst xmlns:a="http://schemas.openxmlformats.org/drawingml/2006/main">
              <a:ext uri="{FF2B5EF4-FFF2-40B4-BE49-F238E27FC236}">
                <a16:creationId xmlns:a16="http://schemas.microsoft.com/office/drawing/2014/main" id="{F9CD62F5-7A96-4AF9-92A8-488B9A0B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814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Altere um único parâmetro.</a:t>
            </a:r>
          </a:p>
        </p:txBody>
      </p:sp>
      <p:sp>
        <p:nvSpPr>
          <p:cNvPr id="11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391F440A-19B4-4A38-BBFA-EA25D849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step-4-text">
            <a:extLst xmlns:a="http://schemas.openxmlformats.org/drawingml/2006/main">
              <a:ext uri="{FF2B5EF4-FFF2-40B4-BE49-F238E27FC236}">
                <a16:creationId xmlns:a16="http://schemas.microsoft.com/office/drawing/2014/main" id="{54216E60-35E8-41D7-B885-4F2116F8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577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Registre a pressão e explique com partículas.</a:t>
            </a:r>
          </a:p>
        </p:txBody>
      </p:sp>
      <p:sp>
        <p:nvSpPr>
          <p:cNvPr id="13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89C06BC4-7945-4C28-951A-005A437C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666875"/>
            <a:ext cx="6781800" cy="4295775"/>
          </a:xfrm>
          <a:prstGeom xmlns:a="http://schemas.openxmlformats.org/drawingml/2006/main" prst="roundRect">
            <a:avLst>
              <a:gd name="adj" fmla="val 3548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9819ebe19d4560"/>
          <a:stretch xmlns:a="http://schemas.openxmlformats.org/drawingml/2006/main"/>
        </p:blipFill>
        <p:spPr>
          <a:xfrm xmlns:a="http://schemas.openxmlformats.org/drawingml/2006/main">
            <a:off x="4933950" y="1697449"/>
            <a:ext cx="6724650" cy="4234626"/>
          </a:xfrm>
          <a:prstGeom xmlns:a="http://schemas.openxmlformats.org/drawingml/2006/main" prst="roundRect">
            <a:avLst>
              <a:gd name="adj" fmla="val 3146"/>
            </a:avLst>
          </a:prstGeom>
        </p:spPr>
      </p:pic>
      <p:sp>
        <p:nvSpPr>
          <p:cNvPr id="15" name="text-qyz355l">
            <a:extLst xmlns:a="http://schemas.openxmlformats.org/drawingml/2006/main">
              <a:ext uri="{FF2B5EF4-FFF2-40B4-BE49-F238E27FC236}">
                <a16:creationId xmlns:a16="http://schemas.microsoft.com/office/drawing/2014/main" id="{37A75A5C-55D6-48DF-AB70-130D928F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Use Resetar entre os experimentos.</a:t>
            </a:r>
          </a:p>
        </p:txBody>
      </p:sp>
      <p:sp>
        <p:nvSpPr>
          <p:cNvPr id="1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250C83D-9261-4C31-8F69-81905329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Interface real do Celestial Lab</a:t>
            </a:r>
          </a:p>
        </p:txBody>
      </p:sp>
    </p:spTree>
    <p:extLst>
      <p:ext uri="{BB962C8B-B14F-4D97-AF65-F5344CB8AC3E}">
        <p14:creationId xmlns:p14="http://schemas.microsoft.com/office/powerpoint/2010/main" val="1650375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3F1453AE-1AB9-4715-8B18-E439A79C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PREVER → TESTAR → REGISTRAR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0AB2A8-BBC6-45FB-9F9B-C7C3D9C8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Experimento 1: aquecer sem deixar expandir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9EEC861-0764-4A47-A9FB-0CCAD181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6">
            <a:extLst xmlns:a="http://schemas.openxmlformats.org/drawingml/2006/main">
              <a:ext uri="{FF2B5EF4-FFF2-40B4-BE49-F238E27FC236}">
                <a16:creationId xmlns:a16="http://schemas.microsoft.com/office/drawing/2014/main" id="{0A97D231-3153-4351-87E6-D4E30D35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text-j1gq0xy">
            <a:extLst xmlns:a="http://schemas.openxmlformats.org/drawingml/2006/main">
              <a:ext uri="{FF2B5EF4-FFF2-40B4-BE49-F238E27FC236}">
                <a16:creationId xmlns:a16="http://schemas.microsoft.com/office/drawing/2014/main" id="{4B42C2DF-DBCB-405D-98DD-6E23F92F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Mantenha V = 6,0 L e 40 partículas.</a:t>
            </a:r>
          </a:p>
        </p:txBody>
      </p:sp>
      <p:sp>
        <p:nvSpPr>
          <p:cNvPr id="6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3E8DF890-AF1D-44F8-849C-801A5348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step-1-text">
            <a:extLst xmlns:a="http://schemas.openxmlformats.org/drawingml/2006/main">
              <a:ext uri="{FF2B5EF4-FFF2-40B4-BE49-F238E27FC236}">
                <a16:creationId xmlns:a16="http://schemas.microsoft.com/office/drawing/2014/main" id="{BF3D2291-BD2B-4AA2-80A7-374CB0C5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Ajuste T para 200 K e anote P.</a:t>
            </a:r>
          </a:p>
        </p:txBody>
      </p:sp>
      <p:sp>
        <p:nvSpPr>
          <p:cNvPr id="8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979AB800-6534-4D0B-980F-10B50D37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4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tep-2-text">
            <a:extLst xmlns:a="http://schemas.openxmlformats.org/drawingml/2006/main">
              <a:ext uri="{FF2B5EF4-FFF2-40B4-BE49-F238E27FC236}">
                <a16:creationId xmlns:a16="http://schemas.microsoft.com/office/drawing/2014/main" id="{ABF0753F-4EB0-47A3-8C1B-64485B2E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Repita em 400 K e 600 K.</a:t>
            </a:r>
          </a:p>
        </p:txBody>
      </p:sp>
      <p:sp>
        <p:nvSpPr>
          <p:cNvPr id="10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6C367F32-310F-4C54-906F-5968882A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step-3-text">
            <a:extLst xmlns:a="http://schemas.openxmlformats.org/drawingml/2006/main">
              <a:ext uri="{FF2B5EF4-FFF2-40B4-BE49-F238E27FC236}">
                <a16:creationId xmlns:a16="http://schemas.microsoft.com/office/drawing/2014/main" id="{2EE299E7-9803-4B8D-8A6A-5449C183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Compare: dobrar T faz o quê com P?</a:t>
            </a:r>
          </a:p>
        </p:txBody>
      </p:sp>
      <p:sp>
        <p:nvSpPr>
          <p:cNvPr id="12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C6FCCDC7-3C8C-45C4-99E6-73B583C2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step-4-text">
            <a:extLst xmlns:a="http://schemas.openxmlformats.org/drawingml/2006/main">
              <a:ext uri="{FF2B5EF4-FFF2-40B4-BE49-F238E27FC236}">
                <a16:creationId xmlns:a16="http://schemas.microsoft.com/office/drawing/2014/main" id="{DEC76DED-D4DE-4709-9C92-02FA90D9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Explique usando colisões nas paredes.</a:t>
            </a: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6115050" y="2000250"/>
          <a:ext xmlns:a="http://schemas.openxmlformats.org/drawingml/2006/main" cx="49530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714500"/>
                <a:gridCol w="1809750"/>
              </a:tblGrid>
              <a:tr h="7239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 (K)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(kPa)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P/T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200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400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600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prediction-prompt">
            <a:extLst xmlns:a="http://schemas.openxmlformats.org/drawingml/2006/main">
              <a:ext uri="{FF2B5EF4-FFF2-40B4-BE49-F238E27FC236}">
                <a16:creationId xmlns:a16="http://schemas.microsoft.com/office/drawing/2014/main" id="{25D2EA02-335F-46EA-A24A-C515AF81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197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hkw0fcl">
            <a:extLst xmlns:a="http://schemas.openxmlformats.org/drawingml/2006/main">
              <a:ext uri="{FF2B5EF4-FFF2-40B4-BE49-F238E27FC236}">
                <a16:creationId xmlns:a16="http://schemas.microsoft.com/office/drawing/2014/main" id="{60EAE2A0-C685-4963-ADF4-3AD093D7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81625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Previsão: P aumenta em linha reta, em curva ou não muda?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B20DFC5D-A9E5-4D80-9259-8FF96353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Atividade prática • 7 minutos</a:t>
            </a:r>
          </a:p>
        </p:txBody>
      </p:sp>
    </p:spTree>
    <p:extLst>
      <p:ext uri="{BB962C8B-B14F-4D97-AF65-F5344CB8AC3E}">
        <p14:creationId xmlns:p14="http://schemas.microsoft.com/office/powerpoint/2010/main" val="8755391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C388F127-7111-49AF-B39F-25A198BF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RESULTADO: TRANSFORMAÇÃO ISOCÓRICA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8D8D55-744C-4709-A77A-489DF110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 volume constante, P acompanha T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D7B8274-9788-4284-8527-7BCF4318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7">
            <a:extLst xmlns:a="http://schemas.openxmlformats.org/drawingml/2006/main">
              <a:ext uri="{FF2B5EF4-FFF2-40B4-BE49-F238E27FC236}">
                <a16:creationId xmlns:a16="http://schemas.microsoft.com/office/drawing/2014/main" id="{6CC0A9D6-4562-4C36-8460-DF10E713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90550" y="1714500"/>
          <a:ext xmlns:a="http://schemas.openxmlformats.org/drawingml/2006/main" cx="6572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bd675218dc6473d"/>
          </a:graphicData>
        </a:graphic>
      </p:graphicFrame>
      <p:sp>
        <p:nvSpPr>
          <p:cNvPr id="6" name="text-npft33j">
            <a:extLst xmlns:a="http://schemas.openxmlformats.org/drawingml/2006/main">
              <a:ext uri="{FF2B5EF4-FFF2-40B4-BE49-F238E27FC236}">
                <a16:creationId xmlns:a16="http://schemas.microsoft.com/office/drawing/2014/main" id="{7AA218DB-1923-4A3F-9AB2-4F423CBC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V e n constantes</a:t>
            </a:r>
          </a:p>
        </p:txBody>
      </p:sp>
      <p:sp>
        <p:nvSpPr>
          <p:cNvPr id="7" name="text-9v4r9gz">
            <a:extLst xmlns:a="http://schemas.openxmlformats.org/drawingml/2006/main">
              <a:ext uri="{FF2B5EF4-FFF2-40B4-BE49-F238E27FC236}">
                <a16:creationId xmlns:a16="http://schemas.microsoft.com/office/drawing/2014/main" id="{D24315F3-746D-4537-9C65-8B30FD23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8605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P / T = constante</a:t>
            </a:r>
          </a:p>
        </p:txBody>
      </p:sp>
      <p:sp>
        <p:nvSpPr>
          <p:cNvPr id="8" name="text-2wwt5av">
            <a:extLst xmlns:a="http://schemas.openxmlformats.org/drawingml/2006/main">
              <a:ext uri="{FF2B5EF4-FFF2-40B4-BE49-F238E27FC236}">
                <a16:creationId xmlns:a16="http://schemas.microsoft.com/office/drawing/2014/main" id="{34A362BE-7258-45DB-A142-41B9343C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Temperatura maior → partículas mais rápidas → colisões mais intensas → pressão maior.</a:t>
            </a:r>
          </a:p>
        </p:txBody>
      </p:sp>
      <p:sp>
        <p:nvSpPr>
          <p:cNvPr id="9" name="hook-answer">
            <a:extLst xmlns:a="http://schemas.openxmlformats.org/drawingml/2006/main">
              <a:ext uri="{FF2B5EF4-FFF2-40B4-BE49-F238E27FC236}">
                <a16:creationId xmlns:a16="http://schemas.microsoft.com/office/drawing/2014/main" id="{7C7AA510-9D14-4F27-AC73-E58C0E57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18160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ccqjhm0">
            <a:extLst xmlns:a="http://schemas.openxmlformats.org/drawingml/2006/main">
              <a:ext uri="{FF2B5EF4-FFF2-40B4-BE49-F238E27FC236}">
                <a16:creationId xmlns:a16="http://schemas.microsoft.com/office/drawing/2014/main" id="{B714D864-84EC-4E55-8A6C-E07705B6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3530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Voltando ao pneu: a pressão aumenta.</a:t>
            </a:r>
          </a:p>
        </p:txBody>
      </p:sp>
      <p:sp>
        <p:nvSpPr>
          <p:cNvPr id="11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0CEB88E-83C3-4738-A2E5-E868D96B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Dados calculados pelo mesmo modelo do simulador</a:t>
            </a:r>
          </a:p>
        </p:txBody>
      </p:sp>
    </p:spTree>
    <p:extLst>
      <p:ext uri="{BB962C8B-B14F-4D97-AF65-F5344CB8AC3E}">
        <p14:creationId xmlns:p14="http://schemas.microsoft.com/office/powerpoint/2010/main" val="3238402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CÁLCULO-RELÂMPAGO • 2 MIN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Volume fixo: pressão acompanha temperatura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09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Um gás está a 300 K e 100 kPa, em um recipiente rígido.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62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Aqueça até 450 K. Use P₁/T₁ = P₂/T₂ e calcule P₂.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19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24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Preveja o resultado e confira a tendência no Celestial Lab.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81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Preveja → calcule → confira no simulador.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Trabalho em duplas</a:t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184B7438-1C4F-4774-AB7D-46C8CA7F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PREVER → TESTAR → REGISTRAR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2D3EF3-510B-4D3D-9F92-CC55113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Experimento 2: comprimir sem aquecer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D963694-74E2-46C0-A176-3CB126B5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8">
            <a:extLst xmlns:a="http://schemas.openxmlformats.org/drawingml/2006/main">
              <a:ext uri="{FF2B5EF4-FFF2-40B4-BE49-F238E27FC236}">
                <a16:creationId xmlns:a16="http://schemas.microsoft.com/office/drawing/2014/main" id="{3923B34B-DDC9-441C-83DE-88BFD150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text-e0a65jk">
            <a:extLst xmlns:a="http://schemas.openxmlformats.org/drawingml/2006/main">
              <a:ext uri="{FF2B5EF4-FFF2-40B4-BE49-F238E27FC236}">
                <a16:creationId xmlns:a16="http://schemas.microsoft.com/office/drawing/2014/main" id="{6C17F9FD-8712-4496-9B4E-90DB159A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Mantenha T = 300 K e 40 partículas.</a:t>
            </a:r>
          </a:p>
        </p:txBody>
      </p:sp>
      <p:sp>
        <p:nvSpPr>
          <p:cNvPr id="6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9BA43900-D12F-48D4-A39B-C3C1134A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step-1-text">
            <a:extLst xmlns:a="http://schemas.openxmlformats.org/drawingml/2006/main">
              <a:ext uri="{FF2B5EF4-FFF2-40B4-BE49-F238E27FC236}">
                <a16:creationId xmlns:a16="http://schemas.microsoft.com/office/drawing/2014/main" id="{09449D8E-DAED-4D70-91C0-24B5C5FB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Ajuste V para 3,0 L e anote P.</a:t>
            </a:r>
          </a:p>
        </p:txBody>
      </p:sp>
      <p:sp>
        <p:nvSpPr>
          <p:cNvPr id="8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0DFAE3BF-F5C7-42A5-9003-B40E826F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4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tep-2-text">
            <a:extLst xmlns:a="http://schemas.openxmlformats.org/drawingml/2006/main">
              <a:ext uri="{FF2B5EF4-FFF2-40B4-BE49-F238E27FC236}">
                <a16:creationId xmlns:a16="http://schemas.microsoft.com/office/drawing/2014/main" id="{EDC02611-4DD7-4847-BDCC-35F4D2CC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Repita em 6,0 L e 9,0 L.</a:t>
            </a:r>
          </a:p>
        </p:txBody>
      </p:sp>
      <p:sp>
        <p:nvSpPr>
          <p:cNvPr id="10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8C0BFCBA-EC33-4E06-9C0F-60019913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step-3-text">
            <a:extLst xmlns:a="http://schemas.openxmlformats.org/drawingml/2006/main">
              <a:ext uri="{FF2B5EF4-FFF2-40B4-BE49-F238E27FC236}">
                <a16:creationId xmlns:a16="http://schemas.microsoft.com/office/drawing/2014/main" id="{0DEDD5D3-F6F6-4738-8EC5-0C7C46F6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Calcule P × V em cada linha.</a:t>
            </a:r>
          </a:p>
        </p:txBody>
      </p:sp>
      <p:sp>
        <p:nvSpPr>
          <p:cNvPr id="12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721804F3-99AB-4EC8-A85D-40472F62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step-4-text">
            <a:extLst xmlns:a="http://schemas.openxmlformats.org/drawingml/2006/main">
              <a:ext uri="{FF2B5EF4-FFF2-40B4-BE49-F238E27FC236}">
                <a16:creationId xmlns:a16="http://schemas.microsoft.com/office/drawing/2014/main" id="{932F6151-BC2D-4CB1-A450-A6C33D15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Explique por que comprimir eleva P.</a:t>
            </a: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6115050" y="2000250"/>
          <a:ext xmlns:a="http://schemas.openxmlformats.org/drawingml/2006/main" cx="49530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714500"/>
                <a:gridCol w="1809750"/>
              </a:tblGrid>
              <a:tr h="7239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 (L)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(kPa)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× V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3,0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6,0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9,0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volume-prediction">
            <a:extLst xmlns:a="http://schemas.openxmlformats.org/drawingml/2006/main">
              <a:ext uri="{FF2B5EF4-FFF2-40B4-BE49-F238E27FC236}">
                <a16:creationId xmlns:a16="http://schemas.microsoft.com/office/drawing/2014/main" id="{CFEC5DE9-E541-43D4-A645-DF444F7D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197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4u04m0c">
            <a:extLst xmlns:a="http://schemas.openxmlformats.org/drawingml/2006/main">
              <a:ext uri="{FF2B5EF4-FFF2-40B4-BE49-F238E27FC236}">
                <a16:creationId xmlns:a16="http://schemas.microsoft.com/office/drawing/2014/main" id="{C41EC01D-2CB1-4C80-98E9-BBE67067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81625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Previsão: ao triplicar V, o que acontece com P?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10B98D1-B235-4784-B9BD-75345828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Atividade prática • 7 minutos</a:t>
            </a:r>
          </a:p>
        </p:txBody>
      </p:sp>
    </p:spTree>
    <p:extLst>
      <p:ext uri="{BB962C8B-B14F-4D97-AF65-F5344CB8AC3E}">
        <p14:creationId xmlns:p14="http://schemas.microsoft.com/office/powerpoint/2010/main" val="1510275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593B793A-7B9C-4707-BA84-B908FBC5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RESULTADO: TRANSFORMAÇÃO ISOTÉRMICA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6A7158-A8A9-44E9-8234-BA29EC50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T constante, aumentar V reduz P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F6C96C3-9D1F-49A2-956F-A3072102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9">
            <a:extLst xmlns:a="http://schemas.openxmlformats.org/drawingml/2006/main">
              <a:ext uri="{FF2B5EF4-FFF2-40B4-BE49-F238E27FC236}">
                <a16:creationId xmlns:a16="http://schemas.microsoft.com/office/drawing/2014/main" id="{D0C35F70-22E6-4BC6-853D-854C4F05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90550" y="1714500"/>
          <a:ext xmlns:a="http://schemas.openxmlformats.org/drawingml/2006/main" cx="6667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f58ba2d10174be8"/>
          </a:graphicData>
        </a:graphic>
      </p:graphicFrame>
      <p:sp>
        <p:nvSpPr>
          <p:cNvPr id="6" name="text-q1i70iz">
            <a:extLst xmlns:a="http://schemas.openxmlformats.org/drawingml/2006/main">
              <a:ext uri="{FF2B5EF4-FFF2-40B4-BE49-F238E27FC236}">
                <a16:creationId xmlns:a16="http://schemas.microsoft.com/office/drawing/2014/main" id="{82671F90-68C3-4E75-93FE-9FD40A46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T e n constantes</a:t>
            </a:r>
          </a:p>
        </p:txBody>
      </p:sp>
      <p:sp>
        <p:nvSpPr>
          <p:cNvPr id="7" name="text-wbbwgea">
            <a:extLst xmlns:a="http://schemas.openxmlformats.org/drawingml/2006/main">
              <a:ext uri="{FF2B5EF4-FFF2-40B4-BE49-F238E27FC236}">
                <a16:creationId xmlns:a16="http://schemas.microsoft.com/office/drawing/2014/main" id="{78C652B2-5161-4CFB-BA27-B8733DF9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860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 × V = constante</a:t>
            </a:r>
          </a:p>
        </p:txBody>
      </p:sp>
      <p:sp>
        <p:nvSpPr>
          <p:cNvPr id="8" name="text-n7gceh3">
            <a:extLst xmlns:a="http://schemas.openxmlformats.org/drawingml/2006/main">
              <a:ext uri="{FF2B5EF4-FFF2-40B4-BE49-F238E27FC236}">
                <a16:creationId xmlns:a16="http://schemas.microsoft.com/office/drawing/2014/main" id="{FB8131E1-255A-4337-98CF-570B92B4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323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Menos espaço → mais encontros com as paredes por intervalo de tempo → pressão maior.</a:t>
            </a:r>
          </a:p>
        </p:txBody>
      </p:sp>
      <p:sp>
        <p:nvSpPr>
          <p:cNvPr id="9" name="inverse-callout">
            <a:extLst xmlns:a="http://schemas.openxmlformats.org/drawingml/2006/main">
              <a:ext uri="{FF2B5EF4-FFF2-40B4-BE49-F238E27FC236}">
                <a16:creationId xmlns:a16="http://schemas.microsoft.com/office/drawing/2014/main" id="{014429FC-5180-47B7-933D-F7F6700E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23875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uaa07ie">
            <a:extLst xmlns:a="http://schemas.openxmlformats.org/drawingml/2006/main">
              <a:ext uri="{FF2B5EF4-FFF2-40B4-BE49-F238E27FC236}">
                <a16:creationId xmlns:a16="http://schemas.microsoft.com/office/drawing/2014/main" id="{03454AF7-32E8-40D7-A1DA-F44A9EDE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3911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Dobrar V reduz P à metade.</a:t>
            </a:r>
          </a:p>
        </p:txBody>
      </p:sp>
      <p:sp>
        <p:nvSpPr>
          <p:cNvPr id="11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138E057-7865-4B1C-948D-6F98E0BF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Dados calculados pelo mesmo modelo do simulador</a:t>
            </a:r>
          </a:p>
        </p:txBody>
      </p:sp>
    </p:spTree>
    <p:extLst>
      <p:ext uri="{BB962C8B-B14F-4D97-AF65-F5344CB8AC3E}">
        <p14:creationId xmlns:p14="http://schemas.microsoft.com/office/powerpoint/2010/main" val="15266787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CÁLCULO-RELÂMPAGO • 2 MIN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Temperatura fixa: volume maior, pressão menor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09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Um gás ocupa 4,0 L sob pressão de 120 kPa.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62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Expanda até 8,0 L. Use P₁V₁ = P₂V₂ e calcule P₂.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19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24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Desenhe a previsão no gráfico P × V e confira no simulador.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81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Preveja → calcule → confira no simulador.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Trabalho em duplas</a:t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5EB9514F-70E8-41E7-9BCD-2DA1A339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MAPA DAS TRANSFORMAÇÕES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B6243B-25AB-401B-B415-FD4EB6E0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Cada transformação fixa uma grandeza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CA0B417-786D-444D-BB28-463E5BF8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5B2B05BA-C480-409F-A365-C0592024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33400" y="1790700"/>
          <a:ext xmlns:a="http://schemas.openxmlformats.org/drawingml/2006/main" cx="111252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1619250"/>
                <a:gridCol w="2476500"/>
                <a:gridCol w="2381250"/>
                <a:gridCol w="2552700"/>
              </a:tblGrid>
              <a:tr h="919163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Transformação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Constante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Controle livre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Gráfico no Celestial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Relação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Isotérmica</a:t>
                      </a:r>
                    </a:p>
                  </a:txBody>
                  <a:tcPr marL="95250" marR="95250" marT="66675" marB="66675" anchor="ctr">
                    <a:solidFill>
                      <a:srgbClr val="DD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Volume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 × V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P·V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Isobárica</a:t>
                      </a:r>
                    </a:p>
                  </a:txBody>
                  <a:tcPr marL="95250" marR="95250" marT="66675" marB="66675" anchor="ctr">
                    <a:solidFill>
                      <a:srgbClr val="FD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Temperatura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 × 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V/T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Isocórica</a:t>
                      </a:r>
                    </a:p>
                  </a:txBody>
                  <a:tcPr marL="95250" marR="95250" marT="66675" marB="66675" anchor="ctr">
                    <a:solidFill>
                      <a:srgbClr val="E4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Temperatura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 × 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P/T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7qxhztu">
            <a:extLst xmlns:a="http://schemas.openxmlformats.org/drawingml/2006/main">
              <a:ext uri="{FF2B5EF4-FFF2-40B4-BE49-F238E27FC236}">
                <a16:creationId xmlns:a16="http://schemas.microsoft.com/office/drawing/2014/main" id="{6AFE972A-C4F1-4D8C-8227-988EF34C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7215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Regra de ouro: identifique primeiro o que permanece constante.</a:t>
            </a:r>
          </a:p>
        </p:txBody>
      </p:sp>
      <p:sp>
        <p:nvSpPr>
          <p:cNvPr id="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7E2B71F-ABD4-4F5D-813F-A8BC03C2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Modelo de gás ideal</a:t>
            </a:r>
          </a:p>
        </p:txBody>
      </p:sp>
    </p:spTree>
    <p:extLst>
      <p:ext uri="{BB962C8B-B14F-4D97-AF65-F5344CB8AC3E}">
        <p14:creationId xmlns:p14="http://schemas.microsoft.com/office/powerpoint/2010/main" val="16036881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AE61DB03-F300-4FD5-8853-255643E3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TRABALHO EM GRUPOS • 8 MINUTOS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43A87B3-A3F5-4B02-9885-DF2D66A7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Desafio: produza uma evidência e uma explicação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671C839A-9BFC-41BD-95E2-98594C92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659A8CAD-32CE-44F6-BFA5-9AE41CAE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text-kvsdpsd">
            <a:extLst xmlns:a="http://schemas.openxmlformats.org/drawingml/2006/main">
              <a:ext uri="{FF2B5EF4-FFF2-40B4-BE49-F238E27FC236}">
                <a16:creationId xmlns:a16="http://schemas.microsoft.com/office/drawing/2014/main" id="{05F9BF97-6981-4397-B62C-CA137289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16C8D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6C8D8"/>
                </a:solidFill>
                <a:latin typeface="Arial"/>
                <a:ea typeface="Arial"/>
                <a:cs typeface="Arial"/>
              </a:rPr>
              <a:t>Grupo A • Isotérmica</a:t>
            </a:r>
          </a:p>
        </p:txBody>
      </p:sp>
      <p:sp>
        <p:nvSpPr>
          <p:cNvPr id="6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030C63E7-E8CA-40AA-AE3D-73C15C0F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24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4a3c4855df43af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152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8" name="text-yeilbsy">
            <a:extLst xmlns:a="http://schemas.openxmlformats.org/drawingml/2006/main">
              <a:ext uri="{FF2B5EF4-FFF2-40B4-BE49-F238E27FC236}">
                <a16:creationId xmlns:a16="http://schemas.microsoft.com/office/drawing/2014/main" id="{AE82284D-02CC-4ACF-9F69-883DDF2D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Mova V. Esboce P × V.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Explique por que a curva cai.</a:t>
            </a:r>
          </a:p>
        </p:txBody>
      </p:sp>
      <p:sp>
        <p:nvSpPr>
          <p:cNvPr id="9" name="text-1eanlnu">
            <a:extLst xmlns:a="http://schemas.openxmlformats.org/drawingml/2006/main">
              <a:ext uri="{FF2B5EF4-FFF2-40B4-BE49-F238E27FC236}">
                <a16:creationId xmlns:a16="http://schemas.microsoft.com/office/drawing/2014/main" id="{76BCE19A-94EF-4CF6-AF3E-B50A61A4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14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Grupo B • Isobárica</a:t>
            </a:r>
          </a:p>
        </p:txBody>
      </p:sp>
      <p:sp>
        <p:nvSpPr>
          <p:cNvPr id="10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22CDE6AE-FC7C-4FFD-B20E-3DEF226A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124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1369f291a24c82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48150" y="2152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12" name="text-89glrhe">
            <a:extLst xmlns:a="http://schemas.openxmlformats.org/drawingml/2006/main">
              <a:ext uri="{FF2B5EF4-FFF2-40B4-BE49-F238E27FC236}">
                <a16:creationId xmlns:a16="http://schemas.microsoft.com/office/drawing/2014/main" id="{EA0E13FF-53BA-4A9C-8CB7-5CEB9E97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52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Aumente T. Observe V × T.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Explique a expansão.</a:t>
            </a:r>
          </a:p>
        </p:txBody>
      </p:sp>
      <p:sp>
        <p:nvSpPr>
          <p:cNvPr id="13" name="text-mn0pupv">
            <a:extLst xmlns:a="http://schemas.openxmlformats.org/drawingml/2006/main">
              <a:ext uri="{FF2B5EF4-FFF2-40B4-BE49-F238E27FC236}">
                <a16:creationId xmlns:a16="http://schemas.microsoft.com/office/drawing/2014/main" id="{3CEE17DC-64E1-4F0D-A638-CE0DF11D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14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Grupo C • Isocórica</a:t>
            </a:r>
          </a:p>
        </p:txBody>
      </p:sp>
      <p:sp>
        <p:nvSpPr>
          <p:cNvPr id="14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65A62022-C5D7-48D8-864F-C62F5AC5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124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29e3e4072a4878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43850" y="2152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16" name="text-uiax9ui">
            <a:extLst xmlns:a="http://schemas.openxmlformats.org/drawingml/2006/main">
              <a:ext uri="{FF2B5EF4-FFF2-40B4-BE49-F238E27FC236}">
                <a16:creationId xmlns:a16="http://schemas.microsoft.com/office/drawing/2014/main" id="{6E19147C-F53E-45CF-92E5-720133C9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52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Aumente T. Observe P × T.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Explique a pressão maior.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F463D073-F957-4C6D-B7FE-556751BC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578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u1xrmv7">
            <a:extLst xmlns:a="http://schemas.openxmlformats.org/drawingml/2006/main">
              <a:ext uri="{FF2B5EF4-FFF2-40B4-BE49-F238E27FC236}">
                <a16:creationId xmlns:a16="http://schemas.microsoft.com/office/drawing/2014/main" id="{8BB9043A-A7F1-4D45-AABD-4D051007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848350"/>
            <a:ext cx="868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Entrega: um gráfico + uma frase com partículas + a grandeza constante.</a:t>
            </a:r>
          </a:p>
        </p:txBody>
      </p:sp>
      <p:sp>
        <p:nvSpPr>
          <p:cNvPr id="19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D83965E-3B7B-406A-AEB4-53C688E0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Celestial Lab • aba Transformações</a:t>
            </a:r>
          </a:p>
        </p:txBody>
      </p:sp>
    </p:spTree>
    <p:extLst>
      <p:ext uri="{BB962C8B-B14F-4D97-AF65-F5344CB8AC3E}">
        <p14:creationId xmlns:p14="http://schemas.microsoft.com/office/powerpoint/2010/main" val="13758733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EEAC3E19-365D-4B13-A402-4E639D57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SISTEMA • VIZINHANÇA • ENERGIA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947874-E086-4515-9D7B-FE387AB8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Termodinâmica rastreia a energia do sistema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B96B3D4-0F33-48B0-BF5E-A2DCBEC8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2">
            <a:extLst xmlns:a="http://schemas.openxmlformats.org/drawingml/2006/main">
              <a:ext uri="{FF2B5EF4-FFF2-40B4-BE49-F238E27FC236}">
                <a16:creationId xmlns:a16="http://schemas.microsoft.com/office/drawing/2014/main" id="{4C0FC5AE-422D-457C-87D3-78675B53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text-w7w423h">
            <a:extLst xmlns:a="http://schemas.openxmlformats.org/drawingml/2006/main">
              <a:ext uri="{FF2B5EF4-FFF2-40B4-BE49-F238E27FC236}">
                <a16:creationId xmlns:a16="http://schemas.microsoft.com/office/drawing/2014/main" id="{5D6AE144-7059-4048-BED5-6FAE7684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CALOR (Q)</a:t>
            </a:r>
          </a:p>
        </p:txBody>
      </p:sp>
      <p:sp>
        <p:nvSpPr>
          <p:cNvPr id="6" name="text-9pvnr3q">
            <a:extLst xmlns:a="http://schemas.openxmlformats.org/drawingml/2006/main">
              <a:ext uri="{FF2B5EF4-FFF2-40B4-BE49-F238E27FC236}">
                <a16:creationId xmlns:a16="http://schemas.microsoft.com/office/drawing/2014/main" id="{BC74B7B0-BFD3-4122-AA42-82A93F0D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energia por diferença</a:t>
            </a:r>
          </a:p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de temperatura</a:t>
            </a:r>
          </a:p>
        </p:txBody>
      </p:sp>
      <p:sp>
        <p:nvSpPr>
          <p:cNvPr id="7" name="text-kavayxw">
            <a:extLst xmlns:a="http://schemas.openxmlformats.org/drawingml/2006/main">
              <a:ext uri="{FF2B5EF4-FFF2-40B4-BE49-F238E27FC236}">
                <a16:creationId xmlns:a16="http://schemas.microsoft.com/office/drawing/2014/main" id="{D1093A28-D7BE-4054-84DB-A5A4E29C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76225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480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text-hrk1zq6">
            <a:extLst xmlns:a="http://schemas.openxmlformats.org/drawingml/2006/main">
              <a:ext uri="{FF2B5EF4-FFF2-40B4-BE49-F238E27FC236}">
                <a16:creationId xmlns:a16="http://schemas.microsoft.com/office/drawing/2014/main" id="{A0728E45-D9DB-4BFE-9125-94A7308A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4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system-box">
            <a:extLst xmlns:a="http://schemas.openxmlformats.org/drawingml/2006/main">
              <a:ext uri="{FF2B5EF4-FFF2-40B4-BE49-F238E27FC236}">
                <a16:creationId xmlns:a16="http://schemas.microsoft.com/office/drawing/2014/main" id="{C35CE9B6-9CC0-4C22-9EDE-419B8F71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76450"/>
            <a:ext cx="4419600" cy="25717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sp>
        <p:nvSpPr>
          <p:cNvPr id="10" name="text-hnh3luu">
            <a:extLst xmlns:a="http://schemas.openxmlformats.org/drawingml/2006/main">
              <a:ext uri="{FF2B5EF4-FFF2-40B4-BE49-F238E27FC236}">
                <a16:creationId xmlns:a16="http://schemas.microsoft.com/office/drawing/2014/main" id="{4F45F8A1-873D-46EE-94A0-09AC499D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57450"/>
            <a:ext cx="327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GÁS</a:t>
            </a:r>
          </a:p>
        </p:txBody>
      </p:sp>
      <p:sp>
        <p:nvSpPr>
          <p:cNvPr id="11" name="text-r3xpi84">
            <a:extLst xmlns:a="http://schemas.openxmlformats.org/drawingml/2006/main">
              <a:ext uri="{FF2B5EF4-FFF2-40B4-BE49-F238E27FC236}">
                <a16:creationId xmlns:a16="http://schemas.microsoft.com/office/drawing/2014/main" id="{2A974CB3-42CB-4B67-B663-59A17788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4325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6C8D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6C8D8"/>
                </a:solidFill>
                <a:latin typeface="Arial"/>
                <a:ea typeface="Arial"/>
                <a:cs typeface="Arial"/>
              </a:rPr>
              <a:t>sistema</a:t>
            </a:r>
          </a:p>
        </p:txBody>
      </p:sp>
      <p:sp>
        <p:nvSpPr>
          <p:cNvPr id="12" name="text-s381127">
            <a:extLst xmlns:a="http://schemas.openxmlformats.org/drawingml/2006/main">
              <a:ext uri="{FF2B5EF4-FFF2-40B4-BE49-F238E27FC236}">
                <a16:creationId xmlns:a16="http://schemas.microsoft.com/office/drawing/2014/main" id="{7ED08A15-1B6A-4FA1-B441-92CC7393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9095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energia interna U</a:t>
            </a:r>
          </a:p>
        </p:txBody>
      </p:sp>
      <p:sp>
        <p:nvSpPr>
          <p:cNvPr id="13" name="text-2wq5hwa">
            <a:extLst xmlns:a="http://schemas.openxmlformats.org/drawingml/2006/main">
              <a:ext uri="{FF2B5EF4-FFF2-40B4-BE49-F238E27FC236}">
                <a16:creationId xmlns:a16="http://schemas.microsoft.com/office/drawing/2014/main" id="{37804189-02F6-4766-BFFB-C1779608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527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TRABALHO W</a:t>
            </a:r>
          </a:p>
        </p:txBody>
      </p:sp>
      <p:sp>
        <p:nvSpPr>
          <p:cNvPr id="14" name="text-br3a57l">
            <a:extLst xmlns:a="http://schemas.openxmlformats.org/drawingml/2006/main">
              <a:ext uri="{FF2B5EF4-FFF2-40B4-BE49-F238E27FC236}">
                <a16:creationId xmlns:a16="http://schemas.microsoft.com/office/drawing/2014/main" id="{79E93434-A28D-4D98-ACA6-3DFA10E4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289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energia por força e</a:t>
            </a:r>
          </a:p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deslocamento do pistão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EF328EC2-5464-4AAD-8013-83DEAEB4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24450"/>
            <a:ext cx="902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lhibmuz">
            <a:extLst xmlns:a="http://schemas.openxmlformats.org/drawingml/2006/main">
              <a:ext uri="{FF2B5EF4-FFF2-40B4-BE49-F238E27FC236}">
                <a16:creationId xmlns:a16="http://schemas.microsoft.com/office/drawing/2014/main" id="{E32C00FD-EC6B-4F64-B578-5E27431A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467350"/>
            <a:ext cx="906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Calor e trabalho são energia em trânsito; o sistema armazena energia interna.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41F0A15-891B-4315-9169-CBF60025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Convenção adotada: W &gt; 0 quando o gás realiza trabalho</a:t>
            </a:r>
          </a:p>
        </p:txBody>
      </p:sp>
    </p:spTree>
    <p:extLst>
      <p:ext uri="{BB962C8B-B14F-4D97-AF65-F5344CB8AC3E}">
        <p14:creationId xmlns:p14="http://schemas.microsoft.com/office/powerpoint/2010/main" val="52793605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C0431A7E-92EF-4078-86A0-B6514DDB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PRIMEIRA LEI DA TERMODINÂMICA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AF007C-0FDE-4156-9592-951C1745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1ª Lei é a conservação da energia no sistema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9AADDB6-8E92-4897-8F98-1D6010D0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3">
            <a:extLst xmlns:a="http://schemas.openxmlformats.org/drawingml/2006/main">
              <a:ext uri="{FF2B5EF4-FFF2-40B4-BE49-F238E27FC236}">
                <a16:creationId xmlns:a16="http://schemas.microsoft.com/office/drawing/2014/main" id="{B2AF8E86-0B4E-48E5-8198-16E6BAF4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first-law">
            <a:extLst xmlns:a="http://schemas.openxmlformats.org/drawingml/2006/main">
              <a:ext uri="{FF2B5EF4-FFF2-40B4-BE49-F238E27FC236}">
                <a16:creationId xmlns:a16="http://schemas.microsoft.com/office/drawing/2014/main" id="{A4182F71-DCFC-402E-B058-CACB9D5C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57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57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Q = ΔU + W</a:t>
            </a:r>
          </a:p>
        </p:txBody>
      </p:sp>
      <p:sp>
        <p:nvSpPr>
          <p:cNvPr id="6" name="text-r4fsmis">
            <a:extLst xmlns:a="http://schemas.openxmlformats.org/drawingml/2006/main">
              <a:ext uri="{FF2B5EF4-FFF2-40B4-BE49-F238E27FC236}">
                <a16:creationId xmlns:a16="http://schemas.microsoft.com/office/drawing/2014/main" id="{FB4AD577-E1AB-4C8F-9FB1-45E3ED8F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33750"/>
            <a:ext cx="422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calor = energia interna + trabalho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9748A67-D974-420D-AEB0-C075E286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95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hqbobar">
            <a:extLst xmlns:a="http://schemas.openxmlformats.org/drawingml/2006/main">
              <a:ext uri="{FF2B5EF4-FFF2-40B4-BE49-F238E27FC236}">
                <a16:creationId xmlns:a16="http://schemas.microsoft.com/office/drawing/2014/main" id="{99167D14-D924-476A-B960-75FDA5DC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3835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Q &gt; 0</a:t>
            </a:r>
          </a:p>
        </p:txBody>
      </p:sp>
      <p:sp>
        <p:nvSpPr>
          <p:cNvPr id="9" name="text-ua6emk4">
            <a:extLst xmlns:a="http://schemas.openxmlformats.org/drawingml/2006/main">
              <a:ext uri="{FF2B5EF4-FFF2-40B4-BE49-F238E27FC236}">
                <a16:creationId xmlns:a16="http://schemas.microsoft.com/office/drawing/2014/main" id="{3593AEEF-3FD1-4EE1-8857-1650E498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574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recebe energia por calor</a:t>
            </a:r>
          </a:p>
        </p:txBody>
      </p:sp>
      <p:sp>
        <p:nvSpPr>
          <p:cNvPr id="10" name="text-nqrtg31">
            <a:extLst xmlns:a="http://schemas.openxmlformats.org/drawingml/2006/main">
              <a:ext uri="{FF2B5EF4-FFF2-40B4-BE49-F238E27FC236}">
                <a16:creationId xmlns:a16="http://schemas.microsoft.com/office/drawing/2014/main" id="{7E8F1CAC-F7D3-4BFE-8490-E570C2CB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6230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W &gt; 0</a:t>
            </a:r>
          </a:p>
        </p:txBody>
      </p:sp>
      <p:sp>
        <p:nvSpPr>
          <p:cNvPr id="11" name="text-zpbfhj3">
            <a:extLst xmlns:a="http://schemas.openxmlformats.org/drawingml/2006/main">
              <a:ext uri="{FF2B5EF4-FFF2-40B4-BE49-F238E27FC236}">
                <a16:creationId xmlns:a16="http://schemas.microsoft.com/office/drawing/2014/main" id="{C0C246CA-3B99-4D8C-A20A-17663866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813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realiza trabalho ao expandir</a:t>
            </a:r>
          </a:p>
        </p:txBody>
      </p:sp>
      <p:sp>
        <p:nvSpPr>
          <p:cNvPr id="12" name="text-ogiuhaw">
            <a:extLst xmlns:a="http://schemas.openxmlformats.org/drawingml/2006/main">
              <a:ext uri="{FF2B5EF4-FFF2-40B4-BE49-F238E27FC236}">
                <a16:creationId xmlns:a16="http://schemas.microsoft.com/office/drawing/2014/main" id="{C661CBDA-1305-42D0-8988-CBCC8CDF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8625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ΔU &gt; 0</a:t>
            </a:r>
          </a:p>
        </p:txBody>
      </p:sp>
      <p:sp>
        <p:nvSpPr>
          <p:cNvPr id="13" name="text-jba0h6z">
            <a:extLst xmlns:a="http://schemas.openxmlformats.org/drawingml/2006/main">
              <a:ext uri="{FF2B5EF4-FFF2-40B4-BE49-F238E27FC236}">
                <a16:creationId xmlns:a16="http://schemas.microsoft.com/office/drawing/2014/main" id="{A032CD80-E676-4074-847C-236E1DD8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053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energia interna aumenta</a:t>
            </a:r>
          </a:p>
        </p:txBody>
      </p:sp>
      <p:sp>
        <p:nvSpPr>
          <p:cNvPr id="14" name="energy-balance">
            <a:extLst xmlns:a="http://schemas.openxmlformats.org/drawingml/2006/main">
              <a:ext uri="{FF2B5EF4-FFF2-40B4-BE49-F238E27FC236}">
                <a16:creationId xmlns:a16="http://schemas.microsoft.com/office/drawing/2014/main" id="{E35A724B-8478-4E0B-8638-4E8B841D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0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3n7bmqn">
            <a:extLst xmlns:a="http://schemas.openxmlformats.org/drawingml/2006/main">
              <a:ext uri="{FF2B5EF4-FFF2-40B4-BE49-F238E27FC236}">
                <a16:creationId xmlns:a16="http://schemas.microsoft.com/office/drawing/2014/main" id="{27377B22-F657-42D8-8102-EB900A5B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48200"/>
            <a:ext cx="4343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Se Q &gt; W, parte da energia recebida permanece no gás: ΔU aumenta.</a:t>
            </a:r>
          </a:p>
        </p:txBody>
      </p:sp>
      <p:sp>
        <p:nvSpPr>
          <p:cNvPr id="16" name="text-5g2b4um">
            <a:extLst xmlns:a="http://schemas.openxmlformats.org/drawingml/2006/main">
              <a:ext uri="{FF2B5EF4-FFF2-40B4-BE49-F238E27FC236}">
                <a16:creationId xmlns:a16="http://schemas.microsoft.com/office/drawing/2014/main" id="{0226B248-CA10-4FD6-B9B7-BB3CBA72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5054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Use sempre a convenção de sinais indicada.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3E0A63B-8432-40CA-9FE4-F19B0865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Modelo de gás ideal</a:t>
            </a:r>
          </a:p>
        </p:txBody>
      </p:sp>
    </p:spTree>
    <p:extLst>
      <p:ext uri="{BB962C8B-B14F-4D97-AF65-F5344CB8AC3E}">
        <p14:creationId xmlns:p14="http://schemas.microsoft.com/office/powerpoint/2010/main" val="20802207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CÁLCULO-RELÂMPAGO • 2 MIN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Calor recebido vira energia interna e trabalho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09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recebe 180 J de calor e realiza 70 J de trabalho.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62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Use Q = ΔU + W e calcule a variação da energia interna.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19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24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energia interna aumentou ou diminuiu? Justifique pelo sinal.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81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Preveja → calcule → confira no simulador.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Trabalho em duplas</a:t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C49CB637-092A-4CA2-BF24-F01D2D2E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GASES IDEAIS + TERMODINÂMICA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2E818F-9BFD-42E5-9C08-8EA2CF73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Cada transformação conta uma história de energia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21570672-6C43-4DBD-87D6-EA11B3AD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4">
            <a:extLst xmlns:a="http://schemas.openxmlformats.org/drawingml/2006/main">
              <a:ext uri="{FF2B5EF4-FFF2-40B4-BE49-F238E27FC236}">
                <a16:creationId xmlns:a16="http://schemas.microsoft.com/office/drawing/2014/main" id="{0BA0A2C2-3E0E-4BF8-B38E-815E946C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33400" y="1771650"/>
          <a:ext xmlns:a="http://schemas.openxmlformats.org/drawingml/2006/main" cx="111252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667000"/>
                <a:gridCol w="2667000"/>
                <a:gridCol w="3695700"/>
              </a:tblGrid>
              <a:tr h="92868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Processo</a:t>
                      </a:r>
                    </a:p>
                  </a:txBody>
                  <a:tcPr marL="95250" marR="95250" marT="76200" marB="76200" anchor="ctr">
                    <a:solidFill>
                      <a:srgbClr val="087E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 que não muda</a:t>
                      </a:r>
                    </a:p>
                  </a:txBody>
                  <a:tcPr marL="95250" marR="95250" marT="76200" marB="76200" anchor="ctr">
                    <a:solidFill>
                      <a:srgbClr val="087E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Trabalho / energia</a:t>
                      </a:r>
                    </a:p>
                  </a:txBody>
                  <a:tcPr marL="95250" marR="95250" marT="76200" marB="76200" anchor="ctr">
                    <a:solidFill>
                      <a:srgbClr val="087E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Leitura física</a:t>
                      </a:r>
                    </a:p>
                  </a:txBody>
                  <a:tcPr marL="95250" marR="95250" marT="76200" marB="76200" anchor="ctr">
                    <a:solidFill>
                      <a:srgbClr val="087E8B"/>
                    </a:solidFill>
                  </a:tcPr>
                </a:tc>
              </a:tr>
              <a:tr h="92868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Isocórico</a:t>
                      </a:r>
                    </a:p>
                  </a:txBody>
                  <a:tcPr marL="95250" marR="95250" marT="66675" marB="66675" anchor="ctr">
                    <a:solidFill>
                      <a:srgbClr val="E4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W = 0; ΔU = Q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Aquecer aumenta T, U e P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Isotérmico</a:t>
                      </a:r>
                    </a:p>
                  </a:txBody>
                  <a:tcPr marL="95250" marR="95250" marT="66675" marB="66675" anchor="ctr">
                    <a:solidFill>
                      <a:srgbClr val="DD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ΔU = 0; Q = W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Energia recebida sustenta a expansão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Isobárico</a:t>
                      </a:r>
                    </a:p>
                  </a:txBody>
                  <a:tcPr marL="95250" marR="95250" marT="66675" marB="66675" anchor="ctr">
                    <a:solidFill>
                      <a:srgbClr val="FD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Q = ΔU + W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Aquecer aumenta T e expande o gás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txlv8c6">
            <a:extLst xmlns:a="http://schemas.openxmlformats.org/drawingml/2006/main">
              <a:ext uri="{FF2B5EF4-FFF2-40B4-BE49-F238E27FC236}">
                <a16:creationId xmlns:a16="http://schemas.microsoft.com/office/drawing/2014/main" id="{36C63C7C-099F-4287-A3CF-537F97A2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8102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Para um gás ideal, mudar a temperatura significa mudar a energia interna.</a:t>
            </a:r>
          </a:p>
        </p:txBody>
      </p:sp>
      <p:sp>
        <p:nvSpPr>
          <p:cNvPr id="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8433B6F-8526-4F6E-82A2-5376C23E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Síntese conceitual • sem cálculo de áreas no 1º ano</a:t>
            </a:r>
          </a:p>
        </p:txBody>
      </p:sp>
    </p:spTree>
    <p:extLst>
      <p:ext uri="{BB962C8B-B14F-4D97-AF65-F5344CB8AC3E}">
        <p14:creationId xmlns:p14="http://schemas.microsoft.com/office/powerpoint/2010/main" val="115074815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Saída: três respostas em quatro minutos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09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Em um recipiente rígido, por que aquecer o gás aumenta a pressão?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62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o volume dobra com T e n constantes, o que ocorre com a pressão?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19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24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Um gás recebe 100 J de calor e realiza 40 J de trabalho. Qual é ΔU?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81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Explique com partículas, relações e energia.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Síntese individual</a:t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2026-08-23T17:16:08.1150000Z</dcterms:created>
  <dcterms:modified xsi:type="dcterms:W3CDTF">2026-08-23T17:16:08.1150000Z</dcterms:modified>
</coreProperties>
</file>