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62aa55abb04093" /><Relationship Type="http://schemas.openxmlformats.org/officeDocument/2006/relationships/extended-properties" Target="/docProps/app.xml" Id="R9e652530187941df" /><Relationship Type="http://schemas.openxmlformats.org/officeDocument/2006/relationships/officeDocument" Target="/ppt/presentation.xml" Id="Rc78d53985e774e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6bf843423d4506"/>
  </p:sldMasterIdLst>
  <p:notesMasterIdLst>
    <p:notesMasterId xmlns:r="http://schemas.openxmlformats.org/officeDocument/2006/relationships" r:id="Ra2e30ccce1384430"/>
  </p:notesMasterIdLst>
  <p:sldIdLst>
    <p:sldId xmlns:r="http://schemas.openxmlformats.org/officeDocument/2006/relationships" id="256" r:id="Rff9b7be5d983434f"/>
    <p:sldId xmlns:r="http://schemas.openxmlformats.org/officeDocument/2006/relationships" id="257" r:id="Rbad8f31ea5904704"/>
    <p:sldId xmlns:r="http://schemas.openxmlformats.org/officeDocument/2006/relationships" id="258" r:id="R8355cc4294ca4a58"/>
    <p:sldId xmlns:r="http://schemas.openxmlformats.org/officeDocument/2006/relationships" id="259" r:id="R3c3fd1bec06d4318"/>
    <p:sldId xmlns:r="http://schemas.openxmlformats.org/officeDocument/2006/relationships" id="260" r:id="R1402e0cbbb9944c4"/>
    <p:sldId xmlns:r="http://schemas.openxmlformats.org/officeDocument/2006/relationships" id="261" r:id="Rb9ddf5b2332d4808"/>
    <p:sldId xmlns:r="http://schemas.openxmlformats.org/officeDocument/2006/relationships" id="262" r:id="R0c5c46e890da43f6"/>
    <p:sldId xmlns:r="http://schemas.openxmlformats.org/officeDocument/2006/relationships" id="263" r:id="R43e8454705834991"/>
    <p:sldId xmlns:r="http://schemas.openxmlformats.org/officeDocument/2006/relationships" id="264" r:id="Rae8a35c4eb134602"/>
    <p:sldId xmlns:r="http://schemas.openxmlformats.org/officeDocument/2006/relationships" id="265" r:id="Rc2ec01ec4ea64486"/>
    <p:sldId xmlns:r="http://schemas.openxmlformats.org/officeDocument/2006/relationships" id="266" r:id="R66ae90c9fbe24dae"/>
    <p:sldId xmlns:r="http://schemas.openxmlformats.org/officeDocument/2006/relationships" id="267" r:id="R36e534123f3d4696"/>
    <p:sldId xmlns:r="http://schemas.openxmlformats.org/officeDocument/2006/relationships" id="268" r:id="Rceb156c4ff3e4034"/>
    <p:sldId xmlns:r="http://schemas.openxmlformats.org/officeDocument/2006/relationships" id="269" r:id="R45ef3715f15a4950"/>
    <p:sldId xmlns:r="http://schemas.openxmlformats.org/officeDocument/2006/relationships" id="270" r:id="R0fd207320acb4e33"/>
    <p:sldId xmlns:r="http://schemas.openxmlformats.org/officeDocument/2006/relationships" id="271" r:id="R912fa4b73c18475d"/>
    <p:sldId xmlns:r="http://schemas.openxmlformats.org/officeDocument/2006/relationships" id="272" r:id="Rd377c5eb36c84be4"/>
    <p:sldId xmlns:r="http://schemas.openxmlformats.org/officeDocument/2006/relationships" id="273" r:id="R9a0def8648ed45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42128f93fa41cb" /><Relationship Type="http://schemas.openxmlformats.org/officeDocument/2006/relationships/slideMaster" Target="/ppt/slideMasters/slideMaster1.xml" Id="R1d6bf843423d4506" /><Relationship Type="http://schemas.openxmlformats.org/officeDocument/2006/relationships/notesMaster" Target="/ppt/notesMasters/notesMaster1.xml" Id="Ra2e30ccce1384430" /><Relationship Type="http://schemas.openxmlformats.org/officeDocument/2006/relationships/presProps" Target="/ppt/presProps.xml" Id="R59b8fce699e04a0b" /><Relationship Type="http://schemas.openxmlformats.org/officeDocument/2006/relationships/tableStyles" Target="/ppt/tableStyles.xml" Id="R7808cf563fd846ee" /><Relationship Type="http://schemas.openxmlformats.org/officeDocument/2006/relationships/slide" Target="/ppt/slides/slide1.xml" Id="Rff9b7be5d983434f" /><Relationship Type="http://schemas.openxmlformats.org/officeDocument/2006/relationships/slide" Target="/ppt/slides/slide2.xml" Id="Rbad8f31ea5904704" /><Relationship Type="http://schemas.openxmlformats.org/officeDocument/2006/relationships/slide" Target="/ppt/slides/slide3.xml" Id="R8355cc4294ca4a58" /><Relationship Type="http://schemas.openxmlformats.org/officeDocument/2006/relationships/slide" Target="/ppt/slides/slide4.xml" Id="R3c3fd1bec06d4318" /><Relationship Type="http://schemas.openxmlformats.org/officeDocument/2006/relationships/slide" Target="/ppt/slides/slide5.xml" Id="R1402e0cbbb9944c4" /><Relationship Type="http://schemas.openxmlformats.org/officeDocument/2006/relationships/slide" Target="/ppt/slides/slide6.xml" Id="Rb9ddf5b2332d4808" /><Relationship Type="http://schemas.openxmlformats.org/officeDocument/2006/relationships/slide" Target="/ppt/slides/slide7.xml" Id="R0c5c46e890da43f6" /><Relationship Type="http://schemas.openxmlformats.org/officeDocument/2006/relationships/slide" Target="/ppt/slides/slide8.xml" Id="R43e8454705834991" /><Relationship Type="http://schemas.openxmlformats.org/officeDocument/2006/relationships/slide" Target="/ppt/slides/slide9.xml" Id="Rae8a35c4eb134602" /><Relationship Type="http://schemas.openxmlformats.org/officeDocument/2006/relationships/slide" Target="/ppt/slides/slide10.xml" Id="Rc2ec01ec4ea64486" /><Relationship Type="http://schemas.openxmlformats.org/officeDocument/2006/relationships/slide" Target="/ppt/slides/slide11.xml" Id="R66ae90c9fbe24dae" /><Relationship Type="http://schemas.openxmlformats.org/officeDocument/2006/relationships/slide" Target="/ppt/slides/slide12.xml" Id="R36e534123f3d4696" /><Relationship Type="http://schemas.openxmlformats.org/officeDocument/2006/relationships/slide" Target="/ppt/slides/slide13.xml" Id="Rceb156c4ff3e4034" /><Relationship Type="http://schemas.openxmlformats.org/officeDocument/2006/relationships/slide" Target="/ppt/slides/slide14.xml" Id="R45ef3715f15a4950" /><Relationship Type="http://schemas.openxmlformats.org/officeDocument/2006/relationships/slide" Target="/ppt/slides/slide15.xml" Id="R0fd207320acb4e33" /><Relationship Type="http://schemas.openxmlformats.org/officeDocument/2006/relationships/slide" Target="/ppt/slides/slide16.xml" Id="R912fa4b73c18475d" /><Relationship Type="http://schemas.openxmlformats.org/officeDocument/2006/relationships/slide" Target="/ppt/slides/slide17.xml" Id="Rd377c5eb36c84be4" /><Relationship Type="http://schemas.openxmlformats.org/officeDocument/2006/relationships/slide" Target="/ppt/slides/slide18.xml" Id="R9a0def8648ed45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1d5c5fc0b14f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5c11402321440a" /><Relationship Type="http://schemas.openxmlformats.org/officeDocument/2006/relationships/notesMaster" Target="/ppt/notesMasters/notesMaster1.xml" Id="Rcd2d938138674c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92a0495da14175" /><Relationship Type="http://schemas.openxmlformats.org/officeDocument/2006/relationships/notesMaster" Target="/ppt/notesMasters/notesMaster1.xml" Id="Rab0bfb75b4e04a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8e36570cd444c5" /><Relationship Type="http://schemas.openxmlformats.org/officeDocument/2006/relationships/notesMaster" Target="/ppt/notesMasters/notesMaster1.xml" Id="R9af2b878a6d049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85c67f71994a19" /><Relationship Type="http://schemas.openxmlformats.org/officeDocument/2006/relationships/notesMaster" Target="/ppt/notesMasters/notesMaster1.xml" Id="Rd09484f1886942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3dab0535004303" /><Relationship Type="http://schemas.openxmlformats.org/officeDocument/2006/relationships/notesMaster" Target="/ppt/notesMasters/notesMaster1.xml" Id="R13edcdf1d99442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0ea9ebe9304d50" /><Relationship Type="http://schemas.openxmlformats.org/officeDocument/2006/relationships/notesMaster" Target="/ppt/notesMasters/notesMaster1.xml" Id="R279c4b6e168043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8d172b877147cb" /><Relationship Type="http://schemas.openxmlformats.org/officeDocument/2006/relationships/notesMaster" Target="/ppt/notesMasters/notesMaster1.xml" Id="Rd9dabf41babe4f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be2109939c4078" /><Relationship Type="http://schemas.openxmlformats.org/officeDocument/2006/relationships/notesMaster" Target="/ppt/notesMasters/notesMaster1.xml" Id="Rf50616ccbb4247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2aea0e4b65483a" /><Relationship Type="http://schemas.openxmlformats.org/officeDocument/2006/relationships/notesMaster" Target="/ppt/notesMasters/notesMaster1.xml" Id="R1459c1288ce04d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0c4416c44c4a91" /><Relationship Type="http://schemas.openxmlformats.org/officeDocument/2006/relationships/notesMaster" Target="/ppt/notesMasters/notesMaster1.xml" Id="R62456963ab504d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a3e96b6aef441b" /><Relationship Type="http://schemas.openxmlformats.org/officeDocument/2006/relationships/notesMaster" Target="/ppt/notesMasters/notesMaster1.xml" Id="R9aa73255e71940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424514b74a4393" /><Relationship Type="http://schemas.openxmlformats.org/officeDocument/2006/relationships/notesMaster" Target="/ppt/notesMasters/notesMaster1.xml" Id="R4dd3ea2c717249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07abb189ce4e3a" /><Relationship Type="http://schemas.openxmlformats.org/officeDocument/2006/relationships/notesMaster" Target="/ppt/notesMasters/notesMaster1.xml" Id="Re8b2154eabae4a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8838c62a76436f" /><Relationship Type="http://schemas.openxmlformats.org/officeDocument/2006/relationships/notesMaster" Target="/ppt/notesMasters/notesMaster1.xml" Id="R4a26a8bcd97a4d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8b00816f404ec6" /><Relationship Type="http://schemas.openxmlformats.org/officeDocument/2006/relationships/notesMaster" Target="/ppt/notesMasters/notesMaster1.xml" Id="R9010ed386d9947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dc1a602ab0423f" /><Relationship Type="http://schemas.openxmlformats.org/officeDocument/2006/relationships/notesMaster" Target="/ppt/notesMasters/notesMaster1.xml" Id="R473485161acc4d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ffef2fcf5b4a83" /><Relationship Type="http://schemas.openxmlformats.org/officeDocument/2006/relationships/notesMaster" Target="/ppt/notesMasters/notesMaster1.xml" Id="R190139c60a9f4cb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c1eddc035784eeb" /><Relationship Type="http://schemas.openxmlformats.org/officeDocument/2006/relationships/notesMaster" Target="/ppt/notesMasters/notesMaster1.xml" Id="R3a56bf8310a84d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Você controla o Celestial Lab. Em cada rodada, mostre o que ficará constante, peça uma votação rápida — sobe, desce ou fica igual —, altere um controle e só então discuta o resultado. Os alunos registram uma palavra ou frase curta.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V = 6,0 L e 40 partículas. Você ajusta T para 200 K, 400 K e 600 K. Antes de cada mudança, a turma prevê se P sobe, desce ou fica igual. Valores esperados no modelo: aproximadamente 110,9; 221,7; 332,6 kPa. Conclusão: quando T dobra, P dobra. Não peça a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 escolha antes de qualquer conta. Resposta: 200 kPa. Como V e n são constantes, P é diretamente proporcional à temperatura em kelvin; quando T dobra, P dobra. Convide um aluno a justificar e então confirme a tendência no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T = 300 K e 40 partículas. Você ajusta V para 3,0 L, 6,0 L e 9,0 L. Antes de cada mudança, a turma prevê a tendência de P. Valores esperados: aproximadamente 332,6; 166,3; 110,9 kPa. Conclusão: quando V dobra, P cai à metade. Não exija cálculo de P×V nem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a votação entre 240, 120 e 60 kPa. Resposta: 60 kPa. Com T e n constantes, pressão e volume são inversamente proporcionais; quando V dobra, P cai à metade. A conta pode ser apenas 120 ÷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três rodadas coletivas na aba Transformações. Em cada uma, a turma vota antes de você mover o controle. Gabarito: isotérmica — V aumenta, P diminui; isobárica — T aumenta, V aumenta; isocórica — T aumenta, P aumenta. Use os gráficos prontos apenas para confirmar as previsões.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Defina o gás como sistema e o restante como vizinhança. Diferencie calor de temperatura: calor é transferência de energia devido a uma diferença de temperatura. Trabalho aparece quando o gás desloca o pistão. Evite dizer que o corpo tem calor.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https://openstax.org/books/college-physics/pages/15-1-the-first-law-of-thermodynamics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a forma Q = ΔU + W: o calor recebido pelo gás se distribui entre aumento da energia interna e trabalho realizado pelo gás. Q positivo entra no sistema; W positivo sai como trabalho. Após explicar os sinais, reproduza Animacao_Primeira_Lei_Termodinamica.mp4 e pause no quadro final 100 J = 60 J + 40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C:/Users/User/Desktop/celestial-labv1/Animacao_Primeira_Lei_Termodinamica.mp4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Identifique Q = 100 J e W = 40 J em Q = ΔU + W. Resposta: ΔU = 100 − 40 = 60 J. Explique que, dos 100 J recebidos, 40 J saem como trabalho e 60 J aumentam a energia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as linhas aos gráficos do desafio. Na isocórica não há deslocamento do pistão. Na isotérmica de um gás ideal, a energia interna não muda porque T não muda; durante expansão, calor recebido compensa o trabalho. Na isobárica, o calor recebido se divide entre aumento de U 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https://openstax.org/books/college-physics-ap-courses/pages/15-2-the-first-law-of-thermodynamics-and-some-simple-processes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 e curtas. Gabarito: (1) P sobe; (2) P diminui — se V dobra, P cai à metade; (3) ΔU = 100 − 40 = 60 J. Use as respostas para decidir a retomada da próxima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8f5862d6242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f32cf65bd543f1" /><Relationship Type="http://schemas.openxmlformats.org/officeDocument/2006/relationships/slideLayout" Target="/ppt/slideLayouts/slideLayout1.xml" Id="R9f7f921176df45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7f921176df45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c2cbbfc41464b" /><Relationship Type="http://schemas.openxmlformats.org/officeDocument/2006/relationships/image" Target="/ppt/media/image.jpeg" Id="R775a3ec8a9f5487c" /><Relationship Type="http://schemas.openxmlformats.org/officeDocument/2006/relationships/notesSlide" Target="/ppt/notesSlides/notesSlide1.xml" Id="Rc8e2113f85c84c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d14703dc940c7" /><Relationship Type="http://schemas.openxmlformats.org/officeDocument/2006/relationships/notesSlide" Target="/ppt/notesSlides/notesSlide2.xml" Id="R14957c59853442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c6ae24e5b47aa" /><Relationship Type="http://schemas.openxmlformats.org/officeDocument/2006/relationships/image" Target="/ppt/media/image2.jpeg" Id="Rddf8de3678e24c39" /><Relationship Type="http://schemas.openxmlformats.org/officeDocument/2006/relationships/notesSlide" Target="/ppt/notesSlides/notesSlide3.xml" Id="Ra7d861a200714f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5b663fda543e7" /><Relationship Type="http://schemas.openxmlformats.org/officeDocument/2006/relationships/notesSlide" Target="/ppt/notesSlides/notesSlide4.xml" Id="Re0f03e30462e49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6b03f94494d96" /><Relationship Type="http://schemas.openxmlformats.org/officeDocument/2006/relationships/image" Target="/ppt/media/image3.jpeg" Id="Rb28fe97d7bbc4cbb" /><Relationship Type="http://schemas.openxmlformats.org/officeDocument/2006/relationships/notesSlide" Target="/ppt/notesSlides/notesSlide5.xml" Id="R83b433b306754d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bbcfbd78e4925" /><Relationship Type="http://schemas.openxmlformats.org/officeDocument/2006/relationships/notesSlide" Target="/ppt/notesSlides/notesSlide6.xml" Id="R12e55a9d7fec41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1dd0c2f97425f" /><Relationship Type="http://schemas.openxmlformats.org/officeDocument/2006/relationships/chart" Target="/ppt/slides/charts/chart1.xml" Id="Rd5885da8203945d5" /><Relationship Type="http://schemas.openxmlformats.org/officeDocument/2006/relationships/notesSlide" Target="/ppt/notesSlides/notesSlide7.xml" Id="R4f571915b27943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e1d6f8f424b5d" /><Relationship Type="http://schemas.openxmlformats.org/officeDocument/2006/relationships/notesSlide" Target="/ppt/notesSlides/notesSlide8.xml" Id="Rcad0001a3aa64b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4edbf81a04a22" /><Relationship Type="http://schemas.openxmlformats.org/officeDocument/2006/relationships/notesSlide" Target="/ppt/notesSlides/notesSlide9.xml" Id="R8510504232ec48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de0d86a35427e" /><Relationship Type="http://schemas.openxmlformats.org/officeDocument/2006/relationships/chart" Target="/ppt/slides/charts/chart2.xml" Id="R59cbbc1c79b24d3c" /><Relationship Type="http://schemas.openxmlformats.org/officeDocument/2006/relationships/notesSlide" Target="/ppt/notesSlides/notesSlide10.xml" Id="Ra5365a9f7e9845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1f36cc2cd4092" /><Relationship Type="http://schemas.openxmlformats.org/officeDocument/2006/relationships/notesSlide" Target="/ppt/notesSlides/notesSlide11.xml" Id="Rc27833807f5245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5cb507c6f4390" /><Relationship Type="http://schemas.openxmlformats.org/officeDocument/2006/relationships/notesSlide" Target="/ppt/notesSlides/notesSlide12.xml" Id="Rd204d3ad18bc4f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c6c29264d444f" /><Relationship Type="http://schemas.openxmlformats.org/officeDocument/2006/relationships/image" Target="/ppt/media/image4.jpeg" Id="Rc659a09a11574050" /><Relationship Type="http://schemas.openxmlformats.org/officeDocument/2006/relationships/image" Target="/ppt/media/image5.jpeg" Id="R290dafdfcc4b49e8" /><Relationship Type="http://schemas.openxmlformats.org/officeDocument/2006/relationships/image" Target="/ppt/media/image6.jpeg" Id="Rd9b5acac7bb340e7" /><Relationship Type="http://schemas.openxmlformats.org/officeDocument/2006/relationships/notesSlide" Target="/ppt/notesSlides/notesSlide13.xml" Id="Rbe649d498a7f4e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a0adee9b0421d" /><Relationship Type="http://schemas.openxmlformats.org/officeDocument/2006/relationships/notesSlide" Target="/ppt/notesSlides/notesSlide14.xml" Id="R5a646b2bd8d343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223d660ba45b3" /><Relationship Type="http://schemas.openxmlformats.org/officeDocument/2006/relationships/notesSlide" Target="/ppt/notesSlides/notesSlide15.xml" Id="R589af715ebb04f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04605a80e42bc" /><Relationship Type="http://schemas.openxmlformats.org/officeDocument/2006/relationships/notesSlide" Target="/ppt/notesSlides/notesSlide16.xml" Id="Rd55b1d1132414e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9d163af7d43f7" /><Relationship Type="http://schemas.openxmlformats.org/officeDocument/2006/relationships/notesSlide" Target="/ppt/notesSlides/notesSlide17.xml" Id="R1425800e6e1445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37f2421bb4ab5" /><Relationship Type="http://schemas.openxmlformats.org/officeDocument/2006/relationships/notesSlide" Target="/ppt/notesSlides/notesSlide18.xml" Id="R831d7a6115ce4006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a3ec8a9f5487c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COMECE COM UMA PREVISÃO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86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76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Situação-problema: gás confinado em volume quase constante</a:t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MODELO MICROSCÓPICO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8de3678e24c39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EQUAÇÃO DE ESTADO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28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PV = nRT • estado macroscópico de um gás ideal</a:t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COMO INVESTIGAR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Na demonstração, observe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Faça uma previsão curta.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move um controle.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Registre: subiu, desceu ou ficou igual.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66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fe97d7bbc4cbb"/>
          <a:stretch xmlns:a="http://schemas.openxmlformats.org/drawingml/2006/main"/>
        </p:blipFill>
        <p:spPr>
          <a:xfrm xmlns:a="http://schemas.openxmlformats.org/drawingml/2006/main">
            <a:off x="4933950" y="1697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Vote antes de cada teste.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Interface real do Celestial Lab</a:t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T =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T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Atividade prática • 7 minutos</a:t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ISOCÓRICA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885da8203945d5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Dados calculados pelo mesmo modelo do simulador</a:t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T: 300 K → 600 K; P inicial = 100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50, 100 ou 200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Trabalho em duplas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2: expandir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V =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V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Atividade prática • 7 minutos</a:t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ISOTÉRMICA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cbbc1c79b24d3c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3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Dados calculados pelo mesmo modelo do simulador</a:t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V: 4,0 L → 8,0 L; P inicial = 120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240, 120 ou 60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Trabalho em duplas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MAPA DAS TRANSFORMAÇÕES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TESTE COLETIVO • 8 MINUTOS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Três previsões; três testes no Celestial Lab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9a09a11574050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dafdfcc4b49e8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V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b5acac7bb340e7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 turma vota. O professor move o controle. O gráfico confirma.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Celestial Lab • aba Transformações</a:t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SISTEMA • VIZINHANÇA • ENERGIA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 rastreia a energia do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diferença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 temperatura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energia interna 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força e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deslocamento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67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Calor e trabalho são energia em trânsito; o sistema armazena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Convenção adotada: W &gt; 0 quando o gás realiza trabalho</a:t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PRIMEIRA LEI DA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é a conservação da energia no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energia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energia por calor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 ao expandir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 Q &gt; W, parte da energia recebida permanece no gás: ΔU aumenta.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05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sempre a convenção de sinais indicada.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Quanto do calor aumenta a energia interna?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Q = 100 J.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W = 40 J.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qual é o valor de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Tente a conta → explique o resultado.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Trabalho em duplas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49CB637-092A-4CA2-BF24-F01D2D2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GASES IDEAIS +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2E818F-9BFD-42E5-9C08-8EA2CF73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conta uma história de energia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1570672-6C43-4DBD-87D6-EA11B3AD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0BA0A2C2-3E0E-4BF8-B38E-815E946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667000"/>
                <a:gridCol w="2667000"/>
                <a:gridCol w="3695700"/>
              </a:tblGrid>
              <a:tr h="928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Processo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não muda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Trabalho / energia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Leitura física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Isocórico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W = 0; ΔU = Q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T, U e 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Isotérmico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ΔU = 0; Q =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Energia recebida sustenta a expansão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Isobárico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Q = ΔU +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 e expande o gás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txlv8c6">
            <a:extLst xmlns:a="http://schemas.openxmlformats.org/drawingml/2006/main">
              <a:ext uri="{FF2B5EF4-FFF2-40B4-BE49-F238E27FC236}">
                <a16:creationId xmlns:a16="http://schemas.microsoft.com/office/drawing/2014/main" id="{36C63C7C-099F-4287-A3CF-537F97A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102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Para um gás ideal, mudar a temperatura significa mudar a energia interna.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8433B6F-8526-4F6E-82A2-5376C23E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conceitual • sem cálculo de áreas no 1º ano</a:t>
            </a:r>
          </a:p>
        </p:txBody>
      </p:sp>
    </p:spTree>
    <p:extLst>
      <p:ext uri="{BB962C8B-B14F-4D97-AF65-F5344CB8AC3E}">
        <p14:creationId xmlns:p14="http://schemas.microsoft.com/office/powerpoint/2010/main" val="1150748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Saída: três respostas em quatro minutos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 fixo, se T aumenta, P sobe ou desce?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T fixo, se V dobra, P aumenta ou diminui?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 = 100 J e W = 40 J.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Responda com poucas palavras e uma conta.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individual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2026-08-23T17:27:04.6060000Z</dcterms:created>
  <dcterms:modified xsi:type="dcterms:W3CDTF">2026-08-23T17:27:04.6060000Z</dcterms:modified>
</coreProperties>
</file>