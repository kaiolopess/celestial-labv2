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aab0e9337403c" /><Relationship Type="http://schemas.openxmlformats.org/officeDocument/2006/relationships/extended-properties" Target="/docProps/app.xml" Id="Rd5d6aa94b89246dc" /><Relationship Type="http://schemas.openxmlformats.org/officeDocument/2006/relationships/officeDocument" Target="/ppt/presentation.xml" Id="R355b4fb8b124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f52f0bf8b9460c"/>
  </p:sldMasterIdLst>
  <p:notesMasterIdLst>
    <p:notesMasterId xmlns:r="http://schemas.openxmlformats.org/officeDocument/2006/relationships" r:id="Rbf57481311a947bc"/>
  </p:notesMasterIdLst>
  <p:sldIdLst>
    <p:sldId xmlns:r="http://schemas.openxmlformats.org/officeDocument/2006/relationships" id="256" r:id="R16b8bfb2a3c94192"/>
    <p:sldId xmlns:r="http://schemas.openxmlformats.org/officeDocument/2006/relationships" id="257" r:id="R5800874974fa4e0d"/>
    <p:sldId xmlns:r="http://schemas.openxmlformats.org/officeDocument/2006/relationships" id="258" r:id="R35df5f9b238c4e12"/>
    <p:sldId xmlns:r="http://schemas.openxmlformats.org/officeDocument/2006/relationships" id="259" r:id="Rd895f2ccef91446c"/>
    <p:sldId xmlns:r="http://schemas.openxmlformats.org/officeDocument/2006/relationships" id="260" r:id="Rbb6e1bee6f5045dc"/>
    <p:sldId xmlns:r="http://schemas.openxmlformats.org/officeDocument/2006/relationships" id="261" r:id="R973827d3427a468d"/>
    <p:sldId xmlns:r="http://schemas.openxmlformats.org/officeDocument/2006/relationships" id="262" r:id="R34ac3cdb13d14e7b"/>
    <p:sldId xmlns:r="http://schemas.openxmlformats.org/officeDocument/2006/relationships" id="263" r:id="R9661f932eb0d4e0a"/>
    <p:sldId xmlns:r="http://schemas.openxmlformats.org/officeDocument/2006/relationships" id="264" r:id="R235a36df92514162"/>
    <p:sldId xmlns:r="http://schemas.openxmlformats.org/officeDocument/2006/relationships" id="265" r:id="Rc0d9634307eb489c"/>
    <p:sldId xmlns:r="http://schemas.openxmlformats.org/officeDocument/2006/relationships" id="266" r:id="Rf2471534f58f42a2"/>
    <p:sldId xmlns:r="http://schemas.openxmlformats.org/officeDocument/2006/relationships" id="267" r:id="Rf2d7f3ca6ae94e5b"/>
    <p:sldId xmlns:r="http://schemas.openxmlformats.org/officeDocument/2006/relationships" id="268" r:id="R68c0a7dbf9fa4e93"/>
    <p:sldId xmlns:r="http://schemas.openxmlformats.org/officeDocument/2006/relationships" id="269" r:id="R183199abe8b94ebe"/>
    <p:sldId xmlns:r="http://schemas.openxmlformats.org/officeDocument/2006/relationships" id="270" r:id="R67f8d25887734681"/>
    <p:sldId xmlns:r="http://schemas.openxmlformats.org/officeDocument/2006/relationships" id="271" r:id="R49444799351046e7"/>
    <p:sldId xmlns:r="http://schemas.openxmlformats.org/officeDocument/2006/relationships" id="272" r:id="R8fe6a0825ed14516"/>
    <p:sldId xmlns:r="http://schemas.openxmlformats.org/officeDocument/2006/relationships" id="273" r:id="R55a4af09cb6a4e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3db3ba704c40c6" /><Relationship Type="http://schemas.openxmlformats.org/officeDocument/2006/relationships/slideMaster" Target="/ppt/slideMasters/slideMaster1.xml" Id="R02f52f0bf8b9460c" /><Relationship Type="http://schemas.openxmlformats.org/officeDocument/2006/relationships/notesMaster" Target="/ppt/notesMasters/notesMaster1.xml" Id="Rbf57481311a947bc" /><Relationship Type="http://schemas.openxmlformats.org/officeDocument/2006/relationships/presProps" Target="/ppt/presProps.xml" Id="R6103c10e8fc84e19" /><Relationship Type="http://schemas.openxmlformats.org/officeDocument/2006/relationships/tableStyles" Target="/ppt/tableStyles.xml" Id="R6cc15be2f7914937" /><Relationship Type="http://schemas.openxmlformats.org/officeDocument/2006/relationships/slide" Target="/ppt/slides/slide1.xml" Id="R16b8bfb2a3c94192" /><Relationship Type="http://schemas.openxmlformats.org/officeDocument/2006/relationships/slide" Target="/ppt/slides/slide2.xml" Id="R5800874974fa4e0d" /><Relationship Type="http://schemas.openxmlformats.org/officeDocument/2006/relationships/slide" Target="/ppt/slides/slide3.xml" Id="R35df5f9b238c4e12" /><Relationship Type="http://schemas.openxmlformats.org/officeDocument/2006/relationships/slide" Target="/ppt/slides/slide4.xml" Id="Rd895f2ccef91446c" /><Relationship Type="http://schemas.openxmlformats.org/officeDocument/2006/relationships/slide" Target="/ppt/slides/slide5.xml" Id="Rbb6e1bee6f5045dc" /><Relationship Type="http://schemas.openxmlformats.org/officeDocument/2006/relationships/slide" Target="/ppt/slides/slide6.xml" Id="R973827d3427a468d" /><Relationship Type="http://schemas.openxmlformats.org/officeDocument/2006/relationships/slide" Target="/ppt/slides/slide7.xml" Id="R34ac3cdb13d14e7b" /><Relationship Type="http://schemas.openxmlformats.org/officeDocument/2006/relationships/slide" Target="/ppt/slides/slide8.xml" Id="R9661f932eb0d4e0a" /><Relationship Type="http://schemas.openxmlformats.org/officeDocument/2006/relationships/slide" Target="/ppt/slides/slide9.xml" Id="R235a36df92514162" /><Relationship Type="http://schemas.openxmlformats.org/officeDocument/2006/relationships/slide" Target="/ppt/slides/slide10.xml" Id="Rc0d9634307eb489c" /><Relationship Type="http://schemas.openxmlformats.org/officeDocument/2006/relationships/slide" Target="/ppt/slides/slide11.xml" Id="Rf2471534f58f42a2" /><Relationship Type="http://schemas.openxmlformats.org/officeDocument/2006/relationships/slide" Target="/ppt/slides/slide12.xml" Id="Rf2d7f3ca6ae94e5b" /><Relationship Type="http://schemas.openxmlformats.org/officeDocument/2006/relationships/slide" Target="/ppt/slides/slide13.xml" Id="R68c0a7dbf9fa4e93" /><Relationship Type="http://schemas.openxmlformats.org/officeDocument/2006/relationships/slide" Target="/ppt/slides/slide14.xml" Id="R183199abe8b94ebe" /><Relationship Type="http://schemas.openxmlformats.org/officeDocument/2006/relationships/slide" Target="/ppt/slides/slide15.xml" Id="R67f8d25887734681" /><Relationship Type="http://schemas.openxmlformats.org/officeDocument/2006/relationships/slide" Target="/ppt/slides/slide16.xml" Id="R49444799351046e7" /><Relationship Type="http://schemas.openxmlformats.org/officeDocument/2006/relationships/slide" Target="/ppt/slides/slide17.xml" Id="R8fe6a0825ed14516" /><Relationship Type="http://schemas.openxmlformats.org/officeDocument/2006/relationships/slide" Target="/ppt/slides/slide18.xml" Id="R55a4af09cb6a4e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068ee52a01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3a14d4030c436a" /><Relationship Type="http://schemas.openxmlformats.org/officeDocument/2006/relationships/notesMaster" Target="/ppt/notesMasters/notesMaster1.xml" Id="Rbca74c9f77c049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975ff55be6467c" /><Relationship Type="http://schemas.openxmlformats.org/officeDocument/2006/relationships/notesMaster" Target="/ppt/notesMasters/notesMaster1.xml" Id="R6b871bec10c44f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07b714da1a4734" /><Relationship Type="http://schemas.openxmlformats.org/officeDocument/2006/relationships/notesMaster" Target="/ppt/notesMasters/notesMaster1.xml" Id="R8842140748f34e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04fa4d962a470d" /><Relationship Type="http://schemas.openxmlformats.org/officeDocument/2006/relationships/notesMaster" Target="/ppt/notesMasters/notesMaster1.xml" Id="Rbd9f242aecd442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b5092438aa4809" /><Relationship Type="http://schemas.openxmlformats.org/officeDocument/2006/relationships/notesMaster" Target="/ppt/notesMasters/notesMaster1.xml" Id="R7999ae4a41b549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12b34b189d41d6" /><Relationship Type="http://schemas.openxmlformats.org/officeDocument/2006/relationships/notesMaster" Target="/ppt/notesMasters/notesMaster1.xml" Id="Rb3d58a07fa624f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4f81895ce8450b" /><Relationship Type="http://schemas.openxmlformats.org/officeDocument/2006/relationships/notesMaster" Target="/ppt/notesMasters/notesMaster1.xml" Id="Rb66d5b7737424d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05752f67e94797" /><Relationship Type="http://schemas.openxmlformats.org/officeDocument/2006/relationships/notesMaster" Target="/ppt/notesMasters/notesMaster1.xml" Id="R0f13c837529343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84b1126b1447d8" /><Relationship Type="http://schemas.openxmlformats.org/officeDocument/2006/relationships/notesMaster" Target="/ppt/notesMasters/notesMaster1.xml" Id="R2df862329db649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f3ef1310ac4660" /><Relationship Type="http://schemas.openxmlformats.org/officeDocument/2006/relationships/notesMaster" Target="/ppt/notesMasters/notesMaster1.xml" Id="R49cec8a338d64f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99bf8ddf474a2f" /><Relationship Type="http://schemas.openxmlformats.org/officeDocument/2006/relationships/notesMaster" Target="/ppt/notesMasters/notesMaster1.xml" Id="R85612b385aa44f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221b29633b4753" /><Relationship Type="http://schemas.openxmlformats.org/officeDocument/2006/relationships/notesMaster" Target="/ppt/notesMasters/notesMaster1.xml" Id="R6d2c33def7a34d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0b13fdb69b4c2d" /><Relationship Type="http://schemas.openxmlformats.org/officeDocument/2006/relationships/notesMaster" Target="/ppt/notesMasters/notesMaster1.xml" Id="Rb11fe964e07d48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2bffd568a94304" /><Relationship Type="http://schemas.openxmlformats.org/officeDocument/2006/relationships/notesMaster" Target="/ppt/notesMasters/notesMaster1.xml" Id="R03717e826da443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30fa98856448fa" /><Relationship Type="http://schemas.openxmlformats.org/officeDocument/2006/relationships/notesMaster" Target="/ppt/notesMasters/notesMaster1.xml" Id="R95db560d006046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bf82793c1543d3" /><Relationship Type="http://schemas.openxmlformats.org/officeDocument/2006/relationships/notesMaster" Target="/ppt/notesMasters/notesMaster1.xml" Id="R3b458d0b12314d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a3ad0ea66c4e6c" /><Relationship Type="http://schemas.openxmlformats.org/officeDocument/2006/relationships/notesMaster" Target="/ppt/notesMasters/notesMaster1.xml" Id="R8e824cc6c62a46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e9be319b4e4f0b" /><Relationship Type="http://schemas.openxmlformats.org/officeDocument/2006/relationships/notesMaster" Target="/ppt/notesMasters/notesMaster1.xml" Id="R49866e9cf5b7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Evite cálculos longos neste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Projete o Celestial Lab. Mostre as abas Laboratório e Transformações, o botão Resetar e os controles de T, V e Partículas. Reforce controle de variáveis: uma relação só fica clara quando as demais permanecem constantes.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Organize duplas. Antes do primeiro ajuste, peça uma previsão escrita. Valores esperados no modelo: aproximadamente 110,9; 221,7; 332,6 kPa. Circule verificando se V e o número de partículas foram mantidos. Não forneça os valores antes da coleta.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partículas mais rápidas colidem mais intensamente/frequentemente com as paredes; (2) a pressão cai à metade; (3) ΔU=100−40=60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nova previsão antes de mover o pistão. Valores esperados: cerca de 332,6; 166,3; 110,9 kPa. O produto P×V deve permanecer próximo de 997,7 kPa·L. Aceite pequenas diferenças de leitura/arredondamento.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'reta decrescente'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partículas mais rápidas colidem mais intensamente/frequentemente com as paredes; (2) a pressão cai à metade; (3) ΔU=100−40=60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Divida a turma em três grupos ou fileiras. Cada grupo deve mover o controle livre o suficiente para formar o gráfico e preparar uma fala de 30 segundos. Após 7 minutos, faça apresentações rápidas de 1 minuto por grupo. Se houver poucos dispositivos, conduza coletivamente e atribua a cada grupo a explicação.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'tem calor'.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convenção adotada: Q positivo entra no sistema; W positivo é trabalho feito pelo gás. Faça dois exemplos mentais: (1) recipiente rígido aquecido: W=0, então ΔU=Q; (2) gás isolado expandindo: Q=0 e W&gt;0, então ΔU diminui.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partículas mais rápidas colidem mais intensamente/frequentemente com as paredes; (2) a pressão cai à metade; (3) ΔU=100−40=60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partículas mais rápidas colidem mais intensamente/frequentemente com as paredes; (2) a pressão cai à metade; (3) ΔU=100−40=60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c44e2e5f4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69b41d94b4c68" /><Relationship Type="http://schemas.openxmlformats.org/officeDocument/2006/relationships/slideLayout" Target="/ppt/slideLayouts/slideLayout1.xml" Id="R71e75201336d4d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e75201336d4d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1cee2313246aa" /><Relationship Type="http://schemas.openxmlformats.org/officeDocument/2006/relationships/image" Target="/ppt/media/image.jpeg" Id="Rcb2fff3314a14ecf" /><Relationship Type="http://schemas.openxmlformats.org/officeDocument/2006/relationships/notesSlide" Target="/ppt/notesSlides/notesSlide1.xml" Id="R9b381cdc61d240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9d2e2fe3f435d" /><Relationship Type="http://schemas.openxmlformats.org/officeDocument/2006/relationships/notesSlide" Target="/ppt/notesSlides/notesSlide2.xml" Id="Rd98572665369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33c8a7141492b" /><Relationship Type="http://schemas.openxmlformats.org/officeDocument/2006/relationships/image" Target="/ppt/media/image2.jpeg" Id="R09d0d8acbb3946ce" /><Relationship Type="http://schemas.openxmlformats.org/officeDocument/2006/relationships/notesSlide" Target="/ppt/notesSlides/notesSlide3.xml" Id="R525e917c300541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866fe32a4882" /><Relationship Type="http://schemas.openxmlformats.org/officeDocument/2006/relationships/notesSlide" Target="/ppt/notesSlides/notesSlide4.xml" Id="R86c9d1a0c35041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1f8c463b44d76" /><Relationship Type="http://schemas.openxmlformats.org/officeDocument/2006/relationships/image" Target="/ppt/media/image3.jpeg" Id="Rda2892ed5ffe4a50" /><Relationship Type="http://schemas.openxmlformats.org/officeDocument/2006/relationships/notesSlide" Target="/ppt/notesSlides/notesSlide5.xml" Id="Rf0f559286b5441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f90e10a7548b0" /><Relationship Type="http://schemas.openxmlformats.org/officeDocument/2006/relationships/notesSlide" Target="/ppt/notesSlides/notesSlide6.xml" Id="Recb538c02f7c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baf46388449a" /><Relationship Type="http://schemas.openxmlformats.org/officeDocument/2006/relationships/chart" Target="/ppt/slides/charts/chart1.xml" Id="R8edd1691d68f4bfd" /><Relationship Type="http://schemas.openxmlformats.org/officeDocument/2006/relationships/notesSlide" Target="/ppt/notesSlides/notesSlide7.xml" Id="Re7e8c339c90d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8c717a0394794" /><Relationship Type="http://schemas.openxmlformats.org/officeDocument/2006/relationships/notesSlide" Target="/ppt/notesSlides/notesSlide8.xml" Id="R111b97607b6c4b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b23b834fd490f" /><Relationship Type="http://schemas.openxmlformats.org/officeDocument/2006/relationships/notesSlide" Target="/ppt/notesSlides/notesSlide9.xml" Id="R9df7510fc2324c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8d74f15474080" /><Relationship Type="http://schemas.openxmlformats.org/officeDocument/2006/relationships/chart" Target="/ppt/slides/charts/chart2.xml" Id="R5922f9e885034a04" /><Relationship Type="http://schemas.openxmlformats.org/officeDocument/2006/relationships/notesSlide" Target="/ppt/notesSlides/notesSlide10.xml" Id="Re1c52e263bf645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de6b6151e4e59" /><Relationship Type="http://schemas.openxmlformats.org/officeDocument/2006/relationships/notesSlide" Target="/ppt/notesSlides/notesSlide11.xml" Id="R761feb24cabe40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2edf6cb1d4e7a" /><Relationship Type="http://schemas.openxmlformats.org/officeDocument/2006/relationships/notesSlide" Target="/ppt/notesSlides/notesSlide12.xml" Id="R2c1fb077d7254b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3f288443e419b" /><Relationship Type="http://schemas.openxmlformats.org/officeDocument/2006/relationships/image" Target="/ppt/media/image4.jpeg" Id="Rf51fda5e2e78435a" /><Relationship Type="http://schemas.openxmlformats.org/officeDocument/2006/relationships/image" Target="/ppt/media/image5.jpeg" Id="Rcdf2bd76fd8645e3" /><Relationship Type="http://schemas.openxmlformats.org/officeDocument/2006/relationships/image" Target="/ppt/media/image6.jpeg" Id="Ra07d9aecd9de4da6" /><Relationship Type="http://schemas.openxmlformats.org/officeDocument/2006/relationships/notesSlide" Target="/ppt/notesSlides/notesSlide13.xml" Id="R9c83a1f05f0c4a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9db85771d4652" /><Relationship Type="http://schemas.openxmlformats.org/officeDocument/2006/relationships/notesSlide" Target="/ppt/notesSlides/notesSlide14.xml" Id="R31c7e199a85b42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732e73a1f4085" /><Relationship Type="http://schemas.openxmlformats.org/officeDocument/2006/relationships/notesSlide" Target="/ppt/notesSlides/notesSlide15.xml" Id="R8465fa6bc5674c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d1536c34341f8" /><Relationship Type="http://schemas.openxmlformats.org/officeDocument/2006/relationships/notesSlide" Target="/ppt/notesSlides/notesSlide16.xml" Id="Rb0b151a79a544e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bb2b507224d12" /><Relationship Type="http://schemas.openxmlformats.org/officeDocument/2006/relationships/notesSlide" Target="/ppt/notesSlides/notesSlide17.xml" Id="R7a66ee466e5844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9b9b86a0d49f2" /><Relationship Type="http://schemas.openxmlformats.org/officeDocument/2006/relationships/notesSlide" Target="/ppt/notesSlides/notesSlide18.xml" Id="R4022494b80614cd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fff3314a14ecf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Situação-problema: gás confinado em volume quase constante</a:t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0d8acbb3946ce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PV = nRT • estado macroscópico de um gás ideal</a:t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laboratório, mude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Preveja antes de mover o controle.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Altere um único parâmetro.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 a pressão e explique com partículas.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892ed5ffe4a50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Resetar entre os experimentos.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Interface real do Celestial Lab</a:t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T para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Compare: dobrar T faz o quê com P?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usando colisões nas paredes.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P/T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Previsão: P aumenta em linha reta, em curva ou não muda?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8 minutos</a:t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dd1691d68f4bfd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um recipiente rígido, por que aquecer o gás aumenta a pressão?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o volume dobra com T e n constantes, o que ocorre com a pressão?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recebe 100 J de calor e realiza 40 J de trabalho.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Explique com partículas, relações e energia.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2: comprimir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V para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Calcule P × V em cada linha.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comprimir eleva P.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Previsão: ao triplicar V, o que acontece com P?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8 minutos</a:t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22f9e885034a04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um recipiente rígido, por que aquecer o gás aumenta a pressão?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o volume dobra com T e n constantes, o que ocorre com a pressão?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recebe 100 J de calor e realiza 40 J de trabalho.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Explique com partículas, relações e energia.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TRABALHO EM GRUPOS • 10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Desafio: produza uma evidência e uma explicação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Grupo A • 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fda5e2e78435a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Mova V. Esboce P × V.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a curva cai.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Grupo B • 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2bd76fd8645e3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V × T.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expansão.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Grupo C • 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d9aecd9de4da6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P × T.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pressão maior.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Entrega: um gráfico + uma frase com partículas + a grandeza constante.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Celestial Lab • aba Transformações</a:t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Convenção adotada: W &gt; 0 quando o gás realiza trabalho</a:t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ΔU = Q −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variação da energia interna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um recipiente rígido, por que aquecer o gás aumenta a pressão?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o volume dobra com T e n constantes, o que ocorre com a pressão?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recebe 100 J de calor e realiza 40 J de trabalho.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Explique com partículas, relações e energia.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conceitual • sem cálculo de áreas no 1º ano</a:t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um recipiente rígido, por que aquecer o gás aumenta a pressão?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o volume dobra com T e n constantes, o que ocorre com a pressão?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recebe 100 J de calor e realiza 40 J de trabalho.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Explique com partículas, relações e energia.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2026-08-23T16:54:10.0280000Z</dcterms:created>
  <dcterms:modified xsi:type="dcterms:W3CDTF">2026-08-23T16:54:10.0280000Z</dcterms:modified>
</coreProperties>
</file>