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4397a4a4586940e7" Type="http://schemas.openxmlformats.org/package/2006/relationships/metadata/core-properties" Target="docProps/core.xml"/><Relationship Id="R7b07bd0e30224cfa" Type="http://schemas.openxmlformats.org/officeDocument/2006/relationships/officeDocument" Target="ppt/presentation.xml"/><Relationship Id="Re8fa075af0394e7c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f800e2d4bf4449"/>
  </p:sldMasterIdLst>
  <p:notesMasterIdLst>
    <p:notesMasterId xmlns:r="http://schemas.openxmlformats.org/officeDocument/2006/relationships" r:id="Rd42afd8aac7a431d"/>
  </p:notesMasterIdLst>
  <p:sldIdLst>
    <p:sldId xmlns:r="http://schemas.openxmlformats.org/officeDocument/2006/relationships" id="256" r:id="R5eea11844b644d21"/>
    <p:sldId xmlns:r="http://schemas.openxmlformats.org/officeDocument/2006/relationships" id="257" r:id="Rc07991e1c65f40ed"/>
    <p:sldId xmlns:r="http://schemas.openxmlformats.org/officeDocument/2006/relationships" id="258" r:id="R8b003e4496ec4e21"/>
    <p:sldId xmlns:r="http://schemas.openxmlformats.org/officeDocument/2006/relationships" id="259" r:id="R8d0d95ca7e484702"/>
    <p:sldId xmlns:r="http://schemas.openxmlformats.org/officeDocument/2006/relationships" id="260" r:id="R36470e9459624c69"/>
    <p:sldId xmlns:r="http://schemas.openxmlformats.org/officeDocument/2006/relationships" id="261" r:id="Rd06752e845bc4639"/>
    <p:sldId xmlns:r="http://schemas.openxmlformats.org/officeDocument/2006/relationships" id="262" r:id="Rf430963517444014"/>
    <p:sldId xmlns:r="http://schemas.openxmlformats.org/officeDocument/2006/relationships" id="263" r:id="R7e69073fe3f34fd7"/>
    <p:sldId xmlns:r="http://schemas.openxmlformats.org/officeDocument/2006/relationships" id="264" r:id="Rdb243c786c8f46bf"/>
    <p:sldId xmlns:r="http://schemas.openxmlformats.org/officeDocument/2006/relationships" id="265" r:id="R16cd8eb021f44cfe"/>
    <p:sldId xmlns:r="http://schemas.openxmlformats.org/officeDocument/2006/relationships" id="266" r:id="R69755cce0cd04430"/>
    <p:sldId xmlns:r="http://schemas.openxmlformats.org/officeDocument/2006/relationships" id="267" r:id="R5d68babdda494b3b"/>
    <p:sldId xmlns:r="http://schemas.openxmlformats.org/officeDocument/2006/relationships" id="268" r:id="R04329f2f3c8b45b1"/>
    <p:sldId xmlns:r="http://schemas.openxmlformats.org/officeDocument/2006/relationships" id="269" r:id="R8b1bb9e8f73f4713"/>
    <p:sldId xmlns:r="http://schemas.openxmlformats.org/officeDocument/2006/relationships" id="270" r:id="R394f4badd7db4bf1"/>
    <p:sldId xmlns:r="http://schemas.openxmlformats.org/officeDocument/2006/relationships" id="271" r:id="R97779e3a847d4606"/>
    <p:sldId xmlns:r="http://schemas.openxmlformats.org/officeDocument/2006/relationships" id="272" r:id="R70d3a37a465548a3"/>
    <p:sldId xmlns:r="http://schemas.openxmlformats.org/officeDocument/2006/relationships" id="273" r:id="Re1c17423c74b47be"/>
    <p:sldId xmlns:r="http://schemas.openxmlformats.org/officeDocument/2006/relationships" id="274" r:id="R8a5667286ee34318"/>
    <p:sldId xmlns:r="http://schemas.openxmlformats.org/officeDocument/2006/relationships" id="275" r:id="R8c061f403c7041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4329f2f3c8b45b1" Type="http://schemas.openxmlformats.org/officeDocument/2006/relationships/slide" Target="slides/slide13.xml"/><Relationship Id="R125906ee12d6441c" Type="http://schemas.openxmlformats.org/officeDocument/2006/relationships/presProps" Target="presProps.xml"/><Relationship Id="R16cd8eb021f44cfe" Type="http://schemas.openxmlformats.org/officeDocument/2006/relationships/slide" Target="slides/slide10.xml"/><Relationship Id="R36470e9459624c69" Type="http://schemas.openxmlformats.org/officeDocument/2006/relationships/slide" Target="slides/slide5.xml"/><Relationship Id="R394f4badd7db4bf1" Type="http://schemas.openxmlformats.org/officeDocument/2006/relationships/slide" Target="slides/slide15.xml"/><Relationship Id="R5d68babdda494b3b" Type="http://schemas.openxmlformats.org/officeDocument/2006/relationships/slide" Target="slides/slide12.xml"/><Relationship Id="R5eea11844b644d21" Type="http://schemas.openxmlformats.org/officeDocument/2006/relationships/slide" Target="slides/slide1.xml"/><Relationship Id="R69755cce0cd04430" Type="http://schemas.openxmlformats.org/officeDocument/2006/relationships/slide" Target="slides/slide11.xml"/><Relationship Id="R70d3a37a465548a3" Type="http://schemas.openxmlformats.org/officeDocument/2006/relationships/slide" Target="slides/slide17.xml"/><Relationship Id="R75f800e2d4bf4449" Type="http://schemas.openxmlformats.org/officeDocument/2006/relationships/slideMaster" Target="slideMasters/slideMaster1.xml"/><Relationship Id="R7e69073fe3f34fd7" Type="http://schemas.openxmlformats.org/officeDocument/2006/relationships/slide" Target="slides/slide8.xml"/><Relationship Id="R8a5667286ee34318" Type="http://schemas.openxmlformats.org/officeDocument/2006/relationships/slide" Target="slides/slide19.xml"/><Relationship Id="R8b003e4496ec4e21" Type="http://schemas.openxmlformats.org/officeDocument/2006/relationships/slide" Target="slides/slide3.xml"/><Relationship Id="R8b1bb9e8f73f4713" Type="http://schemas.openxmlformats.org/officeDocument/2006/relationships/slide" Target="slides/slide14.xml"/><Relationship Id="R8c061f403c7041aa" Type="http://schemas.openxmlformats.org/officeDocument/2006/relationships/slide" Target="slides/slide20.xml"/><Relationship Id="R8d0d95ca7e484702" Type="http://schemas.openxmlformats.org/officeDocument/2006/relationships/slide" Target="slides/slide4.xml"/><Relationship Id="R97779e3a847d4606" Type="http://schemas.openxmlformats.org/officeDocument/2006/relationships/slide" Target="slides/slide16.xml"/><Relationship Id="Rc07991e1c65f40ed" Type="http://schemas.openxmlformats.org/officeDocument/2006/relationships/slide" Target="slides/slide2.xml"/><Relationship Id="Rc5ad0b6b50fd42b6" Type="http://schemas.openxmlformats.org/officeDocument/2006/relationships/tableStyles" Target="tableStyles.xml"/><Relationship Id="Rd06752e845bc4639" Type="http://schemas.openxmlformats.org/officeDocument/2006/relationships/slide" Target="slides/slide6.xml"/><Relationship Id="Rd42afd8aac7a431d" Type="http://schemas.openxmlformats.org/officeDocument/2006/relationships/notesMaster" Target="notesMasters/notesMaster1.xml"/><Relationship Id="Rdb243c786c8f46bf" Type="http://schemas.openxmlformats.org/officeDocument/2006/relationships/slide" Target="slides/slide9.xml"/><Relationship Id="Re1c17423c74b47be" Type="http://schemas.openxmlformats.org/officeDocument/2006/relationships/slide" Target="slides/slide18.xml"/><Relationship Id="Rf0e65320f53843f2" Type="http://schemas.openxmlformats.org/officeDocument/2006/relationships/theme" Target="theme/theme1.xml"/><Relationship Id="Rf4309635174440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27d0bc00d63d4c24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8770bef22224997" Type="http://schemas.openxmlformats.org/officeDocument/2006/relationships/slide" Target="../slides/slide1.xml"/><Relationship Id="Reb13417e7147475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ee0e2565848b4410" Type="http://schemas.openxmlformats.org/officeDocument/2006/relationships/slide" Target="../slides/slide2.xml"/><Relationship Id="Rfcb987c4dd234158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a58a8ea8cfd948b4" Type="http://schemas.openxmlformats.org/officeDocument/2006/relationships/slide" Target="../slides/slide3.xml"/><Relationship Id="Read23b3a28764883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18c34572a97a4624" Type="http://schemas.openxmlformats.org/officeDocument/2006/relationships/slide" Target="../slides/slide4.xml"/><Relationship Id="R7e1130baa06b4f50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3993420de2864ca0" Type="http://schemas.openxmlformats.org/officeDocument/2006/relationships/notesMaster" Target="../notesMasters/notesMaster1.xml"/><Relationship Id="Rdea1ee19e1404a7c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10e8799d63ce4ef2" Type="http://schemas.openxmlformats.org/officeDocument/2006/relationships/notesMaster" Target="../notesMasters/notesMaster1.xml"/><Relationship Id="R8129a822265540f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2ffce186e2704e55" Type="http://schemas.openxmlformats.org/officeDocument/2006/relationships/slide" Target="../slides/slide7.xml"/><Relationship Id="Rc5a650d2cf004b5e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2b1c6fbdd917458c" Type="http://schemas.openxmlformats.org/officeDocument/2006/relationships/slide" Target="../slides/slide8.xml"/><Relationship Id="R50834a609b9040e9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3a78718a9b4f4a08" Type="http://schemas.openxmlformats.org/officeDocument/2006/relationships/notesMaster" Target="../notesMasters/notesMaster1.xml"/><Relationship Id="Ra5ac5b765c324a70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28d2cc5d7f2a4f01" Type="http://schemas.openxmlformats.org/officeDocument/2006/relationships/slide" Target="../slides/slide10.xml"/><Relationship Id="Rb4f6c637253b4839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94e2fb2fd1014f95" Type="http://schemas.openxmlformats.org/officeDocument/2006/relationships/slide" Target="../slides/slide11.xml"/><Relationship Id="Ree303172179d47e7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6f880603d8124ca8" Type="http://schemas.openxmlformats.org/officeDocument/2006/relationships/notesMaster" Target="../notesMasters/notesMaster1.xml"/><Relationship Id="Rd351bbbd41534ab4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9a1f65a3e2d54f96" Type="http://schemas.openxmlformats.org/officeDocument/2006/relationships/slide" Target="../slides/slide13.xml"/><Relationship Id="Rc516e0ff9c914597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1135c833c7464870" Type="http://schemas.openxmlformats.org/officeDocument/2006/relationships/slide" Target="../slides/slide14.xml"/><Relationship Id="Rac207a6ba152475e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297f3c4aeee1403f" Type="http://schemas.openxmlformats.org/officeDocument/2006/relationships/notesMaster" Target="../notesMasters/notesMaster1.xml"/><Relationship Id="Rfb1bd04951d744ea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1622d0fdfec848d1" Type="http://schemas.openxmlformats.org/officeDocument/2006/relationships/notesMaster" Target="../notesMasters/notesMaster1.xml"/><Relationship Id="R55c735b6b9ab4c84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9acebcb55ffc43d8" Type="http://schemas.openxmlformats.org/officeDocument/2006/relationships/slide" Target="../slides/slide17.xml"/><Relationship Id="Rc55d72b9556146d8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46cd6b67e0744a76" Type="http://schemas.openxmlformats.org/officeDocument/2006/relationships/slide" Target="../slides/slide18.xml"/><Relationship Id="R9bdcfd1d5bb54dff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330078dae9224b82" Type="http://schemas.openxmlformats.org/officeDocument/2006/relationships/notesMaster" Target="../notesMasters/notesMaster1.xml"/><Relationship Id="Rde879ebe1c94471e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06d57cb72a544357" Type="http://schemas.openxmlformats.org/officeDocument/2006/relationships/slide" Target="../slides/slide20.xml"/><Relationship Id="Rcca6516d6c5f4d59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Apresente a pergunta central: como prever o que acontece com um gás quando aquecemos, comprimimos ou deixamos expandir? Diga que a aula alternará previsões, testes no simulador, cálculos rápidos e explicações.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votação rápida com as mãos e peça duas justificativas. Não confirme ainda. Retome as respostas no slide 7, depois do experimento temperatura–pressão.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 animação à explicação: pressão é o efeito macroscópico de muitas colisões. Peça aos alunos que observem as cores/velocidades e formulem uma hipótese sobre o que muda ao aumentar 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https://openstax.org/books/college-physics-2e/pages/13-4-kinetic-theory-atomic-and-molecular-explanation-of-pressure-and-temperature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Dê significado a cada variável e às unidades usadas no Celestial Lab. Faça um teste oral: se V e n ficam constantes e T aumenta, qual lado da equação precisa acompanhar? Apresente as relações proporcionais como ferramentas de cálculo.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Você controla o Celestial Lab. Em cada rodada, mostre o que ficará constante, peça uma votação rápida — sobe, desce ou fica igual —, altere um controle e só então discuta o resultado. Os alunos registram uma palavra ou frase curta.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V = 6,0 L e 40 partículas. Você ajusta T para 200 K, 400 K e 600 K. Antes de cada mudança, a turma prevê se P sobe, desce ou fica igual. Valores esperados no modelo: aproximadamente 110,9; 221,7; 332,6 kPa. Conclusão: quando T dobra, P dobra. Não peça a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aos alunos que comparem seus dados com a tendência do gráfico. Retome o slide 2: num pneu, o volume varia pouco, portanto o aquecimento tende a elevar a pressão. Destaque que a proporcionalidade exige kelvin.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 escolha antes de qualquer conta. Resposta: 200 kPa. Como V e n são constantes, P é diretamente proporcional à temperatura em kelvin; quando T dobra, P dobra. Convide um aluno a justificar e então confirme a tendência no simulador.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T = 300 K e 40 partículas. Você ajusta V para 3,0 L, 6,0 L e 9,0 L. Antes de cada mudança, a turma prevê a tendência de P. Valores esperados: aproximadamente 332,6; 166,3; 110,9 kPa. Conclusão: quando V dobra, P cai à metade. Não exija cálculo de P×V nem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os alunos dizerem em voz alta o padrão inverso. Diferencie reta decrescente de relação inversa: o gráfico P×V é uma curva. Relacione com o produto aproximadamente constante calculado no experimento.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a votação entre 240, 120 e 60 kPa. Resposta: 60 kPa. Com T e n constantes, pressão e volume são inversamente proporcionais; quando V dobra, P cai à metade. A conta pode ser apenas 120 ÷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Leia a tabela por linhas. Peça um exemplo oral para cada transformação. Mostre que as três leis são recortes da mesma equação PV=nRT, sempre para quantidade de gás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8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três rodadas coletivas na aba Transformações. Em cada uma, a turma vota antes de você mover o controle. Gabarito: isotérmica — V aumenta, P diminui; isobárica — T aumenta, V aumenta; isocórica — T aumenta, P aumenta. Use os gráficos prontos apenas para confirmar as previsões.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C:/Users/User/Desktop/celestial-labv1/deck_assets/gases-transformacao-isotermica.png</a:t>
            </a:r>
          </a:p>
          <a:p xmlns:a="http://schemas.openxmlformats.org/drawingml/2006/main">
            <a:r>
              <a:t>- C:/Users/User/Desktop/celestial-labv1/deck_assets/gases-transformacao-isobarica.png</a:t>
            </a:r>
          </a:p>
          <a:p xmlns:a="http://schemas.openxmlformats.org/drawingml/2006/main">
            <a:r>
              <a:t>- C:/Users/User/Desktop/celestial-labv1/deck_assets/gases-transformacao-isocorica.png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uma pausa clara entre as duas partes da aula. Mostre apenas o sistema da animação 1 antes de apresentar qualquer equação. Pergunte: qual parte vamos chamar de sistema? Delimite o gás dentro do pistão; tudo que está fora é a vizinhança.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 Equations - Códigos/primeira_lei_termodinamica_16x9.py</a:t>
            </a:r>
          </a:p>
          <a:p xmlns:a="http://schemas.openxmlformats.org/drawingml/2006/main">
            <a:r>
              <a:t>- C:/Users/User/Desktop/celestial-labv1/Animacao_1_Primeira_Lei_Termodinamica.mp4</a:t>
            </a:r>
          </a:p>
          <a:p xmlns:a="http://schemas.openxmlformats.org/drawingml/2006/main">
            <a:r>
              <a:t>- https://pt.khanacademy.org/science/physics/thermodynamics/laws-of-thermodynamics/a/what-is-the-first-law-of-thermodynamics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Use o desenho para nomear somente três grandezas. Q é a energia transferida por calor; W é a energia transferida por trabalho; ΔU é a mudança da energia interna do gás. Evite falar de transformações gasosas nesta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https://pt.khanacademy.org/science/physics/thermodynamics/laws-of-thermodynamics/a/what-is-the-first-law-of-thermodynamics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Leia Q = ΔU + W em voz alta. Nesta aula, W representa o trabalho realizado pelo gás. Assim, Q &gt; 0 quando o calor entra; W &gt; 0 quando o gás realiza trabalho; ΔU &gt; 0 quando a energia interna aumenta. A Khan Academy também apresenta a convenção equivalente em que o trabalho sobre o sistema é positivo; não misture as duas durante a resolução.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https://pt.khanacademy.org/science/physics/thermodynamics/laws-of-thermodynamics/a/what-is-the-first-law-of-thermodynamics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Reproduza Animacao_1_Primeira_Lei_Termodinamica.mp4. Antes da equação aparecer, peça que a turma descreva o que observa: calor entrando, partículas mais agitadas e pistão subindo. No quadro final, conecte a cena a Q = ΔU + 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C:/Users/User/Desktop/celestial-labv1/Animacao_1_Primeira_Lei_Termodinamica.mp4</a:t>
            </a:r>
          </a:p>
          <a:p xmlns:a="http://schemas.openxmlformats.org/drawingml/2006/main">
            <a:r>
              <a:t>- C:/Users/User/Desktop/Celestial Equations - Códigos/primeira_lei_termodinamica_16x9.py</a:t>
            </a:r>
          </a:p>
          <a:p xmlns:a="http://schemas.openxmlformats.org/drawingml/2006/main">
            <a:r>
              <a:t>- https://pt.khanacademy.org/science/physics/thermodynamics/laws-of-thermodynamics/a/what-is-the-first-law-of-thermodynamics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Dê cerca de 20 segundos para a tentativa. Identifique Q = 100 J e W = 40 J. Em Q = ΔU + W, ΔU = 100 − 40 = 60 J. A conta tem uma única etapa: 40 J aparecem como trabalho e 60 J aumentam a energia interna.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https://pt.khanacademy.org/science/physics/thermodynamics/laws-of-thermodynamics/a/what-is-the-first-law-of-thermodynamics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Reproduza Animacao_2_Compressao_Convencao_Sinais.mp4. Pare depois que W &lt; 0 aparecer e pergunte quem realiza trabalho sobre quem. No exemplo isolado, Q = 0. Como Q = ΔU + W, temos ΔU = −W &gt; 0: o trabalho feito sobre o gás aumenta sua energia interna. Não introduza PΔV nem nomes de transformações.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C:/Users/User/Desktop/celestial-labv1/Animacao_2_Compressao_Convencao_Sinais.mp4</a:t>
            </a:r>
          </a:p>
          <a:p xmlns:a="http://schemas.openxmlformats.org/drawingml/2006/main">
            <a:r>
              <a:t>- C:/Users/User/Desktop/celestial-labv1/.deck_build/thermo_v2/animacao2_compressao_sinais.py</a:t>
            </a:r>
          </a:p>
          <a:p xmlns:a="http://schemas.openxmlformats.org/drawingml/2006/main">
            <a:r>
              <a:t>- https://pt.khanacademy.org/science/physics/thermodynamics/laws-of-thermodynamics/a/what-is-the-first-law-of-thermodynamics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Colete respostas individuais. Gabarito: (1) P sobe; (2) Q é calor transferido, ΔU é a mudança da energia interna e W é o trabalho realizado pelo gás; (3) 0 = ΔU − 40, portanto ΔU = 40 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https://pt.khanacademy.org/science/physics/thermodynamics/laws-of-thermodynamics/a/what-is-the-first-law-of-thermodynamics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eb9ebef667044ae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9a26b203e3c346aa" Type="http://schemas.openxmlformats.org/officeDocument/2006/relationships/slideLayout" Target="../slideLayouts/slideLayout1.xml"/><Relationship Id="Raf5be75f6e804717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26b203e3c346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b293b413fedc48c0" Type="http://schemas.openxmlformats.org/officeDocument/2006/relationships/image" Target="../media/image.jpeg"/><Relationship Id="Rb2d0bc9a58a94d2d" Type="http://schemas.openxmlformats.org/officeDocument/2006/relationships/notesSlide" Target="../notesSlides/notesSlide1.xml"/><Relationship Id="Re7ae1e647dec443a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d009f87fe73c4915" Type="http://schemas.openxmlformats.org/officeDocument/2006/relationships/notesSlide" Target="../notesSlides/notesSlide2.xml"/><Relationship Id="Re65acb23d16d456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3ec208fa5e8447e7" Type="http://schemas.openxmlformats.org/officeDocument/2006/relationships/slideLayout" Target="../slideLayouts/slideLayout1.xml"/><Relationship Id="R57617e3d7aa244fa" Type="http://schemas.openxmlformats.org/officeDocument/2006/relationships/notesSlide" Target="../notesSlides/notesSlide3.xml"/><Relationship Id="R6ddf0834936f47ce" Type="http://schemas.openxmlformats.org/officeDocument/2006/relationships/image" Target="../media/image2.jpeg"/></Relationships>
</file>

<file path=ppt/slides/_rels/slide4.xml.rels><?xml version='1.0' encoding='UTF-8' standalone='yes'?>
<Relationships xmlns="http://schemas.openxmlformats.org/package/2006/relationships"><Relationship Id="R648321aa7e8549db" Type="http://schemas.openxmlformats.org/officeDocument/2006/relationships/notesSlide" Target="../notesSlides/notesSlide4.xml"/><Relationship Id="Rbc7fe08b00fe4596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57a5c6f829c446f8" Type="http://schemas.openxmlformats.org/officeDocument/2006/relationships/slideLayout" Target="../slideLayouts/slideLayout1.xml"/><Relationship Id="R8eb9f92451894989" Type="http://schemas.openxmlformats.org/officeDocument/2006/relationships/image" Target="../media/image3.jpeg"/><Relationship Id="Rc7ce30b9b4a84c71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6f1e56ddfeb949fa" Type="http://schemas.openxmlformats.org/officeDocument/2006/relationships/notesSlide" Target="../notesSlides/notesSlide6.xml"/><Relationship Id="R848dcf8c85c64ce4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041815ddef714ea3" Type="http://schemas.openxmlformats.org/officeDocument/2006/relationships/notesSlide" Target="../notesSlides/notesSlide7.xml"/><Relationship Id="R467d59526ad44740" Type="http://schemas.openxmlformats.org/officeDocument/2006/relationships/chart" Target="charts/chart1.xml"/><Relationship Id="R8965b173e6434223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3ee58d871cce4de2" Type="http://schemas.openxmlformats.org/officeDocument/2006/relationships/slideLayout" Target="../slideLayouts/slideLayout1.xml"/><Relationship Id="R77a1b1454b7543d1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0f854fe93a574c10" Type="http://schemas.openxmlformats.org/officeDocument/2006/relationships/notesSlide" Target="../notesSlides/notesSlide9.xml"/><Relationship Id="R5dd8c9728fef47ec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2ce7b723e7414f8d" Type="http://schemas.openxmlformats.org/officeDocument/2006/relationships/chart" Target="charts/chart2.xml"/><Relationship Id="R5b3489d24bde41c5" Type="http://schemas.openxmlformats.org/officeDocument/2006/relationships/slideLayout" Target="../slideLayouts/slideLayout1.xml"/><Relationship Id="R887e92c559e340df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be58b503dbca404e" Type="http://schemas.openxmlformats.org/officeDocument/2006/relationships/notesSlide" Target="../notesSlides/notesSlide11.xml"/><Relationship Id="Rc69dda6847774417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37f67e90ec354948" Type="http://schemas.openxmlformats.org/officeDocument/2006/relationships/slideLayout" Target="../slideLayouts/slideLayout1.xml"/><Relationship Id="R48ed559f1473431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19ad08d62e8748f5" Type="http://schemas.openxmlformats.org/officeDocument/2006/relationships/notesSlide" Target="../notesSlides/notesSlide13.xml"/><Relationship Id="R69379fc67723440d" Type="http://schemas.openxmlformats.org/officeDocument/2006/relationships/slideLayout" Target="../slideLayouts/slideLayout1.xml"/><Relationship Id="Rcab31cdf005849a7" Type="http://schemas.openxmlformats.org/officeDocument/2006/relationships/image" Target="../media/image4.jpeg"/><Relationship Id="Rd97619a3570f4133" Type="http://schemas.openxmlformats.org/officeDocument/2006/relationships/image" Target="../media/image6.jpeg"/><Relationship Id="Rfddabacba85944fc" Type="http://schemas.openxmlformats.org/officeDocument/2006/relationships/image" Target="../media/image5.jpeg"/></Relationships>
</file>

<file path=ppt/slides/_rels/slide14.xml.rels><?xml version='1.0' encoding='UTF-8' standalone='yes'?>
<Relationships xmlns="http://schemas.openxmlformats.org/package/2006/relationships"><Relationship Id="R435fc65286154a9a" Type="http://schemas.openxmlformats.org/officeDocument/2006/relationships/image" Target="../media/image.png"/><Relationship Id="R8e2517b655a24c71" Type="http://schemas.openxmlformats.org/officeDocument/2006/relationships/notesSlide" Target="../notesSlides/notesSlide14.xml"/><Relationship Id="Re655db5766cb469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37e7bbce97fc400b" Type="http://schemas.openxmlformats.org/officeDocument/2006/relationships/slideLayout" Target="../slideLayouts/slideLayout1.xml"/><Relationship Id="R9bf736275b35483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204c1e633db3493e" Type="http://schemas.openxmlformats.org/officeDocument/2006/relationships/slideLayout" Target="../slideLayouts/slideLayout1.xml"/><Relationship Id="R406bb5a7012347f8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19326b0aa8e64154" Type="http://schemas.openxmlformats.org/officeDocument/2006/relationships/slideLayout" Target="../slideLayouts/slideLayout1.xml"/><Relationship Id="R480754ad94954658" Type="http://schemas.openxmlformats.org/officeDocument/2006/relationships/image" Target="../media/image2.png"/><Relationship Id="R506fa8f5d9d9474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b29a3a6a73b64d71" Type="http://schemas.openxmlformats.org/officeDocument/2006/relationships/slideLayout" Target="../slideLayouts/slideLayout1.xml"/><Relationship Id="Rd73f5f9648c54d1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1714acc6be754776" Type="http://schemas.openxmlformats.org/officeDocument/2006/relationships/notesSlide" Target="../notesSlides/notesSlide19.xml"/><Relationship Id="Rb015681d93944b67" Type="http://schemas.openxmlformats.org/officeDocument/2006/relationships/image" Target="../media/image3.png"/><Relationship Id="Rb9ba2b55f5cb47b2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5306916797504ad8" Type="http://schemas.openxmlformats.org/officeDocument/2006/relationships/notesSlide" Target="../notesSlides/notesSlide20.xml"/><Relationship Id="Rc0e1596da07a46ce" Type="http://schemas.openxmlformats.org/officeDocument/2006/relationships/slideLayout" Target="../slideLayouts/slideLayout1.xml"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temperatura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F28C45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F28C45"/>
              </a:solidFill>
            </c:spPr>
          </c:marker>
          <c:cat>
            <c:numLit>
              <c:formatCode>General</c:formatCode>
              <c:ptCount val="3"/>
              <c:pt idx="0">
                <c:v>200</c:v>
              </c:pt>
              <c:pt idx="1">
                <c:v>400</c:v>
              </c:pt>
              <c:pt idx="2">
                <c:v>600</c:v>
              </c:pt>
            </c:numLit>
          </c:cat>
          <c:val>
            <c:numLit>
              <c:formatCode>General</c:formatCode>
              <c:ptCount val="3"/>
              <c:pt idx="0">
                <c:v>110.9</c:v>
              </c:pt>
              <c:pt idx="1">
                <c:v>221.7</c:v>
              </c:pt>
              <c:pt idx="2">
                <c:v>332.6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3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T (K)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volume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5"/>
              <c:pt idx="0">
                <c:v>3,0</c:v>
              </c:pt>
              <c:pt idx="1">
                <c:v>4,5</c:v>
              </c:pt>
              <c:pt idx="2">
                <c:v>6,0</c:v>
              </c:pt>
              <c:pt idx="3">
                <c:v>7,5</c:v>
              </c:pt>
              <c:pt idx="4">
                <c:v>9,0</c:v>
              </c:pt>
            </c:strLit>
          </c:cat>
          <c:val>
            <c:numLit>
              <c:formatCode>General</c:formatCode>
              <c:ptCount val="5"/>
              <c:pt idx="0">
                <c:v>332.6</c:v>
              </c:pt>
              <c:pt idx="1">
                <c:v>221.7</c:v>
              </c:pt>
              <c:pt idx="2">
                <c:v>166.3</c:v>
              </c:pt>
              <c:pt idx="3">
                <c:v>133</c:v>
              </c:pt>
              <c:pt idx="4">
                <c:v>110.9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V (L)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868B525-06E0-45F5-8840-F730B126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FÍSICA • 1º ANO DO ENSINO MÉDIO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59F47C6-D359-454F-BD9D-D7B536D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5191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Gases ideais e</a:t>
            </a:r>
          </a:p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106D36E-6072-4341-BF3D-2D94FE0A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Do movimento das partículas à conservação de energia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8627104-CF7B-414C-9ECE-34553A80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59B2AB0-DDC9-4630-87B8-8791F01C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Aula investigativa com o Celestial Lab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9397600A-FCA9-4BC1-A2DA-98672C2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71475"/>
            <a:ext cx="5524500" cy="58293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93b413fedc48c0"/>
          <a:srcRect xmlns:a="http://schemas.openxmlformats.org/drawingml/2006/main" l="23342" t="0" r="233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467350" cy="5772150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  <p:sp>
        <p:nvSpPr>
          <p:cNvPr id="8" name="text-utgdpr5">
            <a:extLst xmlns:a="http://schemas.openxmlformats.org/drawingml/2006/main">
              <a:ext uri="{FF2B5EF4-FFF2-40B4-BE49-F238E27FC236}">
                <a16:creationId xmlns:a16="http://schemas.microsoft.com/office/drawing/2014/main" id="{75CC34EC-FB22-410F-8480-627BE481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7637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8505F0BE-F462-4F37-BEF1-9E9F15FB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10C242-21C3-4486-8268-D6DF5AE1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pneu muda sem ganhar nem perder ar?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CA28241-40E8-45A7-AAA2-0A46D530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2">
            <a:extLst xmlns:a="http://schemas.openxmlformats.org/drawingml/2006/main">
              <a:ext uri="{FF2B5EF4-FFF2-40B4-BE49-F238E27FC236}">
                <a16:creationId xmlns:a16="http://schemas.microsoft.com/office/drawing/2014/main" id="{44D75E7F-1412-4AA7-B7CD-F2E48467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hook-context">
            <a:extLst xmlns:a="http://schemas.openxmlformats.org/drawingml/2006/main">
              <a:ext uri="{FF2B5EF4-FFF2-40B4-BE49-F238E27FC236}">
                <a16:creationId xmlns:a16="http://schemas.microsoft.com/office/drawing/2014/main" id="{250707A1-339A-488D-8F5E-396BA134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carro sai cedo, com os pneus frios. Depois de rodar por uma hora, a temperatura do ar dentro deles aumenta.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00A269BA-0B8B-4DA1-B733-7F909C43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86100"/>
            <a:ext cx="872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lidx88i">
            <a:extLst xmlns:a="http://schemas.openxmlformats.org/drawingml/2006/main">
              <a:ext uri="{FF2B5EF4-FFF2-40B4-BE49-F238E27FC236}">
                <a16:creationId xmlns:a16="http://schemas.microsoft.com/office/drawing/2014/main" id="{CA45CE0A-4C73-4A9C-B48C-1D98E247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61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pressão tende a…</a:t>
            </a:r>
          </a:p>
        </p:txBody>
      </p:sp>
      <p:sp>
        <p:nvSpPr>
          <p:cNvPr id="8" name="text-z8yrxya">
            <a:extLst xmlns:a="http://schemas.openxmlformats.org/drawingml/2006/main">
              <a:ext uri="{FF2B5EF4-FFF2-40B4-BE49-F238E27FC236}">
                <a16:creationId xmlns:a16="http://schemas.microsoft.com/office/drawing/2014/main" id="{17BBB6DD-AB28-42A8-8968-AAB3806E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diminuir</a:t>
            </a:r>
          </a:p>
        </p:txBody>
      </p:sp>
      <p:sp>
        <p:nvSpPr>
          <p:cNvPr id="9" name="text-xvn5aul">
            <a:extLst xmlns:a="http://schemas.openxmlformats.org/drawingml/2006/main">
              <a:ext uri="{FF2B5EF4-FFF2-40B4-BE49-F238E27FC236}">
                <a16:creationId xmlns:a16="http://schemas.microsoft.com/office/drawing/2014/main" id="{3710E55E-DB36-491B-B588-AE4C3B98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9366E8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9366E8"/>
                </a:solidFill>
                <a:latin typeface="Arial"/>
                <a:ea typeface="Arial"/>
                <a:cs typeface="Arial"/>
              </a:rPr>
              <a:t>ficar igual</a:t>
            </a:r>
          </a:p>
        </p:txBody>
      </p:sp>
      <p:sp>
        <p:nvSpPr>
          <p:cNvPr id="10" name="text-6wlef9f">
            <a:extLst xmlns:a="http://schemas.openxmlformats.org/drawingml/2006/main">
              <a:ext uri="{FF2B5EF4-FFF2-40B4-BE49-F238E27FC236}">
                <a16:creationId xmlns:a16="http://schemas.microsoft.com/office/drawing/2014/main" id="{ABEDA3C8-A973-41B9-88ED-50EB67F1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aumentar</a:t>
            </a:r>
          </a:p>
        </p:txBody>
      </p:sp>
      <p:sp>
        <p:nvSpPr>
          <p:cNvPr id="11" name="text-tnhme7j">
            <a:extLst xmlns:a="http://schemas.openxmlformats.org/drawingml/2006/main">
              <a:ext uri="{FF2B5EF4-FFF2-40B4-BE49-F238E27FC236}">
                <a16:creationId xmlns:a16="http://schemas.microsoft.com/office/drawing/2014/main" id="{6A0D45F1-5EB9-4137-B828-E406C8D7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47687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10131A"/>
                </a:solidFill>
                <a:latin typeface="Arial"/>
                <a:ea typeface="Arial"/>
                <a:cs typeface="Arial"/>
              </a:rPr>
              <a:t>Escolha uma opção e justifique com partículas.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09F5DA-E34A-4727-99FB-020A0233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89973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nasce de colisões com as paredes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f0834936f47ce"/>
          <a:srcRect xmlns:a="http://schemas.openxmlformats.org/drawingml/2006/main" l="8743" t="0" r="87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5429250" cy="4143375"/>
          </a:xfrm>
          <a:prstGeom xmlns:a="http://schemas.openxmlformats.org/drawingml/2006/main" prst="roundRect">
            <a:avLst>
              <a:gd name="adj" fmla="val 3218"/>
            </a:avLst>
          </a:prstGeom>
        </p:spPr>
      </p:pic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Partículas em movimento aleatório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Elas se chocam entre si e com as paredes do recipiente.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Temperatura maior → partículas mais rápidas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Colisões mais frequentes e intensas podem elevar a pressão.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24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No modelo ideal, as partículas ocupam volume desprezível e as colisões são elásticas.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A1B11D18-1426-443A-BC44-0FEA0BD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026776-5F02-45D0-9869-A67CC8D9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Quatro grandezas descrevem o estado do gás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53FFFA5-3D42-400A-952F-550C5250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4">
            <a:extLst xmlns:a="http://schemas.openxmlformats.org/drawingml/2006/main">
              <a:ext uri="{FF2B5EF4-FFF2-40B4-BE49-F238E27FC236}">
                <a16:creationId xmlns:a16="http://schemas.microsoft.com/office/drawing/2014/main" id="{92065B15-2CF9-448F-93F0-3F6571DD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ideal-gas-equation">
            <a:extLst xmlns:a="http://schemas.openxmlformats.org/drawingml/2006/main">
              <a:ext uri="{FF2B5EF4-FFF2-40B4-BE49-F238E27FC236}">
                <a16:creationId xmlns:a16="http://schemas.microsoft.com/office/drawing/2014/main" id="{A0C87292-4776-45FC-AB9A-A8FB66D3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PV = nRT</a:t>
            </a:r>
          </a:p>
        </p:txBody>
      </p:sp>
      <p:sp>
        <p:nvSpPr>
          <p:cNvPr id="6" name="text-ctlurte">
            <a:extLst xmlns:a="http://schemas.openxmlformats.org/drawingml/2006/main">
              <a:ext uri="{FF2B5EF4-FFF2-40B4-BE49-F238E27FC236}">
                <a16:creationId xmlns:a16="http://schemas.microsoft.com/office/drawing/2014/main" id="{486A6B52-23AE-4739-A02E-76946AE5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equação organiza as relações que vamos testar — não é uma lista de letras para decorar.</a:t>
            </a:r>
          </a:p>
        </p:txBody>
      </p:sp>
      <p:sp>
        <p:nvSpPr>
          <p:cNvPr id="7" name="variables-panel">
            <a:extLst xmlns:a="http://schemas.openxmlformats.org/drawingml/2006/main">
              <a:ext uri="{FF2B5EF4-FFF2-40B4-BE49-F238E27FC236}">
                <a16:creationId xmlns:a16="http://schemas.microsoft.com/office/drawing/2014/main" id="{B7F141C4-ABFA-4149-BEC0-C95B50C7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953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aet0i7u">
            <a:extLst xmlns:a="http://schemas.openxmlformats.org/drawingml/2006/main">
              <a:ext uri="{FF2B5EF4-FFF2-40B4-BE49-F238E27FC236}">
                <a16:creationId xmlns:a16="http://schemas.microsoft.com/office/drawing/2014/main" id="{3D5A8FE0-09FC-49E3-99F8-E71AFB05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9" name="text-nfc49ta">
            <a:extLst xmlns:a="http://schemas.openxmlformats.org/drawingml/2006/main">
              <a:ext uri="{FF2B5EF4-FFF2-40B4-BE49-F238E27FC236}">
                <a16:creationId xmlns:a16="http://schemas.microsoft.com/office/drawing/2014/main" id="{2729582F-9F67-490C-B7CD-C2C14B7C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19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pressão</a:t>
            </a:r>
          </a:p>
        </p:txBody>
      </p:sp>
      <p:sp>
        <p:nvSpPr>
          <p:cNvPr id="10" name="text-6ji6lgk">
            <a:extLst xmlns:a="http://schemas.openxmlformats.org/drawingml/2006/main">
              <a:ext uri="{FF2B5EF4-FFF2-40B4-BE49-F238E27FC236}">
                <a16:creationId xmlns:a16="http://schemas.microsoft.com/office/drawing/2014/main" id="{84ACBE10-8535-44C1-B8AD-90447806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478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kPa</a:t>
            </a:r>
          </a:p>
        </p:txBody>
      </p:sp>
      <p:sp>
        <p:nvSpPr>
          <p:cNvPr id="11" name="text-lgjpo1a">
            <a:extLst xmlns:a="http://schemas.openxmlformats.org/drawingml/2006/main">
              <a:ext uri="{FF2B5EF4-FFF2-40B4-BE49-F238E27FC236}">
                <a16:creationId xmlns:a16="http://schemas.microsoft.com/office/drawing/2014/main" id="{BBFE154C-A067-46E8-8D2E-1EEC1848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2" name="text-ojd8v2i">
            <a:extLst xmlns:a="http://schemas.openxmlformats.org/drawingml/2006/main">
              <a:ext uri="{FF2B5EF4-FFF2-40B4-BE49-F238E27FC236}">
                <a16:creationId xmlns:a16="http://schemas.microsoft.com/office/drawing/2014/main" id="{B5D6CF6C-9EF8-4A36-92D4-CF09C0CD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volume</a:t>
            </a:r>
          </a:p>
        </p:txBody>
      </p:sp>
      <p:sp>
        <p:nvSpPr>
          <p:cNvPr id="13" name="text-mz2y33h">
            <a:extLst xmlns:a="http://schemas.openxmlformats.org/drawingml/2006/main">
              <a:ext uri="{FF2B5EF4-FFF2-40B4-BE49-F238E27FC236}">
                <a16:creationId xmlns:a16="http://schemas.microsoft.com/office/drawing/2014/main" id="{50A00C9F-0890-427E-A8B1-6077FE11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289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14" name="text-ftgywrw">
            <a:extLst xmlns:a="http://schemas.openxmlformats.org/drawingml/2006/main">
              <a:ext uri="{FF2B5EF4-FFF2-40B4-BE49-F238E27FC236}">
                <a16:creationId xmlns:a16="http://schemas.microsoft.com/office/drawing/2014/main" id="{A7C67CCA-A4DD-421B-B7BC-A6AE0D31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623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5" name="text-djhvbsf">
            <a:extLst xmlns:a="http://schemas.openxmlformats.org/drawingml/2006/main">
              <a:ext uri="{FF2B5EF4-FFF2-40B4-BE49-F238E27FC236}">
                <a16:creationId xmlns:a16="http://schemas.microsoft.com/office/drawing/2014/main" id="{63A9F649-ACF2-40A5-B3AB-D9FA536B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81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quantidade de gás</a:t>
            </a:r>
          </a:p>
        </p:txBody>
      </p:sp>
      <p:sp>
        <p:nvSpPr>
          <p:cNvPr id="16" name="text-mwsrrsp">
            <a:extLst xmlns:a="http://schemas.openxmlformats.org/drawingml/2006/main">
              <a:ext uri="{FF2B5EF4-FFF2-40B4-BE49-F238E27FC236}">
                <a16:creationId xmlns:a16="http://schemas.microsoft.com/office/drawing/2014/main" id="{83668D86-153E-47AC-8DE2-FEA4A0BC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099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mol / partículas</a:t>
            </a:r>
          </a:p>
        </p:txBody>
      </p:sp>
      <p:sp>
        <p:nvSpPr>
          <p:cNvPr id="17" name="text-ah1583m">
            <a:extLst xmlns:a="http://schemas.openxmlformats.org/drawingml/2006/main">
              <a:ext uri="{FF2B5EF4-FFF2-40B4-BE49-F238E27FC236}">
                <a16:creationId xmlns:a16="http://schemas.microsoft.com/office/drawing/2014/main" id="{FC0A069A-931D-4BD5-A396-E1FC779C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434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8" name="text-fbuicsq">
            <a:extLst xmlns:a="http://schemas.openxmlformats.org/drawingml/2006/main">
              <a:ext uri="{FF2B5EF4-FFF2-40B4-BE49-F238E27FC236}">
                <a16:creationId xmlns:a16="http://schemas.microsoft.com/office/drawing/2014/main" id="{DE470E1E-83B9-46E0-83E5-9B6B8561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62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absoluta</a:t>
            </a:r>
          </a:p>
        </p:txBody>
      </p:sp>
      <p:sp>
        <p:nvSpPr>
          <p:cNvPr id="19" name="text-p66fpch">
            <a:extLst xmlns:a="http://schemas.openxmlformats.org/drawingml/2006/main">
              <a:ext uri="{FF2B5EF4-FFF2-40B4-BE49-F238E27FC236}">
                <a16:creationId xmlns:a16="http://schemas.microsoft.com/office/drawing/2014/main" id="{FBD0771C-732F-4293-BBDA-41120941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910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20" name="kelvin-note">
            <a:extLst xmlns:a="http://schemas.openxmlformats.org/drawingml/2006/main">
              <a:ext uri="{FF2B5EF4-FFF2-40B4-BE49-F238E27FC236}">
                <a16:creationId xmlns:a16="http://schemas.microsoft.com/office/drawing/2014/main" id="{41768260-9663-4FB5-AEF2-B3268822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hl09t8y">
            <a:extLst xmlns:a="http://schemas.openxmlformats.org/drawingml/2006/main">
              <a:ext uri="{FF2B5EF4-FFF2-40B4-BE49-F238E27FC236}">
                <a16:creationId xmlns:a16="http://schemas.microsoft.com/office/drawing/2014/main" id="{9EB5DBD7-F3FA-4D66-B22E-93B28B03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Nas leis dos gases, use temperatura em kelvin.</a:t>
            </a:r>
          </a:p>
        </p:txBody>
      </p:sp>
      <p:sp>
        <p:nvSpPr>
          <p:cNvPr id="22" name="text-llqhpf2">
            <a:extLst xmlns:a="http://schemas.openxmlformats.org/drawingml/2006/main">
              <a:ext uri="{FF2B5EF4-FFF2-40B4-BE49-F238E27FC236}">
                <a16:creationId xmlns:a16="http://schemas.microsoft.com/office/drawing/2014/main" id="{E0C0807B-858E-44E1-BD6D-C38D61C9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R é a constante universal dos gases.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CE085D6-0D35-4167-B307-C82102C7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021243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2B6CC835-A04D-4523-A269-B31C5C1B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92AE7E-AF07-403E-A9CF-C2851AC6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Na demonstração, observe uma variável por vez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01DF8EE-2D8E-4386-ABD1-3B94B21A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5">
            <a:extLst xmlns:a="http://schemas.openxmlformats.org/drawingml/2006/main">
              <a:ext uri="{FF2B5EF4-FFF2-40B4-BE49-F238E27FC236}">
                <a16:creationId xmlns:a16="http://schemas.microsoft.com/office/drawing/2014/main" id="{46CD96B6-6DF5-41F7-A280-E1524E03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0612D709-2C8D-46C8-923B-715D3F4A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tep-1-text">
            <a:extLst xmlns:a="http://schemas.openxmlformats.org/drawingml/2006/main">
              <a:ext uri="{FF2B5EF4-FFF2-40B4-BE49-F238E27FC236}">
                <a16:creationId xmlns:a16="http://schemas.microsoft.com/office/drawing/2014/main" id="{8EB88951-8A03-43EF-A1C5-D2B405FC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o que ficará constante.</a:t>
            </a:r>
          </a:p>
        </p:txBody>
      </p:sp>
      <p:sp>
        <p:nvSpPr>
          <p:cNvPr id="7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58E28088-7D2B-4980-9F3E-94143E09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tep-2-text">
            <a:extLst xmlns:a="http://schemas.openxmlformats.org/drawingml/2006/main">
              <a:ext uri="{FF2B5EF4-FFF2-40B4-BE49-F238E27FC236}">
                <a16:creationId xmlns:a16="http://schemas.microsoft.com/office/drawing/2014/main" id="{8D66469B-A500-4A04-A668-FCF407B7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Faça uma previsão curta.</a:t>
            </a:r>
          </a:p>
        </p:txBody>
      </p:sp>
      <p:sp>
        <p:nvSpPr>
          <p:cNvPr id="9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E3195B2E-0F38-40B4-9041-EAB8040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step-3-text">
            <a:extLst xmlns:a="http://schemas.openxmlformats.org/drawingml/2006/main">
              <a:ext uri="{FF2B5EF4-FFF2-40B4-BE49-F238E27FC236}">
                <a16:creationId xmlns:a16="http://schemas.microsoft.com/office/drawing/2014/main" id="{F9CD62F5-7A96-4AF9-92A8-488B9A0B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move um controle.</a:t>
            </a:r>
          </a:p>
        </p:txBody>
      </p:sp>
      <p:sp>
        <p:nvSpPr>
          <p:cNvPr id="11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391F440A-19B4-4A38-BBFA-EA25D849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step-4-text">
            <a:extLst xmlns:a="http://schemas.openxmlformats.org/drawingml/2006/main">
              <a:ext uri="{FF2B5EF4-FFF2-40B4-BE49-F238E27FC236}">
                <a16:creationId xmlns:a16="http://schemas.microsoft.com/office/drawing/2014/main" id="{54216E60-35E8-41D7-B885-4F2116F8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Registre: subiu, desceu ou ficou igual.</a:t>
            </a:r>
          </a:p>
        </p:txBody>
      </p:sp>
      <p:sp>
        <p:nvSpPr>
          <p:cNvPr id="1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89C06BC4-7945-4C28-951A-005A437C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66875"/>
            <a:ext cx="6781800" cy="4295775"/>
          </a:xfrm>
          <a:prstGeom xmlns:a="http://schemas.openxmlformats.org/drawingml/2006/main" prst="roundRect">
            <a:avLst>
              <a:gd name="adj" fmla="val 354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b9f92451894989"/>
          <a:stretch xmlns:a="http://schemas.openxmlformats.org/drawingml/2006/main"/>
        </p:blipFill>
        <p:spPr>
          <a:xfrm xmlns:a="http://schemas.openxmlformats.org/drawingml/2006/main">
            <a:off x="4933950" y="1697449"/>
            <a:ext cx="6724650" cy="4234626"/>
          </a:xfrm>
          <a:prstGeom xmlns:a="http://schemas.openxmlformats.org/drawingml/2006/main" prst="roundRect">
            <a:avLst>
              <a:gd name="adj" fmla="val 3146"/>
            </a:avLst>
          </a:prstGeom>
        </p:spPr>
      </p:pic>
      <p:sp>
        <p:nvSpPr>
          <p:cNvPr id="15" name="text-qyz355l">
            <a:extLst xmlns:a="http://schemas.openxmlformats.org/drawingml/2006/main">
              <a:ext uri="{FF2B5EF4-FFF2-40B4-BE49-F238E27FC236}">
                <a16:creationId xmlns:a16="http://schemas.microsoft.com/office/drawing/2014/main" id="{37A75A5C-55D6-48DF-AB70-130D928F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Vote antes de cada teste.</a:t>
            </a:r>
          </a:p>
        </p:txBody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250C83D-9261-4C31-8F69-81905329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5037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3F1453AE-1AB9-4715-8B18-E439A79C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0AB2A8-BBC6-45FB-9F9B-C7C3D9C8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1: aquecer sem deixar expandir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9EEC861-0764-4A47-A9FB-0CCAD181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6">
            <a:extLst xmlns:a="http://schemas.openxmlformats.org/drawingml/2006/main">
              <a:ext uri="{FF2B5EF4-FFF2-40B4-BE49-F238E27FC236}">
                <a16:creationId xmlns:a16="http://schemas.microsoft.com/office/drawing/2014/main" id="{0A97D231-3153-4351-87E6-D4E30D35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-j1gq0xy">
            <a:extLst xmlns:a="http://schemas.openxmlformats.org/drawingml/2006/main">
              <a:ext uri="{FF2B5EF4-FFF2-40B4-BE49-F238E27FC236}">
                <a16:creationId xmlns:a16="http://schemas.microsoft.com/office/drawing/2014/main" id="{4B42C2DF-DBCB-405D-98DD-6E23F92F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V = 6,0 L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3E8DF890-AF1D-44F8-849C-801A5348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BF3D2291-BD2B-4AA2-80A7-374CB0C5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T = 200 K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979AB800-6534-4D0B-980F-10B50D37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ABF0753F-4EB0-47A3-8C1B-64485B2E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400 K e 600 K.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6C367F32-310F-4C54-906F-5968882A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2EE299E7-9803-4B8D-8A6A-5449C183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C6FCCDC7-3C8C-45C4-99E6-73B583C2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DEC76DED-D4DE-4709-9C92-02FA90D9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T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115050" y="2000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 (K)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prediction-prompt">
            <a:extLst xmlns:a="http://schemas.openxmlformats.org/drawingml/2006/main">
              <a:ext uri="{FF2B5EF4-FFF2-40B4-BE49-F238E27FC236}">
                <a16:creationId xmlns:a16="http://schemas.microsoft.com/office/drawing/2014/main" id="{25D2EA02-335F-46EA-A24A-C515AF81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hkw0fcl">
            <a:extLst xmlns:a="http://schemas.openxmlformats.org/drawingml/2006/main">
              <a:ext uri="{FF2B5EF4-FFF2-40B4-BE49-F238E27FC236}">
                <a16:creationId xmlns:a16="http://schemas.microsoft.com/office/drawing/2014/main" id="{60EAE2A0-C685-4963-ADF4-3AD093D7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1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20DFC5D-A9E5-4D80-9259-8FF96353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75539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C388F127-7111-49AF-B39F-25A198BF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8D8D55-744C-4709-A77A-489DF110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volume constante, P acompanha 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7B8274-9788-4284-8527-7BCF4318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7">
            <a:extLst xmlns:a="http://schemas.openxmlformats.org/drawingml/2006/main">
              <a:ext uri="{FF2B5EF4-FFF2-40B4-BE49-F238E27FC236}">
                <a16:creationId xmlns:a16="http://schemas.microsoft.com/office/drawing/2014/main" id="{6CC0A9D6-4562-4C36-8460-DF10E713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6572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7d59526ad44740"/>
          </a:graphicData>
        </a:graphic>
      </p:graphicFrame>
      <p:sp>
        <p:nvSpPr>
          <p:cNvPr id="6" name="text-npft33j">
            <a:extLst xmlns:a="http://schemas.openxmlformats.org/drawingml/2006/main">
              <a:ext uri="{FF2B5EF4-FFF2-40B4-BE49-F238E27FC236}">
                <a16:creationId xmlns:a16="http://schemas.microsoft.com/office/drawing/2014/main" id="{7AA218DB-1923-4A3F-9AB2-4F423CBC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V e n constantes</a:t>
            </a:r>
          </a:p>
        </p:txBody>
      </p:sp>
      <p:sp>
        <p:nvSpPr>
          <p:cNvPr id="7" name="text-9v4r9gz">
            <a:extLst xmlns:a="http://schemas.openxmlformats.org/drawingml/2006/main">
              <a:ext uri="{FF2B5EF4-FFF2-40B4-BE49-F238E27FC236}">
                <a16:creationId xmlns:a16="http://schemas.microsoft.com/office/drawing/2014/main" id="{D24315F3-746D-4537-9C65-8B30FD23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P / T = constante</a:t>
            </a:r>
          </a:p>
        </p:txBody>
      </p:sp>
      <p:sp>
        <p:nvSpPr>
          <p:cNvPr id="8" name="text-2wwt5av">
            <a:extLst xmlns:a="http://schemas.openxmlformats.org/drawingml/2006/main">
              <a:ext uri="{FF2B5EF4-FFF2-40B4-BE49-F238E27FC236}">
                <a16:creationId xmlns:a16="http://schemas.microsoft.com/office/drawing/2014/main" id="{34A362BE-7258-45DB-A142-41B9343C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maior → partículas mais rápidas → colisões mais intensas → pressão maior.</a:t>
            </a:r>
          </a:p>
        </p:txBody>
      </p:sp>
      <p:sp>
        <p:nvSpPr>
          <p:cNvPr id="9" name="hook-answer">
            <a:extLst xmlns:a="http://schemas.openxmlformats.org/drawingml/2006/main">
              <a:ext uri="{FF2B5EF4-FFF2-40B4-BE49-F238E27FC236}">
                <a16:creationId xmlns:a16="http://schemas.microsoft.com/office/drawing/2014/main" id="{7C7AA510-9D14-4F27-AC73-E58C0E57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816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ccqjhm0">
            <a:extLst xmlns:a="http://schemas.openxmlformats.org/drawingml/2006/main">
              <a:ext uri="{FF2B5EF4-FFF2-40B4-BE49-F238E27FC236}">
                <a16:creationId xmlns:a16="http://schemas.microsoft.com/office/drawing/2014/main" id="{B714D864-84EC-4E55-8A6C-E07705B6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530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Voltando ao pneu: a pressão aumenta.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CEB88E-83C3-4738-A2E5-E868D96B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23840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T: 300 K → 600 K; P inicial = 100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50, 100 ou 200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184B7438-1C4F-4774-AB7D-46C8CA7F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2D3EF3-510B-4D3D-9F92-CC55113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2: expandir sem aquecer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963694-74E2-46C0-A176-3CB126B5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8">
            <a:extLst xmlns:a="http://schemas.openxmlformats.org/drawingml/2006/main">
              <a:ext uri="{FF2B5EF4-FFF2-40B4-BE49-F238E27FC236}">
                <a16:creationId xmlns:a16="http://schemas.microsoft.com/office/drawing/2014/main" id="{3923B34B-DDC9-441C-83DE-88BFD150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ext-e0a65jk">
            <a:extLst xmlns:a="http://schemas.openxmlformats.org/drawingml/2006/main">
              <a:ext uri="{FF2B5EF4-FFF2-40B4-BE49-F238E27FC236}">
                <a16:creationId xmlns:a16="http://schemas.microsoft.com/office/drawing/2014/main" id="{6C17F9FD-8712-4496-9B4E-90DB159A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T = 300 K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9BA43900-D12F-48D4-A39B-C3C1134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09449D8E-DAED-4D70-91C0-24B5C5F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V = 3,0 L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0DFAE3BF-F5C7-42A5-9003-B40E826F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EDC02611-4DD7-4847-BDCC-35F4D2CC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6,0 L e 9,0 L.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8C0BFCBA-EC33-4E06-9C0F-60019913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0DEDD5D3-F6F6-4738-8EC5-0C7C46F6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721804F3-99AB-4EC8-A85D-40472F62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932F6151-BC2D-4CB1-A450-A6C33D15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V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115050" y="2000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 (L)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3,0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9,0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volume-prediction">
            <a:extLst xmlns:a="http://schemas.openxmlformats.org/drawingml/2006/main">
              <a:ext uri="{FF2B5EF4-FFF2-40B4-BE49-F238E27FC236}">
                <a16:creationId xmlns:a16="http://schemas.microsoft.com/office/drawing/2014/main" id="{CFEC5DE9-E541-43D4-A645-DF444F7D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u04m0c">
            <a:extLst xmlns:a="http://schemas.openxmlformats.org/drawingml/2006/main">
              <a:ext uri="{FF2B5EF4-FFF2-40B4-BE49-F238E27FC236}">
                <a16:creationId xmlns:a16="http://schemas.microsoft.com/office/drawing/2014/main" id="{C41EC01D-2CB1-4C80-98E9-BBE67067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1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0B98D1-B235-4784-B9BD-75345828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1027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593B793A-7B9C-4707-BA84-B908FBC5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6A7158-A8A9-44E9-8234-BA29EC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 constante, aumentar V reduz P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F6C96C3-9D1F-49A2-956F-A3072102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9">
            <a:extLst xmlns:a="http://schemas.openxmlformats.org/drawingml/2006/main">
              <a:ext uri="{FF2B5EF4-FFF2-40B4-BE49-F238E27FC236}">
                <a16:creationId xmlns:a16="http://schemas.microsoft.com/office/drawing/2014/main" id="{D0C35F70-22E6-4BC6-853D-854C4F05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e7b723e7414f8d"/>
          </a:graphicData>
        </a:graphic>
      </p:graphicFrame>
      <p:sp>
        <p:nvSpPr>
          <p:cNvPr id="6" name="text-q1i70iz">
            <a:extLst xmlns:a="http://schemas.openxmlformats.org/drawingml/2006/main">
              <a:ext uri="{FF2B5EF4-FFF2-40B4-BE49-F238E27FC236}">
                <a16:creationId xmlns:a16="http://schemas.microsoft.com/office/drawing/2014/main" id="{82671F90-68C3-4E75-93FE-9FD40A46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T e n constantes</a:t>
            </a:r>
          </a:p>
        </p:txBody>
      </p:sp>
      <p:sp>
        <p:nvSpPr>
          <p:cNvPr id="7" name="text-wbbwgea">
            <a:extLst xmlns:a="http://schemas.openxmlformats.org/drawingml/2006/main">
              <a:ext uri="{FF2B5EF4-FFF2-40B4-BE49-F238E27FC236}">
                <a16:creationId xmlns:a16="http://schemas.microsoft.com/office/drawing/2014/main" id="{78C652B2-5161-4CFB-BA27-B8733DF9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 × V = constante</a:t>
            </a:r>
          </a:p>
        </p:txBody>
      </p:sp>
      <p:sp>
        <p:nvSpPr>
          <p:cNvPr id="8" name="text-n7gceh3">
            <a:extLst xmlns:a="http://schemas.openxmlformats.org/drawingml/2006/main">
              <a:ext uri="{FF2B5EF4-FFF2-40B4-BE49-F238E27FC236}">
                <a16:creationId xmlns:a16="http://schemas.microsoft.com/office/drawing/2014/main" id="{FB8131E1-255A-4337-98CF-570B92B4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Menos espaço → mais encontros com as paredes por intervalo de tempo → pressão maior.</a:t>
            </a:r>
          </a:p>
        </p:txBody>
      </p:sp>
      <p:sp>
        <p:nvSpPr>
          <p:cNvPr id="9" name="inverse-callout">
            <a:extLst xmlns:a="http://schemas.openxmlformats.org/drawingml/2006/main">
              <a:ext uri="{FF2B5EF4-FFF2-40B4-BE49-F238E27FC236}">
                <a16:creationId xmlns:a16="http://schemas.microsoft.com/office/drawing/2014/main" id="{014429FC-5180-47B7-933D-F7F6700E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387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uaa07ie">
            <a:extLst xmlns:a="http://schemas.openxmlformats.org/drawingml/2006/main">
              <a:ext uri="{FF2B5EF4-FFF2-40B4-BE49-F238E27FC236}">
                <a16:creationId xmlns:a16="http://schemas.microsoft.com/office/drawing/2014/main" id="{03454AF7-32E8-40D7-A1DA-F44A9EDE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911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Dobrar V reduz P à metade.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38E057-7865-4B1C-948D-6F98E0BF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266787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V: 4,0 L → 8,0 L; P inicial = 120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240, 120 ou 60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5EB9514F-70E8-41E7-9BCD-2DA1A339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B6243B-25AB-401B-B415-FD4EB6E0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fixa uma grandeza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CA0B417-786D-444D-BB28-463E5BF8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5B2B05BA-C480-409F-A365-C0592024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33400" y="1790700"/>
          <a:ext xmlns:a="http://schemas.openxmlformats.org/drawingml/2006/main" cx="111252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619250"/>
                <a:gridCol w="2476500"/>
                <a:gridCol w="2381250"/>
                <a:gridCol w="2552700"/>
              </a:tblGrid>
              <a:tr h="91916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Transformação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Constante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Controle livre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Gráfico no Celestial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Isotérmica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Volume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P·V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Isobárica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Isocórica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7qxhztu">
            <a:extLst xmlns:a="http://schemas.openxmlformats.org/drawingml/2006/main">
              <a:ext uri="{FF2B5EF4-FFF2-40B4-BE49-F238E27FC236}">
                <a16:creationId xmlns:a16="http://schemas.microsoft.com/office/drawing/2014/main" id="{6AFE972A-C4F1-4D8C-8227-988EF34C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721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Regra de ouro: identifique primeiro o que permanece constante.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7E2B71F-ABD4-4F5D-813F-A8BC03C2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036881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AE61DB03-F300-4FD5-8853-255643E3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3A87B3-A3F5-4B02-9885-DF2D66A7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Três previsões; três testes no Celestial Lab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71C839A-9BFC-41BD-95E2-98594C92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659A8CAD-32CE-44F6-BFA5-9AE41CAE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text-kvsdpsd">
            <a:extLst xmlns:a="http://schemas.openxmlformats.org/drawingml/2006/main">
              <a:ext uri="{FF2B5EF4-FFF2-40B4-BE49-F238E27FC236}">
                <a16:creationId xmlns:a16="http://schemas.microsoft.com/office/drawing/2014/main" id="{05F9BF97-6981-4397-B62C-CA137289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Isotérmica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030C63E7-E8CA-40AA-AE3D-73C15C0F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b31cdf005849a7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8" name="text-yeilbsy">
            <a:extLst xmlns:a="http://schemas.openxmlformats.org/drawingml/2006/main">
              <a:ext uri="{FF2B5EF4-FFF2-40B4-BE49-F238E27FC236}">
                <a16:creationId xmlns:a16="http://schemas.microsoft.com/office/drawing/2014/main" id="{AE82284D-02CC-4ACF-9F69-883DDF2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9" name="text-1eanlnu">
            <a:extLst xmlns:a="http://schemas.openxmlformats.org/drawingml/2006/main">
              <a:ext uri="{FF2B5EF4-FFF2-40B4-BE49-F238E27FC236}">
                <a16:creationId xmlns:a16="http://schemas.microsoft.com/office/drawing/2014/main" id="{76BCE19A-94EF-4CF6-AF3E-B50A61A4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Isobárica</a:t>
            </a:r>
          </a:p>
        </p:txBody>
      </p:sp>
      <p:sp>
        <p:nvSpPr>
          <p:cNvPr id="10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22CDE6AE-FC7C-4FFD-B20E-3DEF226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dabacba85944fc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481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2" name="text-89glrhe">
            <a:extLst xmlns:a="http://schemas.openxmlformats.org/drawingml/2006/main">
              <a:ext uri="{FF2B5EF4-FFF2-40B4-BE49-F238E27FC236}">
                <a16:creationId xmlns:a16="http://schemas.microsoft.com/office/drawing/2014/main" id="{EA0E13FF-53BA-4A9C-8CB7-5CEB9E97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V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3" name="text-mn0pupv">
            <a:extLst xmlns:a="http://schemas.openxmlformats.org/drawingml/2006/main">
              <a:ext uri="{FF2B5EF4-FFF2-40B4-BE49-F238E27FC236}">
                <a16:creationId xmlns:a16="http://schemas.microsoft.com/office/drawing/2014/main" id="{3CEE17DC-64E1-4F0D-A638-CE0DF11D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Isocórica</a:t>
            </a:r>
          </a:p>
        </p:txBody>
      </p:sp>
      <p:sp>
        <p:nvSpPr>
          <p:cNvPr id="14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5A62022-C5D7-48D8-864F-C62F5AC5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619a3570f4133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438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6" name="text-uiax9ui">
            <a:extLst xmlns:a="http://schemas.openxmlformats.org/drawingml/2006/main">
              <a:ext uri="{FF2B5EF4-FFF2-40B4-BE49-F238E27FC236}">
                <a16:creationId xmlns:a16="http://schemas.microsoft.com/office/drawing/2014/main" id="{6E19147C-F53E-45CF-92E5-720133C9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463D073-F957-4C6D-B7FE-556751BC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578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u1xrmv7">
            <a:extLst xmlns:a="http://schemas.openxmlformats.org/drawingml/2006/main">
              <a:ext uri="{FF2B5EF4-FFF2-40B4-BE49-F238E27FC236}">
                <a16:creationId xmlns:a16="http://schemas.microsoft.com/office/drawing/2014/main" id="{8BB9043A-A7F1-4D45-AABD-4D051007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48350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 turma vota. O professor move o controle. O gráfico confirma.</a:t>
            </a:r>
          </a:p>
        </p:txBody>
      </p:sp>
      <p:sp>
        <p:nvSpPr>
          <p:cNvPr id="1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D83965E-3B7B-406A-AEB4-53C688E0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758733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868B525-06E0-45F5-8840-F730B126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59F47C6-D359-454F-BD9D-D7B536D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5191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106D36E-6072-4341-BF3D-2D94FE0A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Calor, energia interna e trabalho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8627104-CF7B-414C-9ECE-34553A80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59B2AB0-DDC9-4630-87B8-8791F01C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Agora seguimos o caminho da energia.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9397600A-FCA9-4BC1-A2DA-98672C2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71475"/>
            <a:ext cx="5524500" cy="58293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8" name="text-utgdpr5">
            <a:extLst xmlns:a="http://schemas.openxmlformats.org/drawingml/2006/main">
              <a:ext uri="{FF2B5EF4-FFF2-40B4-BE49-F238E27FC236}">
                <a16:creationId xmlns:a16="http://schemas.microsoft.com/office/drawing/2014/main" id="{75CC34EC-FB22-410F-8480-627BE481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fc65286154a9a"/>
          <a:srcRect xmlns:a="http://schemas.openxmlformats.org/drawingml/2006/main" l="0" t="47" r="0" b="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467350" cy="5772150"/>
          </a:xfrm>
          <a:prstGeom xmlns:a="http://schemas.openxmlformats.org/drawingml/2006/main" prst="roundRect">
            <a:avLst>
              <a:gd name="adj" fmla="val 2091"/>
            </a:avLst>
          </a:prstGeom>
        </p:spPr>
      </p:pic>
    </p:spTree>
    <p:extLst>
      <p:ext uri="{BB962C8B-B14F-4D97-AF65-F5344CB8AC3E}">
        <p14:creationId xmlns:p14="http://schemas.microsoft.com/office/powerpoint/2010/main" val="13976375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EEAC3E19-365D-4B13-A402-4E639D57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947874-E086-4515-9D7B-FE387AB8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dentro do pistão é 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B96B3D4-0F33-48B0-BF5E-A2DCBEC8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4C0FC5AE-422D-457C-87D3-78675B53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text-w7w423h">
            <a:extLst xmlns:a="http://schemas.openxmlformats.org/drawingml/2006/main">
              <a:ext uri="{FF2B5EF4-FFF2-40B4-BE49-F238E27FC236}">
                <a16:creationId xmlns:a16="http://schemas.microsoft.com/office/drawing/2014/main" id="{5D6AE144-7059-4048-BED5-6FAE7684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CALOR (Q)</a:t>
            </a:r>
          </a:p>
        </p:txBody>
      </p:sp>
      <p:sp>
        <p:nvSpPr>
          <p:cNvPr id="6" name="text-9pvnr3q">
            <a:extLst xmlns:a="http://schemas.openxmlformats.org/drawingml/2006/main">
              <a:ext uri="{FF2B5EF4-FFF2-40B4-BE49-F238E27FC236}">
                <a16:creationId xmlns:a16="http://schemas.microsoft.com/office/drawing/2014/main" id="{BC74B7B0-BFD3-4122-AA42-82A93F0D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que entra ou sai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do sistema</a:t>
            </a:r>
          </a:p>
        </p:txBody>
      </p:sp>
      <p:sp>
        <p:nvSpPr>
          <p:cNvPr id="7" name="text-kavayxw">
            <a:extLst xmlns:a="http://schemas.openxmlformats.org/drawingml/2006/main">
              <a:ext uri="{FF2B5EF4-FFF2-40B4-BE49-F238E27FC236}">
                <a16:creationId xmlns:a16="http://schemas.microsoft.com/office/drawing/2014/main" id="{D1093A28-D7BE-4054-84DB-A5A4E29C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62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ext-hrk1zq6">
            <a:extLst xmlns:a="http://schemas.openxmlformats.org/drawingml/2006/main">
              <a:ext uri="{FF2B5EF4-FFF2-40B4-BE49-F238E27FC236}">
                <a16:creationId xmlns:a16="http://schemas.microsoft.com/office/drawing/2014/main" id="{A0728E45-D9DB-4BFE-9125-94A7308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system-box">
            <a:extLst xmlns:a="http://schemas.openxmlformats.org/drawingml/2006/main">
              <a:ext uri="{FF2B5EF4-FFF2-40B4-BE49-F238E27FC236}">
                <a16:creationId xmlns:a16="http://schemas.microsoft.com/office/drawing/2014/main" id="{C35CE9B6-9CC0-4C22-9EDE-419B8F71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76450"/>
            <a:ext cx="4419600" cy="25717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10" name="text-hnh3luu">
            <a:extLst xmlns:a="http://schemas.openxmlformats.org/drawingml/2006/main">
              <a:ext uri="{FF2B5EF4-FFF2-40B4-BE49-F238E27FC236}">
                <a16:creationId xmlns:a16="http://schemas.microsoft.com/office/drawing/2014/main" id="{4F45F8A1-873D-46EE-94A0-09AC499D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GÁS</a:t>
            </a:r>
          </a:p>
        </p:txBody>
      </p:sp>
      <p:sp>
        <p:nvSpPr>
          <p:cNvPr id="11" name="text-r3xpi84">
            <a:extLst xmlns:a="http://schemas.openxmlformats.org/drawingml/2006/main">
              <a:ext uri="{FF2B5EF4-FFF2-40B4-BE49-F238E27FC236}">
                <a16:creationId xmlns:a16="http://schemas.microsoft.com/office/drawing/2014/main" id="{2A974CB3-42CB-4B67-B663-59A17788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sistema</a:t>
            </a:r>
          </a:p>
        </p:txBody>
      </p:sp>
      <p:sp>
        <p:nvSpPr>
          <p:cNvPr id="12" name="text-s381127">
            <a:extLst xmlns:a="http://schemas.openxmlformats.org/drawingml/2006/main">
              <a:ext uri="{FF2B5EF4-FFF2-40B4-BE49-F238E27FC236}">
                <a16:creationId xmlns:a16="http://schemas.microsoft.com/office/drawing/2014/main" id="{7ED08A15-1B6A-4FA1-B441-92CC7393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909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mudança: ΔU</a:t>
            </a:r>
          </a:p>
        </p:txBody>
      </p:sp>
      <p:sp>
        <p:nvSpPr>
          <p:cNvPr id="13" name="text-2wq5hwa">
            <a:extLst xmlns:a="http://schemas.openxmlformats.org/drawingml/2006/main">
              <a:ext uri="{FF2B5EF4-FFF2-40B4-BE49-F238E27FC236}">
                <a16:creationId xmlns:a16="http://schemas.microsoft.com/office/drawing/2014/main" id="{37804189-02F6-4766-BFFB-C1779608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52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TRABALHO W</a:t>
            </a:r>
          </a:p>
        </p:txBody>
      </p:sp>
      <p:sp>
        <p:nvSpPr>
          <p:cNvPr id="14" name="text-br3a57l">
            <a:extLst xmlns:a="http://schemas.openxmlformats.org/drawingml/2006/main">
              <a:ext uri="{FF2B5EF4-FFF2-40B4-BE49-F238E27FC236}">
                <a16:creationId xmlns:a16="http://schemas.microsoft.com/office/drawing/2014/main" id="{79E93434-A28D-4D98-ACA6-3DFA10E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28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transferida pelo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movimento do pistão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F328EC2-5464-4AAD-8013-83DEAEB4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24450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lhibmuz">
            <a:extLst xmlns:a="http://schemas.openxmlformats.org/drawingml/2006/main">
              <a:ext uri="{FF2B5EF4-FFF2-40B4-BE49-F238E27FC236}">
                <a16:creationId xmlns:a16="http://schemas.microsoft.com/office/drawing/2014/main" id="{E32C00FD-EC6B-4F64-B578-5E27431A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67350"/>
            <a:ext cx="906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Q e W transferem energia; ΔU mede a mudança da energia interna.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41F0A15-891B-4315-9169-CBF60025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279360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C0431A7E-92EF-4078-86A0-B6514DDB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AF007C-0FDE-4156-9592-951C1745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1ª Lei acompanha Q, ΔU e W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9AADDB6-8E92-4897-8F98-1D6010D0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B2AF8E86-0B4E-48E5-8198-16E6BAF4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first-law">
            <a:extLst xmlns:a="http://schemas.openxmlformats.org/drawingml/2006/main">
              <a:ext uri="{FF2B5EF4-FFF2-40B4-BE49-F238E27FC236}">
                <a16:creationId xmlns:a16="http://schemas.microsoft.com/office/drawing/2014/main" id="{A4182F71-DCFC-402E-B058-CACB9D5C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57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Q = ΔU + W</a:t>
            </a:r>
          </a:p>
        </p:txBody>
      </p:sp>
      <p:sp>
        <p:nvSpPr>
          <p:cNvPr id="6" name="text-r4fsmis">
            <a:extLst xmlns:a="http://schemas.openxmlformats.org/drawingml/2006/main">
              <a:ext uri="{FF2B5EF4-FFF2-40B4-BE49-F238E27FC236}">
                <a16:creationId xmlns:a16="http://schemas.microsoft.com/office/drawing/2014/main" id="{FB4AD577-E1AB-4C8F-9FB1-45E3ED8F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calor = mudança interna + trabalho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9748A67-D974-420D-AEB0-C075E286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hqbobar">
            <a:extLst xmlns:a="http://schemas.openxmlformats.org/drawingml/2006/main">
              <a:ext uri="{FF2B5EF4-FFF2-40B4-BE49-F238E27FC236}">
                <a16:creationId xmlns:a16="http://schemas.microsoft.com/office/drawing/2014/main" id="{99167D14-D924-476A-B960-75FDA5DC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383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Q &gt; 0</a:t>
            </a:r>
          </a:p>
        </p:txBody>
      </p:sp>
      <p:sp>
        <p:nvSpPr>
          <p:cNvPr id="9" name="text-ua6emk4">
            <a:extLst xmlns:a="http://schemas.openxmlformats.org/drawingml/2006/main">
              <a:ext uri="{FF2B5EF4-FFF2-40B4-BE49-F238E27FC236}">
                <a16:creationId xmlns:a16="http://schemas.microsoft.com/office/drawing/2014/main" id="{3593AEEF-3FD1-4EE1-8857-1650E498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574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calor entra no sistema</a:t>
            </a:r>
          </a:p>
        </p:txBody>
      </p:sp>
      <p:sp>
        <p:nvSpPr>
          <p:cNvPr id="10" name="text-nqrtg31">
            <a:extLst xmlns:a="http://schemas.openxmlformats.org/drawingml/2006/main">
              <a:ext uri="{FF2B5EF4-FFF2-40B4-BE49-F238E27FC236}">
                <a16:creationId xmlns:a16="http://schemas.microsoft.com/office/drawing/2014/main" id="{7E8F1CAC-F7D3-4BFE-8490-E570C2CB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623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 &gt; 0</a:t>
            </a:r>
          </a:p>
        </p:txBody>
      </p:sp>
      <p:sp>
        <p:nvSpPr>
          <p:cNvPr id="11" name="text-zpbfhj3">
            <a:extLst xmlns:a="http://schemas.openxmlformats.org/drawingml/2006/main">
              <a:ext uri="{FF2B5EF4-FFF2-40B4-BE49-F238E27FC236}">
                <a16:creationId xmlns:a16="http://schemas.microsoft.com/office/drawing/2014/main" id="{C0C246CA-3B99-4D8C-A20A-17663866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trabalho</a:t>
            </a:r>
          </a:p>
        </p:txBody>
      </p:sp>
      <p:sp>
        <p:nvSpPr>
          <p:cNvPr id="12" name="text-ogiuhaw">
            <a:extLst xmlns:a="http://schemas.openxmlformats.org/drawingml/2006/main">
              <a:ext uri="{FF2B5EF4-FFF2-40B4-BE49-F238E27FC236}">
                <a16:creationId xmlns:a16="http://schemas.microsoft.com/office/drawing/2014/main" id="{C661CBDA-1305-42D0-8988-CBCC8CDF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862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ΔU &gt; 0</a:t>
            </a:r>
          </a:p>
        </p:txBody>
      </p:sp>
      <p:sp>
        <p:nvSpPr>
          <p:cNvPr id="13" name="text-jba0h6z">
            <a:extLst xmlns:a="http://schemas.openxmlformats.org/drawingml/2006/main">
              <a:ext uri="{FF2B5EF4-FFF2-40B4-BE49-F238E27FC236}">
                <a16:creationId xmlns:a16="http://schemas.microsoft.com/office/drawing/2014/main" id="{A032CD80-E676-4074-847C-236E1DD8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053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energia interna aumenta</a:t>
            </a:r>
          </a:p>
        </p:txBody>
      </p:sp>
      <p:sp>
        <p:nvSpPr>
          <p:cNvPr id="14" name="energy-balance">
            <a:extLst xmlns:a="http://schemas.openxmlformats.org/drawingml/2006/main">
              <a:ext uri="{FF2B5EF4-FFF2-40B4-BE49-F238E27FC236}">
                <a16:creationId xmlns:a16="http://schemas.microsoft.com/office/drawing/2014/main" id="{E35A724B-8478-4E0B-8638-4E8B841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3n7bmqn">
            <a:extLst xmlns:a="http://schemas.openxmlformats.org/drawingml/2006/main">
              <a:ext uri="{FF2B5EF4-FFF2-40B4-BE49-F238E27FC236}">
                <a16:creationId xmlns:a16="http://schemas.microsoft.com/office/drawing/2014/main" id="{27377B22-F657-42D8-8102-EB900A5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4820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A energia se conserva: os sinais mostram para onde ela foi.</a:t>
            </a:r>
          </a:p>
        </p:txBody>
      </p:sp>
      <p:sp>
        <p:nvSpPr>
          <p:cNvPr id="16" name="text-5g2b4um">
            <a:extLst xmlns:a="http://schemas.openxmlformats.org/drawingml/2006/main">
              <a:ext uri="{FF2B5EF4-FFF2-40B4-BE49-F238E27FC236}">
                <a16:creationId xmlns:a16="http://schemas.microsoft.com/office/drawing/2014/main" id="{0226B248-CA10-4FD6-B9B7-BB3CBA72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054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Aqui, W é o trabalho realizado pelo gás.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3E0A63B-8432-40CA-9FE4-F19B0865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802207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Animação 1 — calor entra no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o sistema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Q entra no gás e as partículas se agitam mais.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Pergunta durante a animação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O que muda no gás e no pistão?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24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calor recebido se distribui entre ΔU e W.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0754ad94954658"/>
          <a:stretch xmlns:a="http://schemas.openxmlformats.org/drawingml/2006/main"/>
        </p:blipFill>
        <p:spPr>
          <a:xfrm xmlns:a="http://schemas.openxmlformats.org/drawingml/2006/main">
            <a:off x="533400" y="2240161"/>
            <a:ext cx="5429250" cy="3053953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Conta rápida — para onde foram 100 J?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recebe Q = 100 J.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W = 40 J.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Em Q = ΔU + W, qual é o valor de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 segundos em dupla → depois, explique.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Animação 2 — compressão e sinais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a compressão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Quem realiza trabalho sobre quem?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Convenção desta aula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W &lt; 0: trabalho realizado sobre o gás.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24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Q = 0: ΔU = −W &gt; 0; a energia interna aumenta.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15681d93944b67"/>
          <a:stretch xmlns:a="http://schemas.openxmlformats.org/drawingml/2006/main"/>
        </p:blipFill>
        <p:spPr>
          <a:xfrm xmlns:a="http://schemas.openxmlformats.org/drawingml/2006/main">
            <a:off x="533400" y="2240161"/>
            <a:ext cx="5429250" cy="3053953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Saída — três respostas curtas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 fixo, se T aumenta, P sobe ou desce?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Em Q = ΔU + W, o que Q, ΔU e W representam?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Q = 0 e W = −40 J, qual é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Poucas palavras e uma conta.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2026-08-23T17:59:50.2500000Z</dcterms:created>
  <dcterms:modified xsi:type="dcterms:W3CDTF">2026-08-23T17:59:50.2500000Z</dcterms:modified>
</coreProperties>
</file>