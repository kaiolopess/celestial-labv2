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2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582c8a100364890" /><Relationship Type="http://schemas.openxmlformats.org/officeDocument/2006/relationships/extended-properties" Target="/docProps/app.xml" Id="R77e7dfb9276b4b77" /><Relationship Type="http://schemas.openxmlformats.org/officeDocument/2006/relationships/officeDocument" Target="/ppt/presentation.xml" Id="R1e047db632a94ff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100fef8424044cd"/>
  </p:sldMasterIdLst>
  <p:notesMasterIdLst>
    <p:notesMasterId xmlns:r="http://schemas.openxmlformats.org/officeDocument/2006/relationships" r:id="R6b2bcdb566b14622"/>
  </p:notesMasterIdLst>
  <p:sldIdLst>
    <p:sldId xmlns:r="http://schemas.openxmlformats.org/officeDocument/2006/relationships" id="256" r:id="Rc5b5cfb9cb15455b"/>
    <p:sldId xmlns:r="http://schemas.openxmlformats.org/officeDocument/2006/relationships" id="257" r:id="R270ef38fc0364912"/>
    <p:sldId xmlns:r="http://schemas.openxmlformats.org/officeDocument/2006/relationships" id="258" r:id="Rcd6f32bd613d4a89"/>
    <p:sldId xmlns:r="http://schemas.openxmlformats.org/officeDocument/2006/relationships" id="259" r:id="R8252b0451dba46c7"/>
    <p:sldId xmlns:r="http://schemas.openxmlformats.org/officeDocument/2006/relationships" id="260" r:id="R6a367e41cf5a4102"/>
    <p:sldId xmlns:r="http://schemas.openxmlformats.org/officeDocument/2006/relationships" id="261" r:id="R56ae7f1eb86a483f"/>
    <p:sldId xmlns:r="http://schemas.openxmlformats.org/officeDocument/2006/relationships" id="262" r:id="R4c2fd441f5b64755"/>
    <p:sldId xmlns:r="http://schemas.openxmlformats.org/officeDocument/2006/relationships" id="263" r:id="Ra1aa0f593b764e07"/>
    <p:sldId xmlns:r="http://schemas.openxmlformats.org/officeDocument/2006/relationships" id="264" r:id="Rb23d2b5bbd3a4092"/>
    <p:sldId xmlns:r="http://schemas.openxmlformats.org/officeDocument/2006/relationships" id="265" r:id="R577faa4bac2b4268"/>
    <p:sldId xmlns:r="http://schemas.openxmlformats.org/officeDocument/2006/relationships" id="266" r:id="Re1c76cdde06d40f0"/>
    <p:sldId xmlns:r="http://schemas.openxmlformats.org/officeDocument/2006/relationships" id="267" r:id="R35e1a7d9f8214455"/>
    <p:sldId xmlns:r="http://schemas.openxmlformats.org/officeDocument/2006/relationships" id="268" r:id="R01a9cb8579e84838"/>
    <p:sldId xmlns:r="http://schemas.openxmlformats.org/officeDocument/2006/relationships" id="269" r:id="R8d359ebdf5894b56"/>
    <p:sldId xmlns:r="http://schemas.openxmlformats.org/officeDocument/2006/relationships" id="270" r:id="R97649663a3d74fb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5a40135930b4035" /><Relationship Type="http://schemas.openxmlformats.org/officeDocument/2006/relationships/slideMaster" Target="/ppt/slideMasters/slideMaster1.xml" Id="Rf100fef8424044cd" /><Relationship Type="http://schemas.openxmlformats.org/officeDocument/2006/relationships/notesMaster" Target="/ppt/notesMasters/notesMaster1.xml" Id="R6b2bcdb566b14622" /><Relationship Type="http://schemas.openxmlformats.org/officeDocument/2006/relationships/presProps" Target="/ppt/presProps.xml" Id="R6c842a25fced4800" /><Relationship Type="http://schemas.openxmlformats.org/officeDocument/2006/relationships/tableStyles" Target="/ppt/tableStyles.xml" Id="Rc748590442ed4dfe" /><Relationship Type="http://schemas.openxmlformats.org/officeDocument/2006/relationships/slide" Target="/ppt/slides/slide1.xml" Id="Rc5b5cfb9cb15455b" /><Relationship Type="http://schemas.openxmlformats.org/officeDocument/2006/relationships/slide" Target="/ppt/slides/slide2.xml" Id="R270ef38fc0364912" /><Relationship Type="http://schemas.openxmlformats.org/officeDocument/2006/relationships/slide" Target="/ppt/slides/slide3.xml" Id="Rcd6f32bd613d4a89" /><Relationship Type="http://schemas.openxmlformats.org/officeDocument/2006/relationships/slide" Target="/ppt/slides/slide4.xml" Id="R8252b0451dba46c7" /><Relationship Type="http://schemas.openxmlformats.org/officeDocument/2006/relationships/slide" Target="/ppt/slides/slide5.xml" Id="R6a367e41cf5a4102" /><Relationship Type="http://schemas.openxmlformats.org/officeDocument/2006/relationships/slide" Target="/ppt/slides/slide6.xml" Id="R56ae7f1eb86a483f" /><Relationship Type="http://schemas.openxmlformats.org/officeDocument/2006/relationships/slide" Target="/ppt/slides/slide7.xml" Id="R4c2fd441f5b64755" /><Relationship Type="http://schemas.openxmlformats.org/officeDocument/2006/relationships/slide" Target="/ppt/slides/slide8.xml" Id="Ra1aa0f593b764e07" /><Relationship Type="http://schemas.openxmlformats.org/officeDocument/2006/relationships/slide" Target="/ppt/slides/slide9.xml" Id="Rb23d2b5bbd3a4092" /><Relationship Type="http://schemas.openxmlformats.org/officeDocument/2006/relationships/slide" Target="/ppt/slides/slide10.xml" Id="R577faa4bac2b4268" /><Relationship Type="http://schemas.openxmlformats.org/officeDocument/2006/relationships/slide" Target="/ppt/slides/slide11.xml" Id="Re1c76cdde06d40f0" /><Relationship Type="http://schemas.openxmlformats.org/officeDocument/2006/relationships/slide" Target="/ppt/slides/slide12.xml" Id="R35e1a7d9f8214455" /><Relationship Type="http://schemas.openxmlformats.org/officeDocument/2006/relationships/slide" Target="/ppt/slides/slide13.xml" Id="R01a9cb8579e84838" /><Relationship Type="http://schemas.openxmlformats.org/officeDocument/2006/relationships/slide" Target="/ppt/slides/slide14.xml" Id="R8d359ebdf5894b56" /><Relationship Type="http://schemas.openxmlformats.org/officeDocument/2006/relationships/slide" Target="/ppt/slides/slide15.xml" Id="R97649663a3d74fb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08c1f101da1481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d768e8f23834084" /><Relationship Type="http://schemas.openxmlformats.org/officeDocument/2006/relationships/notesMaster" Target="/ppt/notesMasters/notesMaster1.xml" Id="R0c7ebd76d4dc4b7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b5424ac7f9940dc" /><Relationship Type="http://schemas.openxmlformats.org/officeDocument/2006/relationships/notesMaster" Target="/ppt/notesMasters/notesMaster1.xml" Id="R33b01124815d470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3f0da03060f4778" /><Relationship Type="http://schemas.openxmlformats.org/officeDocument/2006/relationships/notesMaster" Target="/ppt/notesMasters/notesMaster1.xml" Id="R507c55971c9b48e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bff87b21ac64c6d" /><Relationship Type="http://schemas.openxmlformats.org/officeDocument/2006/relationships/notesMaster" Target="/ppt/notesMasters/notesMaster1.xml" Id="R43855b4d51d54de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2cead7dd78d4ddc" /><Relationship Type="http://schemas.openxmlformats.org/officeDocument/2006/relationships/notesMaster" Target="/ppt/notesMasters/notesMaster1.xml" Id="R1ef657991d2748c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c8765f712bc4688" /><Relationship Type="http://schemas.openxmlformats.org/officeDocument/2006/relationships/notesMaster" Target="/ppt/notesMasters/notesMaster1.xml" Id="Rfe43d631739d442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943a7b01e5b4459" /><Relationship Type="http://schemas.openxmlformats.org/officeDocument/2006/relationships/notesMaster" Target="/ppt/notesMasters/notesMaster1.xml" Id="R776173033086464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6685a1fda2a4386" /><Relationship Type="http://schemas.openxmlformats.org/officeDocument/2006/relationships/notesMaster" Target="/ppt/notesMasters/notesMaster1.xml" Id="R7b4a2a661a614e7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b43f03abec4496d" /><Relationship Type="http://schemas.openxmlformats.org/officeDocument/2006/relationships/notesMaster" Target="/ppt/notesMasters/notesMaster1.xml" Id="R6da194b60763451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b59b3850e9d4e48" /><Relationship Type="http://schemas.openxmlformats.org/officeDocument/2006/relationships/notesMaster" Target="/ppt/notesMasters/notesMaster1.xml" Id="R7e11d5c5698d491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f378021c0244556" /><Relationship Type="http://schemas.openxmlformats.org/officeDocument/2006/relationships/notesMaster" Target="/ppt/notesMasters/notesMaster1.xml" Id="R9094464c1f6b457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67232d71c884966" /><Relationship Type="http://schemas.openxmlformats.org/officeDocument/2006/relationships/notesMaster" Target="/ppt/notesMasters/notesMaster1.xml" Id="R14f7c603120e4a4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6b0bbe0ed2a4bbb" /><Relationship Type="http://schemas.openxmlformats.org/officeDocument/2006/relationships/notesMaster" Target="/ppt/notesMasters/notesMaster1.xml" Id="Raad291b888d146d7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376b64600e04039" /><Relationship Type="http://schemas.openxmlformats.org/officeDocument/2006/relationships/notesMaster" Target="/ppt/notesMasters/notesMaster1.xml" Id="Rfbe4159d5f7d40e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a9ddfb1199a40ee" /><Relationship Type="http://schemas.openxmlformats.org/officeDocument/2006/relationships/notesMaster" Target="/ppt/notesMasters/notesMaster1.xml" Id="R4fb7fcba530b4d3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2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Apresente a pergunta central: como prever o que acontece com um gás quando aquecemos, comprimimos ou deixamos expandir? Diga que a aula alternará previsões, testes no simulador e explicações.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C:/Users/User/Desktop/celestial-labv1/deck_assets/gases-laboratorio.png</a:t>
            </a:r>
          </a:p>
          <a:p xmlns:a="http://schemas.openxmlformats.org/drawingml/2006/main">
            <a:r>
              <a:t>- C:/Users/User/Desktop/celestial-labv1/simulations/IdealGasSim.tsx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4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Faça votação rápida com as mãos e peça duas justificativas. Não confirme ainda. Retome as respostas no slide 7, depois do experimento temperatura–pressão.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https://openstax.org/books/chemistry/pages/9-2-relating-pressure-volume-amount-and-temperature-the-ideal-gas-law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5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Conecte a animação à explicação: pressão é o efeito macroscópico de muitas colisões. Peça aos alunos que observem as cores/velocidades e formulem uma hipótese sobre o que muda ao aumentar 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C:/Users/User/Desktop/celestial-labv1/deck_assets/gases-laboratorio-full.png</a:t>
            </a:r>
          </a:p>
          <a:p xmlns:a="http://schemas.openxmlformats.org/drawingml/2006/main">
            <a:r>
              <a:t>- https://openstax.org/books/college-physics-2e/pages/13-4-kinetic-theory-atomic-and-molecular-explanation-of-pressure-and-temperature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6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Dê significado a cada variável e às unidades usadas no Celestial Lab. Faça um teste oral: se V e n ficam constantes e T aumenta, qual lado da equação precisa acompanhar? Evite cálculos longos neste momento.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https://openstax.org/books/chemistry/pages/9-2-relating-pressure-volume-amount-and-temperature-the-ideal-gas-law</a:t>
            </a:r>
          </a:p>
          <a:p xmlns:a="http://schemas.openxmlformats.org/drawingml/2006/main">
            <a:r>
              <a:t>- C:/Users/User/Desktop/celestial-labv1/simulations/IdealGasSim.tsx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4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Projete o Celestial Lab. Mostre as abas Laboratório e Transformações, o botão Resetar e os controles de T, V e Partículas. Reforce controle de variáveis: uma relação só fica clara quando as demais permanecem constantes.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C:/Users/User/Desktop/celestial-labv1/deck_assets/gases-laboratorio-full.png</a:t>
            </a:r>
          </a:p>
          <a:p xmlns:a="http://schemas.openxmlformats.org/drawingml/2006/main">
            <a:r>
              <a:t>- C:/Users/User/Desktop/celestial-labv1/simulations/IdealGasSim.tsx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8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Organize duplas. Antes do primeiro ajuste, peça uma previsão escrita. Valores esperados no modelo: aproximadamente 110,9; 221,7; 332,6 kPa. Circule verificando se V e o número de partículas foram mantidos. Não forneça os valores antes da coleta.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C:/Users/User/Desktop/celestial-labv1/simulations/IdealGasSim.tsx</a:t>
            </a:r>
          </a:p>
          <a:p xmlns:a="http://schemas.openxmlformats.org/drawingml/2006/main">
            <a:r>
              <a:t>- https://openstax.org/books/chemistry/pages/9-2-relating-pressure-volume-amount-and-temperature-the-ideal-gas-law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3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Peça aos alunos que comparem seus dados com a tendência do gráfico. Retome o slide 2: num pneu, o volume varia pouco, portanto o aquecimento tende a elevar a pressão. Destaque que a proporcionalidade exige kelvin.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C:/Users/User/Desktop/celestial-labv1/simulations/IdealGasSim.tsx</a:t>
            </a:r>
          </a:p>
          <a:p xmlns:a="http://schemas.openxmlformats.org/drawingml/2006/main">
            <a:r>
              <a:t>- https://openstax.org/books/chemistry/pages/9-2-relating-pressure-volume-amount-and-temperature-the-ideal-gas-law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8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Peça nova previsão antes de mover o pistão. Valores esperados: cerca de 332,6; 166,3; 110,9 kPa. O produto P×V deve permanecer próximo de 997,7 kPa·L. Aceite pequenas diferenças de leitura/arredondamento.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C:/Users/User/Desktop/celestial-labv1/simulations/IdealGasSim.tsx</a:t>
            </a:r>
          </a:p>
          <a:p xmlns:a="http://schemas.openxmlformats.org/drawingml/2006/main">
            <a:r>
              <a:t>- https://openstax.org/books/chemistry/pages/9-2-relating-pressure-volume-amount-and-temperature-the-ideal-gas-law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3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Faça os alunos dizerem em voz alta o padrão inverso. Diferencie 'reta decrescente' de relação inversa: o gráfico P×V é uma curva. Relacione com o produto aproximadamente constante calculado no experimento.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C:/Users/User/Desktop/celestial-labv1/simulations/IdealGasSim.tsx</a:t>
            </a:r>
          </a:p>
          <a:p xmlns:a="http://schemas.openxmlformats.org/drawingml/2006/main">
            <a:r>
              <a:t>- https://openstax.org/books/chemistry/pages/9-2-relating-pressure-volume-amount-and-temperature-the-ideal-gas-law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6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Leia a tabela por linhas. Peça um exemplo oral para cada transformação. Mostre que as três leis são recortes da mesma equação PV=nRT, sempre para quantidade de gás constante.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https://openstax.org/books/chemistry/pages/9-2-relating-pressure-volume-amount-and-temperature-the-ideal-gas-law</a:t>
            </a:r>
          </a:p>
          <a:p xmlns:a="http://schemas.openxmlformats.org/drawingml/2006/main">
            <a:r>
              <a:t>- C:/Users/User/Desktop/celestial-labv1/simulations/IdealGasSim.tsx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10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Divida a turma em três grupos ou fileiras. Cada grupo deve mover o controle livre o suficiente para formar o gráfico e preparar uma fala de 30 segundos. Após 7 minutos, faça apresentações rápidas de 1 minuto por grupo. Se houver poucos dispositivos, conduza coletivamente e atribua a cada grupo a explicação.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C:/Users/User/Desktop/celestial-labv1/deck_assets/gases-transformacao-isotermica.png</a:t>
            </a:r>
          </a:p>
          <a:p xmlns:a="http://schemas.openxmlformats.org/drawingml/2006/main">
            <a:r>
              <a:t>- C:/Users/User/Desktop/celestial-labv1/deck_assets/gases-transformacao-isobarica.png</a:t>
            </a:r>
          </a:p>
          <a:p xmlns:a="http://schemas.openxmlformats.org/drawingml/2006/main">
            <a:r>
              <a:t>- C:/Users/User/Desktop/celestial-labv1/deck_assets/gases-transformacao-isocorica.png</a:t>
            </a:r>
          </a:p>
          <a:p xmlns:a="http://schemas.openxmlformats.org/drawingml/2006/main">
            <a:r>
              <a:t>- C:/Users/User/Desktop/celestial-labv1/simulations/IdealGasSim.tsx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6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Defina o gás como sistema e o restante como vizinhança. Diferencie calor de temperatura: calor é transferência de energia devido a uma diferença de temperatura. Trabalho aparece quando o gás desloca o pistão. Evite dizer que o corpo 'tem calor'.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https://openstax.org/books/college-physics/pages/15-1-the-first-law-of-thermodynamics</a:t>
            </a:r>
          </a:p>
          <a:p xmlns:a="http://schemas.openxmlformats.org/drawingml/2006/main">
            <a:r>
              <a:t>- https://openstax.org/books/university-physics-volume-2/pages/3-3-first-law-of-thermodynamics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6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Apresente a convenção adotada: Q positivo entra no sistema; W positivo é trabalho feito pelo gás. Faça dois exemplos mentais: (1) recipiente rígido aquecido: W=0, então ΔU=Q; (2) gás isolado expandindo: Q=0 e W&gt;0, então ΔU diminui.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https://openstax.org/books/university-physics-volume-2/pages/3-3-first-law-of-thermodynamics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5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Conecte as linhas aos gráficos do desafio. Na isocórica não há deslocamento do pistão. Na isotérmica de um gás ideal, a energia interna não muda porque T não muda; durante expansão, calor recebido compensa o trabalho. Na isobárica, o calor recebido se divide entre aumento de U e trabalho.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https://openstax.org/books/university-physics-volume-2/pages/3-3-first-law-of-thermodynamics</a:t>
            </a:r>
          </a:p>
          <a:p xmlns:a="http://schemas.openxmlformats.org/drawingml/2006/main">
            <a:r>
              <a:t>- https://openstax.org/books/college-physics-ap-courses/pages/15-2-the-first-law-of-thermodynamics-and-some-simple-processes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Tempo: 4 min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Condução: Colete respostas individuais. Gabarito: (1) partículas mais rápidas colidem mais intensamente/frequentemente com as paredes; (2) a pressão cai à metade; (3) ΔU=100−40=60 J. Use as respostas para decidir a retomada da próxima aula.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https://openstax.org/books/chemistry/pages/9-2-relating-pressure-volume-amount-and-temperature-the-ideal-gas-law</a:t>
            </a:r>
          </a:p>
          <a:p xmlns:a="http://schemas.openxmlformats.org/drawingml/2006/main">
            <a:r>
              <a:t>- https://openstax.org/books/university-physics-volume-2/pages/3-3-first-law-of-thermodynamics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c716bdd8b44ed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fe68411444c4261" /><Relationship Type="http://schemas.openxmlformats.org/officeDocument/2006/relationships/slideLayout" Target="/ppt/slideLayouts/slideLayout1.xml" Id="Rb1add58dc6544b2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1add58dc6544b2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dc38ffc39cc4869" /><Relationship Type="http://schemas.openxmlformats.org/officeDocument/2006/relationships/image" Target="/ppt/media/image.jpeg" Id="Rff0169b1ca4a4139" /><Relationship Type="http://schemas.openxmlformats.org/officeDocument/2006/relationships/notesSlide" Target="/ppt/notesSlides/notesSlide1.xml" Id="Rf34ffe5002d24a1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b0b816b4ea42e4" /><Relationship Type="http://schemas.openxmlformats.org/officeDocument/2006/relationships/notesSlide" Target="/ppt/notesSlides/notesSlide2.xml" Id="R78ed4a34396f419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76172e7e1f460f" /><Relationship Type="http://schemas.openxmlformats.org/officeDocument/2006/relationships/image" Target="/ppt/media/image2.jpeg" Id="Rda8b65a0dee54664" /><Relationship Type="http://schemas.openxmlformats.org/officeDocument/2006/relationships/notesSlide" Target="/ppt/notesSlides/notesSlide3.xml" Id="Re709c14dcd1c475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bf9e6d86804f98" /><Relationship Type="http://schemas.openxmlformats.org/officeDocument/2006/relationships/notesSlide" Target="/ppt/notesSlides/notesSlide4.xml" Id="Rb7666908f9e4419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3d0e8154e84643" /><Relationship Type="http://schemas.openxmlformats.org/officeDocument/2006/relationships/image" Target="/ppt/media/image3.jpeg" Id="Ra87fe17b2b8d4323" /><Relationship Type="http://schemas.openxmlformats.org/officeDocument/2006/relationships/notesSlide" Target="/ppt/notesSlides/notesSlide5.xml" Id="R3e4b96cfe14f49b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95747d9509485a" /><Relationship Type="http://schemas.openxmlformats.org/officeDocument/2006/relationships/notesSlide" Target="/ppt/notesSlides/notesSlide6.xml" Id="R061e20413b50423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bdade3777a4591" /><Relationship Type="http://schemas.openxmlformats.org/officeDocument/2006/relationships/chart" Target="/ppt/slides/charts/chart1.xml" Id="Rca9dd2e334604f58" /><Relationship Type="http://schemas.openxmlformats.org/officeDocument/2006/relationships/notesSlide" Target="/ppt/notesSlides/notesSlide7.xml" Id="R324c51802178465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1037631996449a" /><Relationship Type="http://schemas.openxmlformats.org/officeDocument/2006/relationships/notesSlide" Target="/ppt/notesSlides/notesSlide8.xml" Id="Red12cb69ac9b49f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07ab5b3b8e4f6a" /><Relationship Type="http://schemas.openxmlformats.org/officeDocument/2006/relationships/chart" Target="/ppt/slides/charts/chart2.xml" Id="Ra6a7cc239406489d" /><Relationship Type="http://schemas.openxmlformats.org/officeDocument/2006/relationships/notesSlide" Target="/ppt/notesSlides/notesSlide9.xml" Id="Rd1c4fe4770834f2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5adf34f59f4da7" /><Relationship Type="http://schemas.openxmlformats.org/officeDocument/2006/relationships/notesSlide" Target="/ppt/notesSlides/notesSlide10.xml" Id="R027ca6df106542b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67144959c44484" /><Relationship Type="http://schemas.openxmlformats.org/officeDocument/2006/relationships/image" Target="/ppt/media/image4.jpeg" Id="R4e5f6a9b087344c1" /><Relationship Type="http://schemas.openxmlformats.org/officeDocument/2006/relationships/image" Target="/ppt/media/image5.jpeg" Id="Ra33febb3add742e0" /><Relationship Type="http://schemas.openxmlformats.org/officeDocument/2006/relationships/image" Target="/ppt/media/image6.jpeg" Id="R703fb5e5295c4ad5" /><Relationship Type="http://schemas.openxmlformats.org/officeDocument/2006/relationships/notesSlide" Target="/ppt/notesSlides/notesSlide11.xml" Id="R0d4389a057674bd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fb27905fd94c29" /><Relationship Type="http://schemas.openxmlformats.org/officeDocument/2006/relationships/notesSlide" Target="/ppt/notesSlides/notesSlide12.xml" Id="Ra676fda423834bb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4e418abaa64766" /><Relationship Type="http://schemas.openxmlformats.org/officeDocument/2006/relationships/notesSlide" Target="/ppt/notesSlides/notesSlide13.xml" Id="R3118a918b443487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880fc7e485468f" /><Relationship Type="http://schemas.openxmlformats.org/officeDocument/2006/relationships/notesSlide" Target="/ppt/notesSlides/notesSlide14.xml" Id="R9f027b5b1a5f43a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ce09b04d1d419b" /><Relationship Type="http://schemas.openxmlformats.org/officeDocument/2006/relationships/notesSlide" Target="/ppt/notesSlides/notesSlide15.xml" Id="Rb4e8bc38c0d741af" /></Relationships>
</file>

<file path=ppt/slides/charts/chart1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 b="1">
                <a:solidFill>
                  <a:srgbClr val="10131A"/>
                </a:solidFill>
              </a:rPr>
              <a:t>Pressão × temperatura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00" b="1">
              <a:solidFill>
                <a:srgbClr val="10131A"/>
              </a:solidFill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P (kPa)</c:v>
          </c:tx>
          <c:spPr>
            <a:ln xmlns:a="http://schemas.openxmlformats.org/drawingml/2006/main" w="38100">
              <a:solidFill>
                <a:srgbClr val="F28C45"/>
              </a:solidFill>
              <a:prstDash val="solid"/>
            </a:ln>
          </c:spPr>
          <c:marker>
            <c:symbol val="circle"/>
            <c:size val="9"/>
            <c:spPr>
              <a:solidFill xmlns:a="http://schemas.openxmlformats.org/drawingml/2006/main">
                <a:srgbClr val="F28C45"/>
              </a:solidFill>
            </c:spPr>
          </c:marker>
          <c:cat>
            <c:numLit>
              <c:formatCode>General</c:formatCode>
              <c:ptCount val="3"/>
              <c:pt idx="0">
                <c:v>200</c:v>
              </c:pt>
              <c:pt idx="1">
                <c:v>400</c:v>
              </c:pt>
              <c:pt idx="2">
                <c:v>600</c:v>
              </c:pt>
            </c:numLit>
          </c:cat>
          <c:val>
            <c:numLit>
              <c:formatCode>General</c:formatCode>
              <c:ptCount val="3"/>
              <c:pt idx="0">
                <c:v>110.9</c:v>
              </c:pt>
              <c:pt idx="1">
                <c:v>221.7</c:v>
              </c:pt>
              <c:pt idx="2">
                <c:v>332.6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 b="1">
                  <a:solidFill>
                    <a:srgbClr val="10131A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5D6470"/>
                    </a:solidFill>
                  </a:rPr>
                  <a:t>T (K)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5D6470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0131A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36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EF1F3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5D6470"/>
                    </a:solidFill>
                  </a:rPr>
                  <a:t>P (kPa)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5D6470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0131A"/>
                </a:solidFill>
              </a:defRPr>
            </a:pPr>
          </a:p>
        </c:txPr>
        <c:crossAx val="48650112"/>
        <c:crossBetween val="between"/>
        <c:majorUnit val="100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 b="1">
                <a:solidFill>
                  <a:srgbClr val="10131A"/>
                </a:solidFill>
              </a:rPr>
              <a:t>Pressão × volume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00" b="1">
              <a:solidFill>
                <a:srgbClr val="10131A"/>
              </a:solidFill>
            </a:defRPr>
          </a:pPr>
        </a:p>
      </c:txPr>
    </c:title>
    <c:plotArea>
      <c:lineChart>
        <c:grouping val="standard"/>
        <c:varyColors val="0"/>
        <c:ser>
          <c:idx val="0"/>
          <c:order val="0"/>
          <c:tx>
            <c:v>P (kPa)</c:v>
          </c:tx>
          <c:spPr>
            <a:ln xmlns:a="http://schemas.openxmlformats.org/drawingml/2006/main" w="38100">
              <a:solidFill>
                <a:srgbClr val="3D8DFF"/>
              </a:solidFill>
              <a:prstDash val="solid"/>
            </a:ln>
          </c:spPr>
          <c:marker>
            <c:symbol val="circle"/>
            <c:size val="8"/>
            <c:spPr>
              <a:solidFill xmlns:a="http://schemas.openxmlformats.org/drawingml/2006/main">
                <a:srgbClr val="3D8DFF"/>
              </a:solidFill>
            </c:spPr>
          </c:marker>
          <c:cat>
            <c:strLit>
              <c:ptCount val="5"/>
              <c:pt idx="0">
                <c:v>3,0</c:v>
              </c:pt>
              <c:pt idx="1">
                <c:v>4,5</c:v>
              </c:pt>
              <c:pt idx="2">
                <c:v>6,0</c:v>
              </c:pt>
              <c:pt idx="3">
                <c:v>7,5</c:v>
              </c:pt>
              <c:pt idx="4">
                <c:v>9,0</c:v>
              </c:pt>
            </c:strLit>
          </c:cat>
          <c:val>
            <c:numLit>
              <c:formatCode>General</c:formatCode>
              <c:ptCount val="5"/>
              <c:pt idx="0">
                <c:v>332.6</c:v>
              </c:pt>
              <c:pt idx="1">
                <c:v>221.7</c:v>
              </c:pt>
              <c:pt idx="2">
                <c:v>166.3</c:v>
              </c:pt>
              <c:pt idx="3">
                <c:v>133</c:v>
              </c:pt>
              <c:pt idx="4">
                <c:v>110.9</c:v>
              </c:pt>
            </c:numLit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1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5D6470"/>
                    </a:solidFill>
                  </a:rPr>
                  <a:t>V (L)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5D6470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0131A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36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EF1F3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solidFill>
                      <a:srgbClr val="5D6470"/>
                    </a:solidFill>
                  </a:rPr>
                  <a:t>P (kPa)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5D6470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0131A"/>
                </a:solidFill>
              </a:defRPr>
            </a:pPr>
          </a:p>
        </c:txPr>
        <c:crossAx val="48650112"/>
        <c:crossBetween val="between"/>
        <c:majorUnit val="100"/>
      </c:valAx>
      <c:spPr>
        <a:noFill xmlns:a="http://schemas.openxmlformats.org/drawingml/2006/main"/>
        <a:ln xmlns:a="http://schemas.openxmlformats.org/drawingml/2006/main" w="0">
          <a:solidFill>
            <a:srgbClr val="FFFFFF"/>
          </a:solidFill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solidFill>
        <a:srgbClr val="FFFFFF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8868B525-06E0-45F5-8840-F730B126B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62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FÍSICA • 1º ANO DO ENSINO MÉDIO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F59F47C6-D359-454F-BD9D-D7B536DCE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81125"/>
            <a:ext cx="5191125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2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52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Gases ideais e</a:t>
            </a:r>
          </a:p>
          <a:p xmlns:a="http://schemas.openxmlformats.org/drawingml/2006/main">
            <a:pPr algn="l">
              <a:defRPr sz="52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52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termodinâmica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3106D36E-6072-4341-BF3D-2D94FE0AD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24250"/>
            <a:ext cx="4953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210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Do movimento das partículas à conservação de energia</a:t>
            </a:r>
          </a:p>
        </p:txBody>
      </p:sp>
      <p:sp>
        <p:nvSpPr>
          <p:cNvPr id="4" name="rule">
            <a:extLst xmlns:a="http://schemas.openxmlformats.org/drawingml/2006/main">
              <a:ext uri="{FF2B5EF4-FFF2-40B4-BE49-F238E27FC236}">
                <a16:creationId xmlns:a16="http://schemas.microsoft.com/office/drawing/2014/main" id="{E8627104-CF7B-414C-9ECE-34553A80B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57750"/>
            <a:ext cx="14287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C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059B2AB0-DDC9-4630-87B8-8791F01CA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197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A1026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A1026"/>
                </a:solidFill>
                <a:latin typeface="Arial"/>
                <a:ea typeface="Arial"/>
                <a:cs typeface="Arial"/>
              </a:rPr>
              <a:t>Aula investigativa com o Celestial Lab</a:t>
            </a:r>
          </a:p>
        </p:txBody>
      </p:sp>
      <p:sp>
        <p:nvSpPr>
          <p:cNvPr id="6" name="image-backing">
            <a:extLst xmlns:a="http://schemas.openxmlformats.org/drawingml/2006/main">
              <a:ext uri="{FF2B5EF4-FFF2-40B4-BE49-F238E27FC236}">
                <a16:creationId xmlns:a16="http://schemas.microsoft.com/office/drawing/2014/main" id="{9397600A-FCA9-4BC1-A2DA-98672C2DF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371475"/>
            <a:ext cx="5524500" cy="582930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0A1026"/>
          </a:solidFill>
          <a:ln xmlns:a="http://schemas.openxmlformats.org/drawingml/2006/main" w="9525">
            <a:solidFill>
              <a:srgbClr val="0A1026"/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0169b1ca4a4139"/>
          <a:srcRect xmlns:a="http://schemas.openxmlformats.org/drawingml/2006/main" l="23342" t="0" r="2334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400050"/>
            <a:ext cx="5467350" cy="5772150"/>
          </a:xfrm>
          <a:prstGeom xmlns:a="http://schemas.openxmlformats.org/drawingml/2006/main" prst="roundRect">
            <a:avLst>
              <a:gd name="adj" fmla="val 2439"/>
            </a:avLst>
          </a:prstGeom>
        </p:spPr>
      </p:pic>
      <p:sp>
        <p:nvSpPr>
          <p:cNvPr id="8" name="text-utgdpr5">
            <a:extLst xmlns:a="http://schemas.openxmlformats.org/drawingml/2006/main">
              <a:ext uri="{FF2B5EF4-FFF2-40B4-BE49-F238E27FC236}">
                <a16:creationId xmlns:a16="http://schemas.microsoft.com/office/drawing/2014/main" id="{75CC34EC-FB22-410F-8480-627BE481A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8175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39763756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eyebrow">
            <a:extLst xmlns:a="http://schemas.openxmlformats.org/drawingml/2006/main">
              <a:ext uri="{FF2B5EF4-FFF2-40B4-BE49-F238E27FC236}">
                <a16:creationId xmlns:a16="http://schemas.microsoft.com/office/drawing/2014/main" id="{8505F0BE-F462-4F37-BEF1-9E9F15FB1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COMECE COM UMA PREVISÃO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810C242-21C3-4486-8268-D6DF5AE13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O pneu muda sem ganhar nem perder ar?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DCA28241-40E8-45A7-AAA2-0A46D5300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02">
            <a:extLst xmlns:a="http://schemas.openxmlformats.org/drawingml/2006/main">
              <a:ext uri="{FF2B5EF4-FFF2-40B4-BE49-F238E27FC236}">
                <a16:creationId xmlns:a16="http://schemas.microsoft.com/office/drawing/2014/main" id="{44D75E7F-1412-4AA7-B7CD-F2E48467F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" name="hook-context">
            <a:extLst xmlns:a="http://schemas.openxmlformats.org/drawingml/2006/main">
              <a:ext uri="{FF2B5EF4-FFF2-40B4-BE49-F238E27FC236}">
                <a16:creationId xmlns:a16="http://schemas.microsoft.com/office/drawing/2014/main" id="{250707A1-339A-488D-8F5E-396BA134A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24050"/>
            <a:ext cx="10572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250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250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Um carro sai cedo, com os pneus frios. Depois de rodar por uma hora, a temperatura do ar dentro deles aumenta.</a:t>
            </a:r>
          </a:p>
        </p:txBody>
      </p:sp>
      <p:sp>
        <p:nvSpPr>
          <p:cNvPr id="6" name="rule">
            <a:extLst xmlns:a="http://schemas.openxmlformats.org/drawingml/2006/main">
              <a:ext uri="{FF2B5EF4-FFF2-40B4-BE49-F238E27FC236}">
                <a16:creationId xmlns:a16="http://schemas.microsoft.com/office/drawing/2014/main" id="{00A269BA-0B8B-4DA1-B733-7F909C434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086100"/>
            <a:ext cx="8724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C8D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-lidx88i">
            <a:extLst xmlns:a="http://schemas.openxmlformats.org/drawingml/2006/main">
              <a:ext uri="{FF2B5EF4-FFF2-40B4-BE49-F238E27FC236}">
                <a16:creationId xmlns:a16="http://schemas.microsoft.com/office/drawing/2014/main" id="{CA45CE0A-4C73-4A9C-B48C-1D98E247C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486150"/>
            <a:ext cx="314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A pressão tende a…</a:t>
            </a:r>
          </a:p>
        </p:txBody>
      </p:sp>
      <p:sp>
        <p:nvSpPr>
          <p:cNvPr id="8" name="text-z8yrxya">
            <a:extLst xmlns:a="http://schemas.openxmlformats.org/drawingml/2006/main">
              <a:ext uri="{FF2B5EF4-FFF2-40B4-BE49-F238E27FC236}">
                <a16:creationId xmlns:a16="http://schemas.microsoft.com/office/drawing/2014/main" id="{17BBB6DD-AB28-42A8-8968-AAB3806EC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24815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7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diminuir</a:t>
            </a:r>
          </a:p>
        </p:txBody>
      </p:sp>
      <p:sp>
        <p:nvSpPr>
          <p:cNvPr id="9" name="text-xvn5aul">
            <a:extLst xmlns:a="http://schemas.openxmlformats.org/drawingml/2006/main">
              <a:ext uri="{FF2B5EF4-FFF2-40B4-BE49-F238E27FC236}">
                <a16:creationId xmlns:a16="http://schemas.microsoft.com/office/drawing/2014/main" id="{3710E55E-DB36-491B-B588-AE4C3B98C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24815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700" b="1" i="0">
                <a:solidFill>
                  <a:srgbClr val="9366E8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9366E8"/>
                </a:solidFill>
                <a:latin typeface="Arial"/>
                <a:ea typeface="Arial"/>
                <a:cs typeface="Arial"/>
              </a:rPr>
              <a:t>ficar igual</a:t>
            </a:r>
          </a:p>
        </p:txBody>
      </p:sp>
      <p:sp>
        <p:nvSpPr>
          <p:cNvPr id="10" name="text-6wlef9f">
            <a:extLst xmlns:a="http://schemas.openxmlformats.org/drawingml/2006/main">
              <a:ext uri="{FF2B5EF4-FFF2-40B4-BE49-F238E27FC236}">
                <a16:creationId xmlns:a16="http://schemas.microsoft.com/office/drawing/2014/main" id="{ABEDA3C8-A973-41B9-88ED-50EB67F16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248150"/>
            <a:ext cx="209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700" b="1" i="0">
                <a:solidFill>
                  <a:srgbClr val="E95B65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E95B65"/>
                </a:solidFill>
                <a:latin typeface="Arial"/>
                <a:ea typeface="Arial"/>
                <a:cs typeface="Arial"/>
              </a:rPr>
              <a:t>aumentar</a:t>
            </a:r>
          </a:p>
        </p:txBody>
      </p:sp>
      <p:sp>
        <p:nvSpPr>
          <p:cNvPr id="11" name="text-tnhme7j">
            <a:extLst xmlns:a="http://schemas.openxmlformats.org/drawingml/2006/main">
              <a:ext uri="{FF2B5EF4-FFF2-40B4-BE49-F238E27FC236}">
                <a16:creationId xmlns:a16="http://schemas.microsoft.com/office/drawing/2014/main" id="{6A0D45F1-5EB9-4137-B828-E406C8D7C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476875"/>
            <a:ext cx="695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0" i="1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875" b="0" i="1">
                <a:solidFill>
                  <a:srgbClr val="10131A"/>
                </a:solidFill>
                <a:latin typeface="Arial"/>
                <a:ea typeface="Arial"/>
                <a:cs typeface="Arial"/>
              </a:rPr>
              <a:t>Escolha uma opção e justifique com partículas.</a:t>
            </a:r>
          </a:p>
        </p:txBody>
      </p:sp>
      <p:sp>
        <p:nvSpPr>
          <p:cNvPr id="12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1009F5DA-E34A-4727-99FB-020A0233D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>Situação-problema: gás confinado em volume quase constante</a:t>
            </a:r>
          </a:p>
        </p:txBody>
      </p:sp>
    </p:spTree>
    <p:extLst>
      <p:ext uri="{BB962C8B-B14F-4D97-AF65-F5344CB8AC3E}">
        <p14:creationId xmlns:p14="http://schemas.microsoft.com/office/powerpoint/2010/main" val="38997333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eyebrow">
            <a:extLst xmlns:a="http://schemas.openxmlformats.org/drawingml/2006/main">
              <a:ext uri="{FF2B5EF4-FFF2-40B4-BE49-F238E27FC236}">
                <a16:creationId xmlns:a16="http://schemas.microsoft.com/office/drawing/2014/main" id="{46063E02-1884-4DC9-B871-44210756E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MODELO MICROSCÓPICO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E68C0DC-05DA-4C24-98D5-F56FE5475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A pressão nasce de colisões com as paredes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0FFF6BDD-2FE3-40BD-8B14-453C7890E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03">
            <a:extLst xmlns:a="http://schemas.openxmlformats.org/drawingml/2006/main">
              <a:ext uri="{FF2B5EF4-FFF2-40B4-BE49-F238E27FC236}">
                <a16:creationId xmlns:a16="http://schemas.microsoft.com/office/drawing/2014/main" id="{1C6A9495-96A8-4837-AA67-C8F1A8B56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" name="image-backing">
            <a:extLst xmlns:a="http://schemas.openxmlformats.org/drawingml/2006/main">
              <a:ext uri="{FF2B5EF4-FFF2-40B4-BE49-F238E27FC236}">
                <a16:creationId xmlns:a16="http://schemas.microsoft.com/office/drawing/2014/main" id="{7AC0AF71-A026-496B-8F83-48056CF2D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1666875"/>
            <a:ext cx="5486400" cy="4200525"/>
          </a:xfrm>
          <a:prstGeom xmlns:a="http://schemas.openxmlformats.org/drawingml/2006/main" prst="roundRect">
            <a:avLst>
              <a:gd name="adj" fmla="val 3628"/>
            </a:avLst>
          </a:prstGeom>
          <a:solidFill xmlns:a="http://schemas.openxmlformats.org/drawingml/2006/main">
            <a:srgbClr val="0A1026"/>
          </a:solidFill>
          <a:ln xmlns:a="http://schemas.openxmlformats.org/drawingml/2006/main" w="9525">
            <a:solidFill>
              <a:srgbClr val="0A1026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8b65a0dee54664"/>
          <a:srcRect xmlns:a="http://schemas.openxmlformats.org/drawingml/2006/main" l="8743" t="0" r="874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1695450"/>
            <a:ext cx="5429250" cy="4143375"/>
          </a:xfrm>
          <a:prstGeom xmlns:a="http://schemas.openxmlformats.org/drawingml/2006/main" prst="roundRect">
            <a:avLst>
              <a:gd name="adj" fmla="val 3218"/>
            </a:avLst>
          </a:prstGeom>
        </p:spPr>
      </p:pic>
      <p:sp>
        <p:nvSpPr>
          <p:cNvPr id="7" name="text-0h7s5jw">
            <a:extLst xmlns:a="http://schemas.openxmlformats.org/drawingml/2006/main">
              <a:ext uri="{FF2B5EF4-FFF2-40B4-BE49-F238E27FC236}">
                <a16:creationId xmlns:a16="http://schemas.microsoft.com/office/drawing/2014/main" id="{070D56E8-9C9E-492B-9A6D-229B60722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240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Partículas em movimento aleatório</a:t>
            </a:r>
          </a:p>
        </p:txBody>
      </p:sp>
      <p:sp>
        <p:nvSpPr>
          <p:cNvPr id="8" name="text-7vayxig">
            <a:extLst xmlns:a="http://schemas.openxmlformats.org/drawingml/2006/main">
              <a:ext uri="{FF2B5EF4-FFF2-40B4-BE49-F238E27FC236}">
                <a16:creationId xmlns:a16="http://schemas.microsoft.com/office/drawing/2014/main" id="{41466BC7-666C-44E7-830D-3094B981D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19350"/>
            <a:ext cx="4667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Elas se chocam entre si e com as paredes do recipiente.</a:t>
            </a:r>
          </a:p>
        </p:txBody>
      </p:sp>
      <p:sp>
        <p:nvSpPr>
          <p:cNvPr id="9" name="rule">
            <a:extLst xmlns:a="http://schemas.openxmlformats.org/drawingml/2006/main">
              <a:ext uri="{FF2B5EF4-FFF2-40B4-BE49-F238E27FC236}">
                <a16:creationId xmlns:a16="http://schemas.microsoft.com/office/drawing/2014/main" id="{80D35022-9CD3-4DA1-8C23-C12F2B815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19450"/>
            <a:ext cx="4333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dy89sif">
            <a:extLst xmlns:a="http://schemas.openxmlformats.org/drawingml/2006/main">
              <a:ext uri="{FF2B5EF4-FFF2-40B4-BE49-F238E27FC236}">
                <a16:creationId xmlns:a16="http://schemas.microsoft.com/office/drawing/2014/main" id="{5348ED10-848B-4694-BC20-7A51C99CB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505200"/>
            <a:ext cx="4667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F28C45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F28C45"/>
                </a:solidFill>
                <a:latin typeface="Arial"/>
                <a:ea typeface="Arial"/>
                <a:cs typeface="Arial"/>
              </a:rPr>
              <a:t>Temperatura maior → partículas mais rápidas</a:t>
            </a:r>
          </a:p>
        </p:txBody>
      </p:sp>
      <p:sp>
        <p:nvSpPr>
          <p:cNvPr id="11" name="text-y09sok9">
            <a:extLst xmlns:a="http://schemas.openxmlformats.org/drawingml/2006/main">
              <a:ext uri="{FF2B5EF4-FFF2-40B4-BE49-F238E27FC236}">
                <a16:creationId xmlns:a16="http://schemas.microsoft.com/office/drawing/2014/main" id="{D6FE3375-4873-4BFC-97EE-8552B1E70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67200"/>
            <a:ext cx="4667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Colisões mais frequentes e intensas podem elevar a pressão.</a:t>
            </a:r>
          </a:p>
        </p:txBody>
      </p:sp>
      <p:sp>
        <p:nvSpPr>
          <p:cNvPr id="12" name="rule">
            <a:extLst xmlns:a="http://schemas.openxmlformats.org/drawingml/2006/main">
              <a:ext uri="{FF2B5EF4-FFF2-40B4-BE49-F238E27FC236}">
                <a16:creationId xmlns:a16="http://schemas.microsoft.com/office/drawing/2014/main" id="{AFB43D33-3EAB-47CC-BD98-663777A5E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124450"/>
            <a:ext cx="43338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text-ce347ry">
            <a:extLst xmlns:a="http://schemas.openxmlformats.org/drawingml/2006/main">
              <a:ext uri="{FF2B5EF4-FFF2-40B4-BE49-F238E27FC236}">
                <a16:creationId xmlns:a16="http://schemas.microsoft.com/office/drawing/2014/main" id="{3D62EC40-C17D-40C0-AEA5-EDC7D35F1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391150"/>
            <a:ext cx="4667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No modelo ideal, as partículas ocupam volume desprezível e as colisões são elásticas.</a:t>
            </a:r>
          </a:p>
        </p:txBody>
      </p:sp>
      <p:sp>
        <p:nvSpPr>
          <p:cNvPr id="14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6C8D4C5F-E555-4C72-A85A-8415BFE68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>Modelo de gás ideal</a:t>
            </a:r>
          </a:p>
        </p:txBody>
      </p:sp>
    </p:spTree>
    <p:extLst>
      <p:ext uri="{BB962C8B-B14F-4D97-AF65-F5344CB8AC3E}">
        <p14:creationId xmlns:p14="http://schemas.microsoft.com/office/powerpoint/2010/main" val="27256313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eyebrow">
            <a:extLst xmlns:a="http://schemas.openxmlformats.org/drawingml/2006/main">
              <a:ext uri="{FF2B5EF4-FFF2-40B4-BE49-F238E27FC236}">
                <a16:creationId xmlns:a16="http://schemas.microsoft.com/office/drawing/2014/main" id="{A1B11D18-1426-443A-BC44-0FEA0BD29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EQUAÇÃO DE ESTADO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8026776-5F02-45D0-9869-A67CC8D9B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Quatro grandezas descrevem o estado do gás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E53FFFA5-3D42-400A-952F-550C52505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04">
            <a:extLst xmlns:a="http://schemas.openxmlformats.org/drawingml/2006/main">
              <a:ext uri="{FF2B5EF4-FFF2-40B4-BE49-F238E27FC236}">
                <a16:creationId xmlns:a16="http://schemas.microsoft.com/office/drawing/2014/main" id="{92065B15-2CF9-448F-93F0-3F6571DDA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5" name="ideal-gas-equation">
            <a:extLst xmlns:a="http://schemas.openxmlformats.org/drawingml/2006/main">
              <a:ext uri="{FF2B5EF4-FFF2-40B4-BE49-F238E27FC236}">
                <a16:creationId xmlns:a16="http://schemas.microsoft.com/office/drawing/2014/main" id="{A0C87292-4776-45FC-AB9A-A8FB66D39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4762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850" b="1" i="0">
                <a:solidFill>
                  <a:srgbClr val="0A1026"/>
                </a:solidFill>
                <a:latin typeface="Arial"/>
                <a:ea typeface="Arial"/>
                <a:cs typeface="Arial"/>
              </a:defRPr>
            </a:pPr>
            <a:r>
              <a:rPr sz="5850" b="1" i="0">
                <a:solidFill>
                  <a:srgbClr val="0A1026"/>
                </a:solidFill>
                <a:latin typeface="Arial"/>
                <a:ea typeface="Arial"/>
                <a:cs typeface="Arial"/>
              </a:rPr>
              <a:t>PV = nRT</a:t>
            </a:r>
          </a:p>
        </p:txBody>
      </p:sp>
      <p:sp>
        <p:nvSpPr>
          <p:cNvPr id="6" name="text-ctlurte">
            <a:extLst xmlns:a="http://schemas.openxmlformats.org/drawingml/2006/main">
              <a:ext uri="{FF2B5EF4-FFF2-40B4-BE49-F238E27FC236}">
                <a16:creationId xmlns:a16="http://schemas.microsoft.com/office/drawing/2014/main" id="{486A6B52-23AE-4739-A02E-76946AE5C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9900"/>
            <a:ext cx="4762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A equação organiza as relações que vamos testar — não é uma lista de letras para decorar.</a:t>
            </a:r>
          </a:p>
        </p:txBody>
      </p:sp>
      <p:sp>
        <p:nvSpPr>
          <p:cNvPr id="7" name="variables-panel">
            <a:extLst xmlns:a="http://schemas.openxmlformats.org/drawingml/2006/main">
              <a:ext uri="{FF2B5EF4-FFF2-40B4-BE49-F238E27FC236}">
                <a16:creationId xmlns:a16="http://schemas.microsoft.com/office/drawing/2014/main" id="{B7F141C4-ABFA-4149-BEC0-C95B50C7C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52600"/>
            <a:ext cx="4953000" cy="3638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aet0i7u">
            <a:extLst xmlns:a="http://schemas.openxmlformats.org/drawingml/2006/main">
              <a:ext uri="{FF2B5EF4-FFF2-40B4-BE49-F238E27FC236}">
                <a16:creationId xmlns:a16="http://schemas.microsoft.com/office/drawing/2014/main" id="{3D5A8FE0-09FC-49E3-99F8-E71AFB051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00250"/>
            <a:ext cx="609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850" b="1" i="0">
                <a:solidFill>
                  <a:srgbClr val="E95B65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E95B65"/>
                </a:solidFill>
                <a:latin typeface="Arial"/>
                <a:ea typeface="Arial"/>
                <a:cs typeface="Arial"/>
              </a:rPr>
              <a:t>P</a:t>
            </a:r>
          </a:p>
        </p:txBody>
      </p:sp>
      <p:sp>
        <p:nvSpPr>
          <p:cNvPr id="9" name="text-nfc49ta">
            <a:extLst xmlns:a="http://schemas.openxmlformats.org/drawingml/2006/main">
              <a:ext uri="{FF2B5EF4-FFF2-40B4-BE49-F238E27FC236}">
                <a16:creationId xmlns:a16="http://schemas.microsoft.com/office/drawing/2014/main" id="{2729582F-9F67-490C-B7CD-C2C14B7C5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0193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pressão</a:t>
            </a:r>
          </a:p>
        </p:txBody>
      </p:sp>
      <p:sp>
        <p:nvSpPr>
          <p:cNvPr id="10" name="text-6ji6lgk">
            <a:extLst xmlns:a="http://schemas.openxmlformats.org/drawingml/2006/main">
              <a:ext uri="{FF2B5EF4-FFF2-40B4-BE49-F238E27FC236}">
                <a16:creationId xmlns:a16="http://schemas.microsoft.com/office/drawing/2014/main" id="{84ACBE10-8535-44C1-B8AD-90447806E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047875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425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kPa</a:t>
            </a:r>
          </a:p>
        </p:txBody>
      </p:sp>
      <p:sp>
        <p:nvSpPr>
          <p:cNvPr id="11" name="text-lgjpo1a">
            <a:extLst xmlns:a="http://schemas.openxmlformats.org/drawingml/2006/main">
              <a:ext uri="{FF2B5EF4-FFF2-40B4-BE49-F238E27FC236}">
                <a16:creationId xmlns:a16="http://schemas.microsoft.com/office/drawing/2014/main" id="{BBFE154C-A067-46E8-8D2E-1EEC18480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81300"/>
            <a:ext cx="609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8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V</a:t>
            </a:r>
          </a:p>
        </p:txBody>
      </p:sp>
      <p:sp>
        <p:nvSpPr>
          <p:cNvPr id="12" name="text-ojd8v2i">
            <a:extLst xmlns:a="http://schemas.openxmlformats.org/drawingml/2006/main">
              <a:ext uri="{FF2B5EF4-FFF2-40B4-BE49-F238E27FC236}">
                <a16:creationId xmlns:a16="http://schemas.microsoft.com/office/drawing/2014/main" id="{B5D6CF6C-9EF8-4A36-92D4-CF09C0CD0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8003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volume</a:t>
            </a:r>
          </a:p>
        </p:txBody>
      </p:sp>
      <p:sp>
        <p:nvSpPr>
          <p:cNvPr id="13" name="text-mz2y33h">
            <a:extLst xmlns:a="http://schemas.openxmlformats.org/drawingml/2006/main">
              <a:ext uri="{FF2B5EF4-FFF2-40B4-BE49-F238E27FC236}">
                <a16:creationId xmlns:a16="http://schemas.microsoft.com/office/drawing/2014/main" id="{50A00C9F-0890-427E-A8B1-6077FE115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828925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425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L</a:t>
            </a:r>
          </a:p>
        </p:txBody>
      </p:sp>
      <p:sp>
        <p:nvSpPr>
          <p:cNvPr id="14" name="text-ftgywrw">
            <a:extLst xmlns:a="http://schemas.openxmlformats.org/drawingml/2006/main">
              <a:ext uri="{FF2B5EF4-FFF2-40B4-BE49-F238E27FC236}">
                <a16:creationId xmlns:a16="http://schemas.microsoft.com/office/drawing/2014/main" id="{A7C67CCA-A4DD-421B-B7BC-A6AE0D316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562350"/>
            <a:ext cx="609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850" b="1" i="0">
                <a:solidFill>
                  <a:srgbClr val="3DBB91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3DBB91"/>
                </a:solidFill>
                <a:latin typeface="Arial"/>
                <a:ea typeface="Arial"/>
                <a:cs typeface="Arial"/>
              </a:rPr>
              <a:t>n</a:t>
            </a:r>
          </a:p>
        </p:txBody>
      </p:sp>
      <p:sp>
        <p:nvSpPr>
          <p:cNvPr id="15" name="text-djhvbsf">
            <a:extLst xmlns:a="http://schemas.openxmlformats.org/drawingml/2006/main">
              <a:ext uri="{FF2B5EF4-FFF2-40B4-BE49-F238E27FC236}">
                <a16:creationId xmlns:a16="http://schemas.microsoft.com/office/drawing/2014/main" id="{63A9F649-ACF2-40A5-B3AB-D9FA536BD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5814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quantidade de gás</a:t>
            </a:r>
          </a:p>
        </p:txBody>
      </p:sp>
      <p:sp>
        <p:nvSpPr>
          <p:cNvPr id="16" name="text-mwsrrsp">
            <a:extLst xmlns:a="http://schemas.openxmlformats.org/drawingml/2006/main">
              <a:ext uri="{FF2B5EF4-FFF2-40B4-BE49-F238E27FC236}">
                <a16:creationId xmlns:a16="http://schemas.microsoft.com/office/drawing/2014/main" id="{83668D86-153E-47AC-8DE2-FEA4A0BC7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609975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425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mol / partículas</a:t>
            </a:r>
          </a:p>
        </p:txBody>
      </p:sp>
      <p:sp>
        <p:nvSpPr>
          <p:cNvPr id="17" name="text-ah1583m">
            <a:extLst xmlns:a="http://schemas.openxmlformats.org/drawingml/2006/main">
              <a:ext uri="{FF2B5EF4-FFF2-40B4-BE49-F238E27FC236}">
                <a16:creationId xmlns:a16="http://schemas.microsoft.com/office/drawing/2014/main" id="{FC0A069A-931D-4BD5-A396-E1FC779C2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343400"/>
            <a:ext cx="609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850" b="1" i="0">
                <a:solidFill>
                  <a:srgbClr val="F28C45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F28C45"/>
                </a:solidFill>
                <a:latin typeface="Arial"/>
                <a:ea typeface="Arial"/>
                <a:cs typeface="Arial"/>
              </a:rPr>
              <a:t>T</a:t>
            </a:r>
          </a:p>
        </p:txBody>
      </p:sp>
      <p:sp>
        <p:nvSpPr>
          <p:cNvPr id="18" name="text-fbuicsq">
            <a:extLst xmlns:a="http://schemas.openxmlformats.org/drawingml/2006/main">
              <a:ext uri="{FF2B5EF4-FFF2-40B4-BE49-F238E27FC236}">
                <a16:creationId xmlns:a16="http://schemas.microsoft.com/office/drawing/2014/main" id="{DE470E1E-83B9-46E0-83E5-9B6B85614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3624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temperatura absoluta</a:t>
            </a:r>
          </a:p>
        </p:txBody>
      </p:sp>
      <p:sp>
        <p:nvSpPr>
          <p:cNvPr id="19" name="text-p66fpch">
            <a:extLst xmlns:a="http://schemas.openxmlformats.org/drawingml/2006/main">
              <a:ext uri="{FF2B5EF4-FFF2-40B4-BE49-F238E27FC236}">
                <a16:creationId xmlns:a16="http://schemas.microsoft.com/office/drawing/2014/main" id="{FBD0771C-732F-4293-BBDA-411209417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391025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425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K</a:t>
            </a:r>
          </a:p>
        </p:txBody>
      </p:sp>
      <p:sp>
        <p:nvSpPr>
          <p:cNvPr id="20" name="kelvin-note">
            <a:extLst xmlns:a="http://schemas.openxmlformats.org/drawingml/2006/main">
              <a:ext uri="{FF2B5EF4-FFF2-40B4-BE49-F238E27FC236}">
                <a16:creationId xmlns:a16="http://schemas.microsoft.com/office/drawing/2014/main" id="{41768260-9663-4FB5-AEF2-B32688223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86300"/>
            <a:ext cx="4762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-hl09t8y">
            <a:extLst xmlns:a="http://schemas.openxmlformats.org/drawingml/2006/main">
              <a:ext uri="{FF2B5EF4-FFF2-40B4-BE49-F238E27FC236}">
                <a16:creationId xmlns:a16="http://schemas.microsoft.com/office/drawing/2014/main" id="{9EB5DBD7-F3FA-4D66-B22E-93B28B032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76800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Nas leis dos gases, use temperatura em kelvin.</a:t>
            </a:r>
          </a:p>
        </p:txBody>
      </p:sp>
      <p:sp>
        <p:nvSpPr>
          <p:cNvPr id="22" name="text-llqhpf2">
            <a:extLst xmlns:a="http://schemas.openxmlformats.org/drawingml/2006/main">
              <a:ext uri="{FF2B5EF4-FFF2-40B4-BE49-F238E27FC236}">
                <a16:creationId xmlns:a16="http://schemas.microsoft.com/office/drawing/2014/main" id="{E0C0807B-858E-44E1-BD6D-C38D61C91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R é a constante universal dos gases.</a:t>
            </a:r>
          </a:p>
        </p:txBody>
      </p:sp>
      <p:sp>
        <p:nvSpPr>
          <p:cNvPr id="23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1CE085D6-0D35-4167-B307-C82102C7C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>PV = nRT • estado macroscópico de um gás ideal</a:t>
            </a:r>
          </a:p>
        </p:txBody>
      </p:sp>
    </p:spTree>
    <p:extLst>
      <p:ext uri="{BB962C8B-B14F-4D97-AF65-F5344CB8AC3E}">
        <p14:creationId xmlns:p14="http://schemas.microsoft.com/office/powerpoint/2010/main" val="170212438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eyebrow">
            <a:extLst xmlns:a="http://schemas.openxmlformats.org/drawingml/2006/main">
              <a:ext uri="{FF2B5EF4-FFF2-40B4-BE49-F238E27FC236}">
                <a16:creationId xmlns:a16="http://schemas.microsoft.com/office/drawing/2014/main" id="{2B6CC835-A04D-4523-A269-B31C5C1B3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COMO INVESTIGAR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992AE7E-AF07-403E-A9CF-C2851AC69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No laboratório, mude uma variável por vez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101DF8EE-2D8E-4386-ABD1-3B94B21AD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05">
            <a:extLst xmlns:a="http://schemas.openxmlformats.org/drawingml/2006/main">
              <a:ext uri="{FF2B5EF4-FFF2-40B4-BE49-F238E27FC236}">
                <a16:creationId xmlns:a16="http://schemas.microsoft.com/office/drawing/2014/main" id="{46CD96B6-6DF5-41F7-A280-E1524E03B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5" name="step-1-number">
            <a:extLst xmlns:a="http://schemas.openxmlformats.org/drawingml/2006/main">
              <a:ext uri="{FF2B5EF4-FFF2-40B4-BE49-F238E27FC236}">
                <a16:creationId xmlns:a16="http://schemas.microsoft.com/office/drawing/2014/main" id="{0612D709-2C8D-46C8-923B-715D3F4AA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8478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step-1-text">
            <a:extLst xmlns:a="http://schemas.openxmlformats.org/drawingml/2006/main">
              <a:ext uri="{FF2B5EF4-FFF2-40B4-BE49-F238E27FC236}">
                <a16:creationId xmlns:a16="http://schemas.microsoft.com/office/drawing/2014/main" id="{8EB88951-8A03-43EF-A1C5-D2B405FC4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828800"/>
            <a:ext cx="3448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Escolha o que ficará constante.</a:t>
            </a:r>
          </a:p>
        </p:txBody>
      </p:sp>
      <p:sp>
        <p:nvSpPr>
          <p:cNvPr id="7" name="step-2-number">
            <a:extLst xmlns:a="http://schemas.openxmlformats.org/drawingml/2006/main">
              <a:ext uri="{FF2B5EF4-FFF2-40B4-BE49-F238E27FC236}">
                <a16:creationId xmlns:a16="http://schemas.microsoft.com/office/drawing/2014/main" id="{58E28088-7D2B-4980-9F3E-94143E096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7241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step-2-text">
            <a:extLst xmlns:a="http://schemas.openxmlformats.org/drawingml/2006/main">
              <a:ext uri="{FF2B5EF4-FFF2-40B4-BE49-F238E27FC236}">
                <a16:creationId xmlns:a16="http://schemas.microsoft.com/office/drawing/2014/main" id="{8D66469B-A500-4A04-A668-FCF407B75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705100"/>
            <a:ext cx="3448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Preveja antes de mover o controle.</a:t>
            </a:r>
          </a:p>
        </p:txBody>
      </p:sp>
      <p:sp>
        <p:nvSpPr>
          <p:cNvPr id="9" name="step-3-number">
            <a:extLst xmlns:a="http://schemas.openxmlformats.org/drawingml/2006/main">
              <a:ext uri="{FF2B5EF4-FFF2-40B4-BE49-F238E27FC236}">
                <a16:creationId xmlns:a16="http://schemas.microsoft.com/office/drawing/2014/main" id="{E3195B2E-0F38-40B4-9041-EAB804027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004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step-3-text">
            <a:extLst xmlns:a="http://schemas.openxmlformats.org/drawingml/2006/main">
              <a:ext uri="{FF2B5EF4-FFF2-40B4-BE49-F238E27FC236}">
                <a16:creationId xmlns:a16="http://schemas.microsoft.com/office/drawing/2014/main" id="{F9CD62F5-7A96-4AF9-92A8-488B9A0B8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581400"/>
            <a:ext cx="3448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Altere um único parâmetro.</a:t>
            </a:r>
          </a:p>
        </p:txBody>
      </p:sp>
      <p:sp>
        <p:nvSpPr>
          <p:cNvPr id="11" name="step-4-number">
            <a:extLst xmlns:a="http://schemas.openxmlformats.org/drawingml/2006/main">
              <a:ext uri="{FF2B5EF4-FFF2-40B4-BE49-F238E27FC236}">
                <a16:creationId xmlns:a16="http://schemas.microsoft.com/office/drawing/2014/main" id="{391F440A-19B4-4A38-BBFA-EA25D8490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4767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2" name="step-4-text">
            <a:extLst xmlns:a="http://schemas.openxmlformats.org/drawingml/2006/main">
              <a:ext uri="{FF2B5EF4-FFF2-40B4-BE49-F238E27FC236}">
                <a16:creationId xmlns:a16="http://schemas.microsoft.com/office/drawing/2014/main" id="{54216E60-35E8-41D7-B885-4F2116F88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57700"/>
            <a:ext cx="3448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Registre a pressão e explique com partículas.</a:t>
            </a:r>
          </a:p>
        </p:txBody>
      </p:sp>
      <p:sp>
        <p:nvSpPr>
          <p:cNvPr id="13" name="image-backing">
            <a:extLst xmlns:a="http://schemas.openxmlformats.org/drawingml/2006/main">
              <a:ext uri="{FF2B5EF4-FFF2-40B4-BE49-F238E27FC236}">
                <a16:creationId xmlns:a16="http://schemas.microsoft.com/office/drawing/2014/main" id="{89C06BC4-7945-4C28-951A-005A437C6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1666875"/>
            <a:ext cx="6781800" cy="4295775"/>
          </a:xfrm>
          <a:prstGeom xmlns:a="http://schemas.openxmlformats.org/drawingml/2006/main" prst="roundRect">
            <a:avLst>
              <a:gd name="adj" fmla="val 3548"/>
            </a:avLst>
          </a:prstGeom>
          <a:solidFill xmlns:a="http://schemas.openxmlformats.org/drawingml/2006/main">
            <a:srgbClr val="0A1026"/>
          </a:solidFill>
          <a:ln xmlns:a="http://schemas.openxmlformats.org/drawingml/2006/main" w="9525">
            <a:solidFill>
              <a:srgbClr val="0A1026"/>
            </a:solidFill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7fe17b2b8d4323"/>
          <a:stretch xmlns:a="http://schemas.openxmlformats.org/drawingml/2006/main"/>
        </p:blipFill>
        <p:spPr>
          <a:xfrm xmlns:a="http://schemas.openxmlformats.org/drawingml/2006/main">
            <a:off x="4933950" y="1697449"/>
            <a:ext cx="6724650" cy="4234626"/>
          </a:xfrm>
          <a:prstGeom xmlns:a="http://schemas.openxmlformats.org/drawingml/2006/main" prst="roundRect">
            <a:avLst>
              <a:gd name="adj" fmla="val 3146"/>
            </a:avLst>
          </a:prstGeom>
        </p:spPr>
      </p:pic>
      <p:sp>
        <p:nvSpPr>
          <p:cNvPr id="15" name="text-qyz355l">
            <a:extLst xmlns:a="http://schemas.openxmlformats.org/drawingml/2006/main">
              <a:ext uri="{FF2B5EF4-FFF2-40B4-BE49-F238E27FC236}">
                <a16:creationId xmlns:a16="http://schemas.microsoft.com/office/drawing/2014/main" id="{37A75A5C-55D6-48DF-AB70-130D928FE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19750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E95B65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E95B65"/>
                </a:solidFill>
                <a:latin typeface="Arial"/>
                <a:ea typeface="Arial"/>
                <a:cs typeface="Arial"/>
              </a:rPr>
              <a:t>Use Resetar entre os experimentos.</a:t>
            </a:r>
          </a:p>
        </p:txBody>
      </p:sp>
      <p:sp>
        <p:nvSpPr>
          <p:cNvPr id="16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4250C83D-9261-4C31-8F69-819053295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>Interface real do Celestial Lab</a:t>
            </a:r>
          </a:p>
        </p:txBody>
      </p:sp>
    </p:spTree>
    <p:extLst>
      <p:ext uri="{BB962C8B-B14F-4D97-AF65-F5344CB8AC3E}">
        <p14:creationId xmlns:p14="http://schemas.microsoft.com/office/powerpoint/2010/main" val="16503755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eyebrow">
            <a:extLst xmlns:a="http://schemas.openxmlformats.org/drawingml/2006/main">
              <a:ext uri="{FF2B5EF4-FFF2-40B4-BE49-F238E27FC236}">
                <a16:creationId xmlns:a16="http://schemas.microsoft.com/office/drawing/2014/main" id="{3F1453AE-1AB9-4715-8B18-E439A79C1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PREVER → TESTAR → REGISTRAR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40AB2A8-BBC6-45FB-9F9B-C7C3D9C81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Experimento 1: aquecer sem deixar expandir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C9EEC861-0764-4A47-A9FB-0CCAD181C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06">
            <a:extLst xmlns:a="http://schemas.openxmlformats.org/drawingml/2006/main">
              <a:ext uri="{FF2B5EF4-FFF2-40B4-BE49-F238E27FC236}">
                <a16:creationId xmlns:a16="http://schemas.microsoft.com/office/drawing/2014/main" id="{0A97D231-3153-4351-87E6-D4E30D357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5" name="text-j1gq0xy">
            <a:extLst xmlns:a="http://schemas.openxmlformats.org/drawingml/2006/main">
              <a:ext uri="{FF2B5EF4-FFF2-40B4-BE49-F238E27FC236}">
                <a16:creationId xmlns:a16="http://schemas.microsoft.com/office/drawing/2014/main" id="{4B42C2DF-DBCB-405D-98DD-6E23F92FB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0A1026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0A1026"/>
                </a:solidFill>
                <a:latin typeface="Arial"/>
                <a:ea typeface="Arial"/>
                <a:cs typeface="Arial"/>
              </a:rPr>
              <a:t>Mantenha V = 6,0 L e 40 partículas.</a:t>
            </a:r>
          </a:p>
        </p:txBody>
      </p:sp>
      <p:sp>
        <p:nvSpPr>
          <p:cNvPr id="6" name="step-1-number">
            <a:extLst xmlns:a="http://schemas.openxmlformats.org/drawingml/2006/main">
              <a:ext uri="{FF2B5EF4-FFF2-40B4-BE49-F238E27FC236}">
                <a16:creationId xmlns:a16="http://schemas.microsoft.com/office/drawing/2014/main" id="{3E8DF890-AF1D-44F8-849C-801A53489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step-1-text">
            <a:extLst xmlns:a="http://schemas.openxmlformats.org/drawingml/2006/main">
              <a:ext uri="{FF2B5EF4-FFF2-40B4-BE49-F238E27FC236}">
                <a16:creationId xmlns:a16="http://schemas.microsoft.com/office/drawing/2014/main" id="{BF3D2291-BD2B-4AA2-80A7-374CB0C55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362200"/>
            <a:ext cx="4210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Ajuste T para 200 K e anote P.</a:t>
            </a:r>
          </a:p>
        </p:txBody>
      </p:sp>
      <p:sp>
        <p:nvSpPr>
          <p:cNvPr id="8" name="step-2-number">
            <a:extLst xmlns:a="http://schemas.openxmlformats.org/drawingml/2006/main">
              <a:ext uri="{FF2B5EF4-FFF2-40B4-BE49-F238E27FC236}">
                <a16:creationId xmlns:a16="http://schemas.microsoft.com/office/drawing/2014/main" id="{979AB800-6534-4D0B-980F-10B50D373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242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step-2-text">
            <a:extLst xmlns:a="http://schemas.openxmlformats.org/drawingml/2006/main">
              <a:ext uri="{FF2B5EF4-FFF2-40B4-BE49-F238E27FC236}">
                <a16:creationId xmlns:a16="http://schemas.microsoft.com/office/drawing/2014/main" id="{ABF0753F-4EB0-47A3-8C1B-64485B2EB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05150"/>
            <a:ext cx="4210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Repita em 400 K e 600 K.</a:t>
            </a:r>
          </a:p>
        </p:txBody>
      </p:sp>
      <p:sp>
        <p:nvSpPr>
          <p:cNvPr id="10" name="step-3-number">
            <a:extLst xmlns:a="http://schemas.openxmlformats.org/drawingml/2006/main">
              <a:ext uri="{FF2B5EF4-FFF2-40B4-BE49-F238E27FC236}">
                <a16:creationId xmlns:a16="http://schemas.microsoft.com/office/drawing/2014/main" id="{6C367F32-310F-4C54-906F-5968882AA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671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step-3-text">
            <a:extLst xmlns:a="http://schemas.openxmlformats.org/drawingml/2006/main">
              <a:ext uri="{FF2B5EF4-FFF2-40B4-BE49-F238E27FC236}">
                <a16:creationId xmlns:a16="http://schemas.microsoft.com/office/drawing/2014/main" id="{2EE299E7-9803-4B8D-8A6A-5449C183B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48100"/>
            <a:ext cx="4210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Compare: dobrar T faz o quê com P?</a:t>
            </a:r>
          </a:p>
        </p:txBody>
      </p:sp>
      <p:sp>
        <p:nvSpPr>
          <p:cNvPr id="12" name="step-4-number">
            <a:extLst xmlns:a="http://schemas.openxmlformats.org/drawingml/2006/main">
              <a:ext uri="{FF2B5EF4-FFF2-40B4-BE49-F238E27FC236}">
                <a16:creationId xmlns:a16="http://schemas.microsoft.com/office/drawing/2014/main" id="{C6FCCDC7-3C8C-45C4-99E6-73B583C2C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101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3" name="step-4-text">
            <a:extLst xmlns:a="http://schemas.openxmlformats.org/drawingml/2006/main">
              <a:ext uri="{FF2B5EF4-FFF2-40B4-BE49-F238E27FC236}">
                <a16:creationId xmlns:a16="http://schemas.microsoft.com/office/drawing/2014/main" id="{DEC76DED-D4DE-4709-9C92-02FA90D94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91050"/>
            <a:ext cx="4210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Explique usando colisões nas paredes.</a:t>
            </a:r>
          </a:p>
        </p:txBody>
      </p:sp>
      <p:graphicFrame>
        <p:nvGraphicFramePr>
          <p:cNvPr id="31" name=""/>
          <p:cNvGraphicFramePr/>
          <p:nvPr/>
        </p:nvGraphicFramePr>
        <p:xfrm>
          <a:off xmlns:a="http://schemas.openxmlformats.org/drawingml/2006/main" x="6115050" y="2000250"/>
          <a:ext xmlns:a="http://schemas.openxmlformats.org/drawingml/2006/main" cx="4953000" cy="2895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28750"/>
                <a:gridCol w="1714500"/>
                <a:gridCol w="1809750"/>
              </a:tblGrid>
              <a:tr h="7239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 (K)</a:t>
                      </a:r>
                    </a:p>
                  </a:txBody>
                  <a:tcPr marL="95250" marR="95250" marT="76200" marB="76200" anchor="ctr">
                    <a:solidFill>
                      <a:srgbClr val="F28C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 (kPa)</a:t>
                      </a:r>
                    </a:p>
                  </a:txBody>
                  <a:tcPr marL="95250" marR="95250" marT="76200" marB="76200" anchor="ctr">
                    <a:solidFill>
                      <a:srgbClr val="F28C4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P/T</a:t>
                      </a:r>
                    </a:p>
                  </a:txBody>
                  <a:tcPr marL="95250" marR="95250" marT="76200" marB="76200" anchor="ctr">
                    <a:solidFill>
                      <a:srgbClr val="F28C45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200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________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________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400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________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________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600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________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________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prediction-prompt">
            <a:extLst xmlns:a="http://schemas.openxmlformats.org/drawingml/2006/main">
              <a:ext uri="{FF2B5EF4-FFF2-40B4-BE49-F238E27FC236}">
                <a16:creationId xmlns:a16="http://schemas.microsoft.com/office/drawing/2014/main" id="{25D2EA02-335F-46EA-A24A-C515AF810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219700"/>
            <a:ext cx="4953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-hkw0fcl">
            <a:extLst xmlns:a="http://schemas.openxmlformats.org/drawingml/2006/main">
              <a:ext uri="{FF2B5EF4-FFF2-40B4-BE49-F238E27FC236}">
                <a16:creationId xmlns:a16="http://schemas.microsoft.com/office/drawing/2014/main" id="{60EAE2A0-C685-4963-ADF4-3AD093D76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381625"/>
            <a:ext cx="4552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Previsão: P aumenta em linha reta, em curva ou não muda?</a:t>
            </a:r>
          </a:p>
        </p:txBody>
      </p:sp>
      <p:sp>
        <p:nvSpPr>
          <p:cNvPr id="17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B20DFC5D-A9E5-4D80-9259-8FF963532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>Atividade prática • 8 minutos</a:t>
            </a:r>
          </a:p>
        </p:txBody>
      </p:sp>
    </p:spTree>
    <p:extLst>
      <p:ext uri="{BB962C8B-B14F-4D97-AF65-F5344CB8AC3E}">
        <p14:creationId xmlns:p14="http://schemas.microsoft.com/office/powerpoint/2010/main" val="87553913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C388F127-7111-49AF-B39F-25A198BF9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RESULTADO: TRANSFORMAÇÃO ISOCÓRICA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68D8D55-744C-4709-A77A-489DF110C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Com volume constante, P acompanha T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1D7B8274-9788-4284-8527-7BCF43187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07">
            <a:extLst xmlns:a="http://schemas.openxmlformats.org/drawingml/2006/main">
              <a:ext uri="{FF2B5EF4-FFF2-40B4-BE49-F238E27FC236}">
                <a16:creationId xmlns:a16="http://schemas.microsoft.com/office/drawing/2014/main" id="{6CC0A9D6-4562-4C36-8460-DF10E713F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590550" y="1714500"/>
          <a:ext xmlns:a="http://schemas.openxmlformats.org/drawingml/2006/main" cx="657225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a9dd2e334604f58"/>
          </a:graphicData>
        </a:graphic>
      </p:graphicFrame>
      <p:sp>
        <p:nvSpPr>
          <p:cNvPr id="6" name="text-npft33j">
            <a:extLst xmlns:a="http://schemas.openxmlformats.org/drawingml/2006/main">
              <a:ext uri="{FF2B5EF4-FFF2-40B4-BE49-F238E27FC236}">
                <a16:creationId xmlns:a16="http://schemas.microsoft.com/office/drawing/2014/main" id="{7AA218DB-1923-4A3F-9AB2-4F423CBC5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9621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V e n constantes</a:t>
            </a:r>
          </a:p>
        </p:txBody>
      </p:sp>
      <p:sp>
        <p:nvSpPr>
          <p:cNvPr id="7" name="text-9v4r9gz">
            <a:extLst xmlns:a="http://schemas.openxmlformats.org/drawingml/2006/main">
              <a:ext uri="{FF2B5EF4-FFF2-40B4-BE49-F238E27FC236}">
                <a16:creationId xmlns:a16="http://schemas.microsoft.com/office/drawing/2014/main" id="{D24315F3-746D-4537-9C65-8B30FD23B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686050"/>
            <a:ext cx="3524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3150" b="1" i="0">
                <a:solidFill>
                  <a:srgbClr val="F28C45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F28C45"/>
                </a:solidFill>
                <a:latin typeface="Arial"/>
                <a:ea typeface="Arial"/>
                <a:cs typeface="Arial"/>
              </a:rPr>
              <a:t>P / T = constante</a:t>
            </a:r>
          </a:p>
        </p:txBody>
      </p:sp>
      <p:sp>
        <p:nvSpPr>
          <p:cNvPr id="8" name="text-2wwt5av">
            <a:extLst xmlns:a="http://schemas.openxmlformats.org/drawingml/2006/main">
              <a:ext uri="{FF2B5EF4-FFF2-40B4-BE49-F238E27FC236}">
                <a16:creationId xmlns:a16="http://schemas.microsoft.com/office/drawing/2014/main" id="{34A362BE-7258-45DB-A142-41B9343C2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714750"/>
            <a:ext cx="3238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Temperatura maior → partículas mais rápidas → colisões mais intensas → pressão maior.</a:t>
            </a:r>
          </a:p>
        </p:txBody>
      </p:sp>
      <p:sp>
        <p:nvSpPr>
          <p:cNvPr id="9" name="hook-answer">
            <a:extLst xmlns:a="http://schemas.openxmlformats.org/drawingml/2006/main">
              <a:ext uri="{FF2B5EF4-FFF2-40B4-BE49-F238E27FC236}">
                <a16:creationId xmlns:a16="http://schemas.microsoft.com/office/drawing/2014/main" id="{7C7AA510-9D14-4F27-AC73-E58C0E573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5181600"/>
            <a:ext cx="3429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ccqjhm0">
            <a:extLst xmlns:a="http://schemas.openxmlformats.org/drawingml/2006/main">
              <a:ext uri="{FF2B5EF4-FFF2-40B4-BE49-F238E27FC236}">
                <a16:creationId xmlns:a16="http://schemas.microsoft.com/office/drawing/2014/main" id="{B714D864-84EC-4E55-8A6C-E07705B65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35305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E95B65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E95B65"/>
                </a:solidFill>
                <a:latin typeface="Arial"/>
                <a:ea typeface="Arial"/>
                <a:cs typeface="Arial"/>
              </a:rPr>
              <a:t>Voltando ao pneu: a pressão aumenta.</a:t>
            </a:r>
          </a:p>
        </p:txBody>
      </p:sp>
      <p:sp>
        <p:nvSpPr>
          <p:cNvPr id="11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10CEB88E-83C3-4738-A2E5-E868D96B9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>Dados calculados pelo mesmo modelo do simulador</a:t>
            </a:r>
          </a:p>
        </p:txBody>
      </p:sp>
    </p:spTree>
    <p:extLst>
      <p:ext uri="{BB962C8B-B14F-4D97-AF65-F5344CB8AC3E}">
        <p14:creationId xmlns:p14="http://schemas.microsoft.com/office/powerpoint/2010/main" val="32384022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eyebrow">
            <a:extLst xmlns:a="http://schemas.openxmlformats.org/drawingml/2006/main">
              <a:ext uri="{FF2B5EF4-FFF2-40B4-BE49-F238E27FC236}">
                <a16:creationId xmlns:a16="http://schemas.microsoft.com/office/drawing/2014/main" id="{184B7438-1C4F-4774-AB7D-46C8CA7F1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PREVER → TESTAR → REGISTRAR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12D3EF3-510B-4D3D-9F92-CC5511302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Experimento 2: comprimir sem aquecer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1D963694-74E2-46C0-A176-3CB126B51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08">
            <a:extLst xmlns:a="http://schemas.openxmlformats.org/drawingml/2006/main">
              <a:ext uri="{FF2B5EF4-FFF2-40B4-BE49-F238E27FC236}">
                <a16:creationId xmlns:a16="http://schemas.microsoft.com/office/drawing/2014/main" id="{3923B34B-DDC9-441C-83DE-88BFD1505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text-e0a65jk">
            <a:extLst xmlns:a="http://schemas.openxmlformats.org/drawingml/2006/main">
              <a:ext uri="{FF2B5EF4-FFF2-40B4-BE49-F238E27FC236}">
                <a16:creationId xmlns:a16="http://schemas.microsoft.com/office/drawing/2014/main" id="{6C17F9FD-8712-4496-9B4E-90DB159AE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52600"/>
            <a:ext cx="485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0A1026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0A1026"/>
                </a:solidFill>
                <a:latin typeface="Arial"/>
                <a:ea typeface="Arial"/>
                <a:cs typeface="Arial"/>
              </a:rPr>
              <a:t>Mantenha T = 300 K e 40 partículas.</a:t>
            </a:r>
          </a:p>
        </p:txBody>
      </p:sp>
      <p:sp>
        <p:nvSpPr>
          <p:cNvPr id="6" name="step-1-number">
            <a:extLst xmlns:a="http://schemas.openxmlformats.org/drawingml/2006/main">
              <a:ext uri="{FF2B5EF4-FFF2-40B4-BE49-F238E27FC236}">
                <a16:creationId xmlns:a16="http://schemas.microsoft.com/office/drawing/2014/main" id="{9BA43900-D12F-48D4-A39B-C3C1134A3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812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step-1-text">
            <a:extLst xmlns:a="http://schemas.openxmlformats.org/drawingml/2006/main">
              <a:ext uri="{FF2B5EF4-FFF2-40B4-BE49-F238E27FC236}">
                <a16:creationId xmlns:a16="http://schemas.microsoft.com/office/drawing/2014/main" id="{09449D8E-DAED-4D70-91C0-24B5C5FB9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362200"/>
            <a:ext cx="4210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Ajuste V para 3,0 L e anote P.</a:t>
            </a:r>
          </a:p>
        </p:txBody>
      </p:sp>
      <p:sp>
        <p:nvSpPr>
          <p:cNvPr id="8" name="step-2-number">
            <a:extLst xmlns:a="http://schemas.openxmlformats.org/drawingml/2006/main">
              <a:ext uri="{FF2B5EF4-FFF2-40B4-BE49-F238E27FC236}">
                <a16:creationId xmlns:a16="http://schemas.microsoft.com/office/drawing/2014/main" id="{0DFAE3BF-F5C7-42A5-9003-B40E826F3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242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step-2-text">
            <a:extLst xmlns:a="http://schemas.openxmlformats.org/drawingml/2006/main">
              <a:ext uri="{FF2B5EF4-FFF2-40B4-BE49-F238E27FC236}">
                <a16:creationId xmlns:a16="http://schemas.microsoft.com/office/drawing/2014/main" id="{EDC02611-4DD7-4847-BDCC-35F4D2CCF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05150"/>
            <a:ext cx="4210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Repita em 6,0 L e 9,0 L.</a:t>
            </a:r>
          </a:p>
        </p:txBody>
      </p:sp>
      <p:sp>
        <p:nvSpPr>
          <p:cNvPr id="10" name="step-3-number">
            <a:extLst xmlns:a="http://schemas.openxmlformats.org/drawingml/2006/main">
              <a:ext uri="{FF2B5EF4-FFF2-40B4-BE49-F238E27FC236}">
                <a16:creationId xmlns:a16="http://schemas.microsoft.com/office/drawing/2014/main" id="{8C0BFCBA-EC33-4E06-9C0F-60019913C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671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step-3-text">
            <a:extLst xmlns:a="http://schemas.openxmlformats.org/drawingml/2006/main">
              <a:ext uri="{FF2B5EF4-FFF2-40B4-BE49-F238E27FC236}">
                <a16:creationId xmlns:a16="http://schemas.microsoft.com/office/drawing/2014/main" id="{0DEDD5D3-F6F6-4738-8EC5-0C7C46F68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48100"/>
            <a:ext cx="4210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Calcule P × V em cada linha.</a:t>
            </a:r>
          </a:p>
        </p:txBody>
      </p:sp>
      <p:sp>
        <p:nvSpPr>
          <p:cNvPr id="12" name="step-4-number">
            <a:extLst xmlns:a="http://schemas.openxmlformats.org/drawingml/2006/main">
              <a:ext uri="{FF2B5EF4-FFF2-40B4-BE49-F238E27FC236}">
                <a16:creationId xmlns:a16="http://schemas.microsoft.com/office/drawing/2014/main" id="{721804F3-99AB-4EC8-A85D-40472F62D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1010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3" name="step-4-text">
            <a:extLst xmlns:a="http://schemas.openxmlformats.org/drawingml/2006/main">
              <a:ext uri="{FF2B5EF4-FFF2-40B4-BE49-F238E27FC236}">
                <a16:creationId xmlns:a16="http://schemas.microsoft.com/office/drawing/2014/main" id="{932F6151-BC2D-4CB1-A450-A6C33D15D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91050"/>
            <a:ext cx="4210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Explique por que comprimir eleva P.</a:t>
            </a:r>
          </a:p>
        </p:txBody>
      </p:sp>
      <p:graphicFrame>
        <p:nvGraphicFramePr>
          <p:cNvPr id="31" name=""/>
          <p:cNvGraphicFramePr/>
          <p:nvPr/>
        </p:nvGraphicFramePr>
        <p:xfrm>
          <a:off xmlns:a="http://schemas.openxmlformats.org/drawingml/2006/main" x="6115050" y="2000250"/>
          <a:ext xmlns:a="http://schemas.openxmlformats.org/drawingml/2006/main" cx="4953000" cy="2895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28750"/>
                <a:gridCol w="1714500"/>
                <a:gridCol w="1809750"/>
              </a:tblGrid>
              <a:tr h="7239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V (L)</a:t>
                      </a:r>
                    </a:p>
                  </a:txBody>
                  <a:tcPr marL="95250" marR="95250" marT="76200" marB="76200" anchor="ctr">
                    <a:solidFill>
                      <a:srgbClr val="3D8D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 (kPa)</a:t>
                      </a:r>
                    </a:p>
                  </a:txBody>
                  <a:tcPr marL="95250" marR="95250" marT="76200" marB="76200" anchor="ctr">
                    <a:solidFill>
                      <a:srgbClr val="3D8D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 × V</a:t>
                      </a:r>
                    </a:p>
                  </a:txBody>
                  <a:tcPr marL="95250" marR="95250" marT="76200" marB="76200" anchor="ctr">
                    <a:solidFill>
                      <a:srgbClr val="3D8D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3,0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________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________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6,0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________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________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723900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9,0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________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________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volume-prediction">
            <a:extLst xmlns:a="http://schemas.openxmlformats.org/drawingml/2006/main">
              <a:ext uri="{FF2B5EF4-FFF2-40B4-BE49-F238E27FC236}">
                <a16:creationId xmlns:a16="http://schemas.microsoft.com/office/drawing/2014/main" id="{CFEC5DE9-E541-43D4-A645-DF444F7D7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219700"/>
            <a:ext cx="4953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-4u04m0c">
            <a:extLst xmlns:a="http://schemas.openxmlformats.org/drawingml/2006/main">
              <a:ext uri="{FF2B5EF4-FFF2-40B4-BE49-F238E27FC236}">
                <a16:creationId xmlns:a16="http://schemas.microsoft.com/office/drawing/2014/main" id="{C41EC01D-2CB1-4C80-98E9-BBE670679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381625"/>
            <a:ext cx="4552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Previsão: ao triplicar V, o que acontece com P?</a:t>
            </a:r>
          </a:p>
        </p:txBody>
      </p:sp>
      <p:sp>
        <p:nvSpPr>
          <p:cNvPr id="17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710B98D1-B235-4784-B9BD-75345828D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>Atividade prática • 8 minutos</a:t>
            </a:r>
          </a:p>
        </p:txBody>
      </p:sp>
    </p:spTree>
    <p:extLst>
      <p:ext uri="{BB962C8B-B14F-4D97-AF65-F5344CB8AC3E}">
        <p14:creationId xmlns:p14="http://schemas.microsoft.com/office/powerpoint/2010/main" val="15102753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">
            <a:extLst xmlns:a="http://schemas.openxmlformats.org/drawingml/2006/main">
              <a:ext uri="{FF2B5EF4-FFF2-40B4-BE49-F238E27FC236}">
                <a16:creationId xmlns:a16="http://schemas.microsoft.com/office/drawing/2014/main" id="{593B793A-7B9C-4707-BA84-B908FBC5C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RESULTADO: TRANSFORMAÇÃO ISOTÉRMICA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86A7158-A8A9-44E9-8234-BA29EC50B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A T constante, aumentar V reduz P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EF6C96C3-9D1F-49A2-956F-A30721027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09">
            <a:extLst xmlns:a="http://schemas.openxmlformats.org/drawingml/2006/main">
              <a:ext uri="{FF2B5EF4-FFF2-40B4-BE49-F238E27FC236}">
                <a16:creationId xmlns:a16="http://schemas.microsoft.com/office/drawing/2014/main" id="{D0C35F70-22E6-4BC6-853D-854C4F05B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590550" y="1714500"/>
          <a:ext xmlns:a="http://schemas.openxmlformats.org/drawingml/2006/main" cx="666750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6a7cc239406489d"/>
          </a:graphicData>
        </a:graphic>
      </p:graphicFrame>
      <p:sp>
        <p:nvSpPr>
          <p:cNvPr id="6" name="text-q1i70iz">
            <a:extLst xmlns:a="http://schemas.openxmlformats.org/drawingml/2006/main">
              <a:ext uri="{FF2B5EF4-FFF2-40B4-BE49-F238E27FC236}">
                <a16:creationId xmlns:a16="http://schemas.microsoft.com/office/drawing/2014/main" id="{82671F90-68C3-4E75-93FE-9FD40A46B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9621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T e n constantes</a:t>
            </a:r>
          </a:p>
        </p:txBody>
      </p:sp>
      <p:sp>
        <p:nvSpPr>
          <p:cNvPr id="7" name="text-wbbwgea">
            <a:extLst xmlns:a="http://schemas.openxmlformats.org/drawingml/2006/main">
              <a:ext uri="{FF2B5EF4-FFF2-40B4-BE49-F238E27FC236}">
                <a16:creationId xmlns:a16="http://schemas.microsoft.com/office/drawing/2014/main" id="{78C652B2-5161-4CFB-BA27-B8733DF9D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686050"/>
            <a:ext cx="3714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31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P × V = constante</a:t>
            </a:r>
          </a:p>
        </p:txBody>
      </p:sp>
      <p:sp>
        <p:nvSpPr>
          <p:cNvPr id="8" name="text-n7gceh3">
            <a:extLst xmlns:a="http://schemas.openxmlformats.org/drawingml/2006/main">
              <a:ext uri="{FF2B5EF4-FFF2-40B4-BE49-F238E27FC236}">
                <a16:creationId xmlns:a16="http://schemas.microsoft.com/office/drawing/2014/main" id="{FB8131E1-255A-4337-98CF-570B92B44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714750"/>
            <a:ext cx="3238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Menos espaço → mais encontros com as paredes por intervalo de tempo → pressão maior.</a:t>
            </a:r>
          </a:p>
        </p:txBody>
      </p:sp>
      <p:sp>
        <p:nvSpPr>
          <p:cNvPr id="9" name="inverse-callout">
            <a:extLst xmlns:a="http://schemas.openxmlformats.org/drawingml/2006/main">
              <a:ext uri="{FF2B5EF4-FFF2-40B4-BE49-F238E27FC236}">
                <a16:creationId xmlns:a16="http://schemas.microsoft.com/office/drawing/2014/main" id="{014429FC-5180-47B7-933D-F7F6700E9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5238750"/>
            <a:ext cx="3429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F8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uaa07ie">
            <a:extLst xmlns:a="http://schemas.openxmlformats.org/drawingml/2006/main">
              <a:ext uri="{FF2B5EF4-FFF2-40B4-BE49-F238E27FC236}">
                <a16:creationId xmlns:a16="http://schemas.microsoft.com/office/drawing/2014/main" id="{03454AF7-32E8-40D7-A1DA-F44A9EDE6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391150"/>
            <a:ext cx="304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Dobrar V reduz P à metade.</a:t>
            </a:r>
          </a:p>
        </p:txBody>
      </p:sp>
      <p:sp>
        <p:nvSpPr>
          <p:cNvPr id="11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7138E057-7865-4B1C-948D-6F98E0BF2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>Dados calculados pelo mesmo modelo do simulador</a:t>
            </a:r>
          </a:p>
        </p:txBody>
      </p:sp>
    </p:spTree>
    <p:extLst>
      <p:ext uri="{BB962C8B-B14F-4D97-AF65-F5344CB8AC3E}">
        <p14:creationId xmlns:p14="http://schemas.microsoft.com/office/powerpoint/2010/main" val="152667877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yebrow">
            <a:extLst xmlns:a="http://schemas.openxmlformats.org/drawingml/2006/main">
              <a:ext uri="{FF2B5EF4-FFF2-40B4-BE49-F238E27FC236}">
                <a16:creationId xmlns:a16="http://schemas.microsoft.com/office/drawing/2014/main" id="{5EB9514F-70E8-41E7-9BCD-2DA1A339F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MAPA DAS TRANSFORMAÇÕES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2B6243B-25AB-401B-B415-FD4EB6E0E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Cada transformação fixa uma grandeza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CCA0B417-786D-444D-BB28-463E5BF83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10">
            <a:extLst xmlns:a="http://schemas.openxmlformats.org/drawingml/2006/main">
              <a:ext uri="{FF2B5EF4-FFF2-40B4-BE49-F238E27FC236}">
                <a16:creationId xmlns:a16="http://schemas.microsoft.com/office/drawing/2014/main" id="{5B2B05BA-C480-409F-A365-C0592024E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533400" y="1790700"/>
          <a:ext xmlns:a="http://schemas.openxmlformats.org/drawingml/2006/main" cx="11125200" cy="3676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1619250"/>
                <a:gridCol w="2476500"/>
                <a:gridCol w="2381250"/>
                <a:gridCol w="2552700"/>
              </a:tblGrid>
              <a:tr h="919163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Transformação</a:t>
                      </a:r>
                    </a:p>
                  </a:txBody>
                  <a:tcPr marL="95250" marR="95250" marT="76200" marB="76200" anchor="ctr">
                    <a:solidFill>
                      <a:srgbClr val="0A10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Constante</a:t>
                      </a:r>
                    </a:p>
                  </a:txBody>
                  <a:tcPr marL="95250" marR="95250" marT="76200" marB="76200" anchor="ctr">
                    <a:solidFill>
                      <a:srgbClr val="0A10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Controle livre</a:t>
                      </a:r>
                    </a:p>
                  </a:txBody>
                  <a:tcPr marL="95250" marR="95250" marT="76200" marB="76200" anchor="ctr">
                    <a:solidFill>
                      <a:srgbClr val="0A10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Gráfico no Celestial</a:t>
                      </a:r>
                    </a:p>
                  </a:txBody>
                  <a:tcPr marL="95250" marR="95250" marT="76200" marB="76200" anchor="ctr">
                    <a:solidFill>
                      <a:srgbClr val="0A10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Relação</a:t>
                      </a:r>
                    </a:p>
                  </a:txBody>
                  <a:tcPr marL="95250" marR="95250" marT="76200" marB="76200" anchor="ctr">
                    <a:solidFill>
                      <a:srgbClr val="0A1026"/>
                    </a:solidFill>
                  </a:tcPr>
                </a:tc>
              </a:tr>
              <a:tr h="919163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Isotérmica</a:t>
                      </a:r>
                    </a:p>
                  </a:txBody>
                  <a:tcPr marL="95250" marR="95250" marT="66675" marB="66675" anchor="ctr">
                    <a:solidFill>
                      <a:srgbClr val="DD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T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Volume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P × V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P·V = constante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919163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Isobárica</a:t>
                      </a:r>
                    </a:p>
                  </a:txBody>
                  <a:tcPr marL="95250" marR="95250" marT="66675" marB="66675" anchor="ctr">
                    <a:solidFill>
                      <a:srgbClr val="FDE8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P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Temperatura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V × T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V/T = constante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919163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Isocórica</a:t>
                      </a:r>
                    </a:p>
                  </a:txBody>
                  <a:tcPr marL="95250" marR="95250" marT="66675" marB="66675" anchor="ctr">
                    <a:solidFill>
                      <a:srgbClr val="E4F6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V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Temperatura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P × T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P/T = constante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-7qxhztu">
            <a:extLst xmlns:a="http://schemas.openxmlformats.org/drawingml/2006/main">
              <a:ext uri="{FF2B5EF4-FFF2-40B4-BE49-F238E27FC236}">
                <a16:creationId xmlns:a16="http://schemas.microsoft.com/office/drawing/2014/main" id="{6AFE972A-C4F1-4D8C-8227-988EF34C5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772150"/>
            <a:ext cx="895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Regra de ouro: identifique primeiro o que permanece constante.</a:t>
            </a:r>
          </a:p>
        </p:txBody>
      </p:sp>
      <p:sp>
        <p:nvSpPr>
          <p:cNvPr id="7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57E2B71F-ABD4-4F5D-813F-A8BC03C2E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>Modelo de gás ideal</a:t>
            </a:r>
          </a:p>
        </p:txBody>
      </p:sp>
    </p:spTree>
    <p:extLst>
      <p:ext uri="{BB962C8B-B14F-4D97-AF65-F5344CB8AC3E}">
        <p14:creationId xmlns:p14="http://schemas.microsoft.com/office/powerpoint/2010/main" val="160368814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">
            <a:extLst xmlns:a="http://schemas.openxmlformats.org/drawingml/2006/main">
              <a:ext uri="{FF2B5EF4-FFF2-40B4-BE49-F238E27FC236}">
                <a16:creationId xmlns:a16="http://schemas.microsoft.com/office/drawing/2014/main" id="{AE61DB03-F300-4FD5-8853-255643E3F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TRABALHO EM GRUPOS • 10 MINUTOS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43A87B3-A3F5-4B02-9885-DF2D66A74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Desafio: produza uma evidência e uma explicação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671C839A-9BFC-41BD-95E2-98594C922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11">
            <a:extLst xmlns:a="http://schemas.openxmlformats.org/drawingml/2006/main">
              <a:ext uri="{FF2B5EF4-FFF2-40B4-BE49-F238E27FC236}">
                <a16:creationId xmlns:a16="http://schemas.microsoft.com/office/drawing/2014/main" id="{659A8CAD-32CE-44F6-BFA5-9AE41CAE4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5" name="text-kvsdpsd">
            <a:extLst xmlns:a="http://schemas.openxmlformats.org/drawingml/2006/main">
              <a:ext uri="{FF2B5EF4-FFF2-40B4-BE49-F238E27FC236}">
                <a16:creationId xmlns:a16="http://schemas.microsoft.com/office/drawing/2014/main" id="{05F9BF97-6981-4397-B62C-CA137289D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14500"/>
            <a:ext cx="3257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16C8D8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6C8D8"/>
                </a:solidFill>
                <a:latin typeface="Arial"/>
                <a:ea typeface="Arial"/>
                <a:cs typeface="Arial"/>
              </a:rPr>
              <a:t>Grupo A • Isotérmica</a:t>
            </a:r>
          </a:p>
        </p:txBody>
      </p:sp>
      <p:sp>
        <p:nvSpPr>
          <p:cNvPr id="6" name="image-backing">
            <a:extLst xmlns:a="http://schemas.openxmlformats.org/drawingml/2006/main">
              <a:ext uri="{FF2B5EF4-FFF2-40B4-BE49-F238E27FC236}">
                <a16:creationId xmlns:a16="http://schemas.microsoft.com/office/drawing/2014/main" id="{030C63E7-E8CA-40AA-AE3D-73C15C0F3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124075"/>
            <a:ext cx="3314700" cy="2200275"/>
          </a:xfrm>
          <a:prstGeom xmlns:a="http://schemas.openxmlformats.org/drawingml/2006/main" prst="roundRect">
            <a:avLst>
              <a:gd name="adj" fmla="val 6926"/>
            </a:avLst>
          </a:prstGeom>
          <a:solidFill xmlns:a="http://schemas.openxmlformats.org/drawingml/2006/main">
            <a:srgbClr val="0A1026"/>
          </a:solidFill>
          <a:ln xmlns:a="http://schemas.openxmlformats.org/drawingml/2006/main" w="9525">
            <a:solidFill>
              <a:srgbClr val="0A1026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5f6a9b087344c1"/>
          <a:srcRect xmlns:a="http://schemas.openxmlformats.org/drawingml/2006/main" l="0" t="188" r="0" b="18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2152650"/>
            <a:ext cx="3257550" cy="2143125"/>
          </a:xfrm>
          <a:prstGeom xmlns:a="http://schemas.openxmlformats.org/drawingml/2006/main" prst="roundRect">
            <a:avLst>
              <a:gd name="adj" fmla="val 6222"/>
            </a:avLst>
          </a:prstGeom>
        </p:spPr>
      </p:pic>
      <p:sp>
        <p:nvSpPr>
          <p:cNvPr id="8" name="text-yeilbsy">
            <a:extLst xmlns:a="http://schemas.openxmlformats.org/drawingml/2006/main">
              <a:ext uri="{FF2B5EF4-FFF2-40B4-BE49-F238E27FC236}">
                <a16:creationId xmlns:a16="http://schemas.microsoft.com/office/drawing/2014/main" id="{AE82284D-02CC-4ACF-9F69-883DDF2DF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552950"/>
            <a:ext cx="3105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Mova V. Esboce P × V.</a:t>
            </a:r>
          </a:p>
          <a:p xmlns:a="http://schemas.openxmlformats.org/drawingml/2006/main">
            <a:pPr algn="ctr">
              <a:defRPr sz="157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Explique por que a curva cai.</a:t>
            </a:r>
          </a:p>
        </p:txBody>
      </p:sp>
      <p:sp>
        <p:nvSpPr>
          <p:cNvPr id="9" name="text-1eanlnu">
            <a:extLst xmlns:a="http://schemas.openxmlformats.org/drawingml/2006/main">
              <a:ext uri="{FF2B5EF4-FFF2-40B4-BE49-F238E27FC236}">
                <a16:creationId xmlns:a16="http://schemas.microsoft.com/office/drawing/2014/main" id="{76BCE19A-94EF-4CF6-AF3E-B50A61A40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714500"/>
            <a:ext cx="3257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E95B65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E95B65"/>
                </a:solidFill>
                <a:latin typeface="Arial"/>
                <a:ea typeface="Arial"/>
                <a:cs typeface="Arial"/>
              </a:rPr>
              <a:t>Grupo B • Isobárica</a:t>
            </a:r>
          </a:p>
        </p:txBody>
      </p:sp>
      <p:sp>
        <p:nvSpPr>
          <p:cNvPr id="10" name="image-backing">
            <a:extLst xmlns:a="http://schemas.openxmlformats.org/drawingml/2006/main">
              <a:ext uri="{FF2B5EF4-FFF2-40B4-BE49-F238E27FC236}">
                <a16:creationId xmlns:a16="http://schemas.microsoft.com/office/drawing/2014/main" id="{22CDE6AE-FC7C-4FFD-B20E-3DEF226A7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2124075"/>
            <a:ext cx="3314700" cy="2200275"/>
          </a:xfrm>
          <a:prstGeom xmlns:a="http://schemas.openxmlformats.org/drawingml/2006/main" prst="roundRect">
            <a:avLst>
              <a:gd name="adj" fmla="val 6926"/>
            </a:avLst>
          </a:prstGeom>
          <a:solidFill xmlns:a="http://schemas.openxmlformats.org/drawingml/2006/main">
            <a:srgbClr val="0A1026"/>
          </a:solidFill>
          <a:ln xmlns:a="http://schemas.openxmlformats.org/drawingml/2006/main" w="9525">
            <a:solidFill>
              <a:srgbClr val="0A1026"/>
            </a:solidFill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3febb3add742e0"/>
          <a:srcRect xmlns:a="http://schemas.openxmlformats.org/drawingml/2006/main" l="0" t="188" r="0" b="18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248150" y="2152650"/>
            <a:ext cx="3257550" cy="2143125"/>
          </a:xfrm>
          <a:prstGeom xmlns:a="http://schemas.openxmlformats.org/drawingml/2006/main" prst="roundRect">
            <a:avLst>
              <a:gd name="adj" fmla="val 6222"/>
            </a:avLst>
          </a:prstGeom>
        </p:spPr>
      </p:pic>
      <p:sp>
        <p:nvSpPr>
          <p:cNvPr id="12" name="text-89glrhe">
            <a:extLst xmlns:a="http://schemas.openxmlformats.org/drawingml/2006/main">
              <a:ext uri="{FF2B5EF4-FFF2-40B4-BE49-F238E27FC236}">
                <a16:creationId xmlns:a16="http://schemas.microsoft.com/office/drawing/2014/main" id="{EA0E13FF-53BA-4A9C-8CB7-5CEB9E97D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552950"/>
            <a:ext cx="3105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Aumente T. Observe V × T.</a:t>
            </a:r>
          </a:p>
          <a:p xmlns:a="http://schemas.openxmlformats.org/drawingml/2006/main">
            <a:pPr algn="ctr">
              <a:defRPr sz="157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Explique a expansão.</a:t>
            </a:r>
          </a:p>
        </p:txBody>
      </p:sp>
      <p:sp>
        <p:nvSpPr>
          <p:cNvPr id="13" name="text-mn0pupv">
            <a:extLst xmlns:a="http://schemas.openxmlformats.org/drawingml/2006/main">
              <a:ext uri="{FF2B5EF4-FFF2-40B4-BE49-F238E27FC236}">
                <a16:creationId xmlns:a16="http://schemas.microsoft.com/office/drawing/2014/main" id="{3CEE17DC-64E1-4F0D-A638-CE0DF11DE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714500"/>
            <a:ext cx="3257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3DBB91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3DBB91"/>
                </a:solidFill>
                <a:latin typeface="Arial"/>
                <a:ea typeface="Arial"/>
                <a:cs typeface="Arial"/>
              </a:rPr>
              <a:t>Grupo C • Isocórica</a:t>
            </a:r>
          </a:p>
        </p:txBody>
      </p:sp>
      <p:sp>
        <p:nvSpPr>
          <p:cNvPr id="14" name="image-backing">
            <a:extLst xmlns:a="http://schemas.openxmlformats.org/drawingml/2006/main">
              <a:ext uri="{FF2B5EF4-FFF2-40B4-BE49-F238E27FC236}">
                <a16:creationId xmlns:a16="http://schemas.microsoft.com/office/drawing/2014/main" id="{65A62022-C5D7-48D8-864F-C62F5AC52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15275" y="2124075"/>
            <a:ext cx="3314700" cy="2200275"/>
          </a:xfrm>
          <a:prstGeom xmlns:a="http://schemas.openxmlformats.org/drawingml/2006/main" prst="roundRect">
            <a:avLst>
              <a:gd name="adj" fmla="val 6926"/>
            </a:avLst>
          </a:prstGeom>
          <a:solidFill xmlns:a="http://schemas.openxmlformats.org/drawingml/2006/main">
            <a:srgbClr val="0A1026"/>
          </a:solidFill>
          <a:ln xmlns:a="http://schemas.openxmlformats.org/drawingml/2006/main" w="9525">
            <a:solidFill>
              <a:srgbClr val="0A1026"/>
            </a:solidFill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3fb5e5295c4ad5"/>
          <a:srcRect xmlns:a="http://schemas.openxmlformats.org/drawingml/2006/main" l="0" t="188" r="0" b="18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43850" y="2152650"/>
            <a:ext cx="3257550" cy="2143125"/>
          </a:xfrm>
          <a:prstGeom xmlns:a="http://schemas.openxmlformats.org/drawingml/2006/main" prst="roundRect">
            <a:avLst>
              <a:gd name="adj" fmla="val 6222"/>
            </a:avLst>
          </a:prstGeom>
        </p:spPr>
      </p:pic>
      <p:sp>
        <p:nvSpPr>
          <p:cNvPr id="16" name="text-uiax9ui">
            <a:extLst xmlns:a="http://schemas.openxmlformats.org/drawingml/2006/main">
              <a:ext uri="{FF2B5EF4-FFF2-40B4-BE49-F238E27FC236}">
                <a16:creationId xmlns:a16="http://schemas.microsoft.com/office/drawing/2014/main" id="{6E19147C-F53E-45CF-92E5-720133C90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552950"/>
            <a:ext cx="3105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7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Aumente T. Observe P × T.</a:t>
            </a:r>
          </a:p>
          <a:p xmlns:a="http://schemas.openxmlformats.org/drawingml/2006/main">
            <a:pPr algn="ctr">
              <a:defRPr sz="157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Explique a pressão maior.</a:t>
            </a:r>
          </a:p>
        </p:txBody>
      </p:sp>
      <p:sp>
        <p:nvSpPr>
          <p:cNvPr id="17" name="rule">
            <a:extLst xmlns:a="http://schemas.openxmlformats.org/drawingml/2006/main">
              <a:ext uri="{FF2B5EF4-FFF2-40B4-BE49-F238E27FC236}">
                <a16:creationId xmlns:a16="http://schemas.microsoft.com/office/drawing/2014/main" id="{F463D073-F957-4C6D-B7FE-556751BC5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657850"/>
            <a:ext cx="8572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-u1xrmv7">
            <a:extLst xmlns:a="http://schemas.openxmlformats.org/drawingml/2006/main">
              <a:ext uri="{FF2B5EF4-FFF2-40B4-BE49-F238E27FC236}">
                <a16:creationId xmlns:a16="http://schemas.microsoft.com/office/drawing/2014/main" id="{8BB9043A-A7F1-4D45-AABD-4D0510075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848350"/>
            <a:ext cx="8686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0A1026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0A1026"/>
                </a:solidFill>
                <a:latin typeface="Arial"/>
                <a:ea typeface="Arial"/>
                <a:cs typeface="Arial"/>
              </a:rPr>
              <a:t>Entrega: um gráfico + uma frase com partículas + a grandeza constante.</a:t>
            </a:r>
          </a:p>
        </p:txBody>
      </p:sp>
      <p:sp>
        <p:nvSpPr>
          <p:cNvPr id="19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9D83965E-3B7B-406A-AEB4-53C688E0C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>Celestial Lab • aba Transformações</a:t>
            </a:r>
          </a:p>
        </p:txBody>
      </p:sp>
    </p:spTree>
    <p:extLst>
      <p:ext uri="{BB962C8B-B14F-4D97-AF65-F5344CB8AC3E}">
        <p14:creationId xmlns:p14="http://schemas.microsoft.com/office/powerpoint/2010/main" val="137587332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eyebrow">
            <a:extLst xmlns:a="http://schemas.openxmlformats.org/drawingml/2006/main">
              <a:ext uri="{FF2B5EF4-FFF2-40B4-BE49-F238E27FC236}">
                <a16:creationId xmlns:a16="http://schemas.microsoft.com/office/drawing/2014/main" id="{EEAC3E19-365D-4B13-A402-4E639D573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SISTEMA • VIZINHANÇA • ENERGIA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B947874-E086-4515-9D7B-FE387AB8F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Termodinâmica rastreia a energia do sistema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1B96B3D4-0F33-48B0-BF5E-A2DCBEC81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12">
            <a:extLst xmlns:a="http://schemas.openxmlformats.org/drawingml/2006/main">
              <a:ext uri="{FF2B5EF4-FFF2-40B4-BE49-F238E27FC236}">
                <a16:creationId xmlns:a16="http://schemas.microsoft.com/office/drawing/2014/main" id="{4C0FC5AE-422D-457C-87D3-78675B533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5" name="text-w7w423h">
            <a:extLst xmlns:a="http://schemas.openxmlformats.org/drawingml/2006/main">
              <a:ext uri="{FF2B5EF4-FFF2-40B4-BE49-F238E27FC236}">
                <a16:creationId xmlns:a16="http://schemas.microsoft.com/office/drawing/2014/main" id="{5D6AE144-7059-4048-BED5-6FAE7684A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5270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250" b="1" i="0">
                <a:solidFill>
                  <a:srgbClr val="F28C45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F28C45"/>
                </a:solidFill>
                <a:latin typeface="Arial"/>
                <a:ea typeface="Arial"/>
                <a:cs typeface="Arial"/>
              </a:rPr>
              <a:t>CALOR (Q)</a:t>
            </a:r>
          </a:p>
        </p:txBody>
      </p:sp>
      <p:sp>
        <p:nvSpPr>
          <p:cNvPr id="6" name="text-9pvnr3q">
            <a:extLst xmlns:a="http://schemas.openxmlformats.org/drawingml/2006/main">
              <a:ext uri="{FF2B5EF4-FFF2-40B4-BE49-F238E27FC236}">
                <a16:creationId xmlns:a16="http://schemas.microsoft.com/office/drawing/2014/main" id="{BC74B7B0-BFD3-4122-AA42-82A93F0DD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28950"/>
            <a:ext cx="228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energia por diferença</a:t>
            </a:r>
          </a:p>
          <a:p xmlns:a="http://schemas.openxmlformats.org/drawingml/2006/main">
            <a:pPr algn="ctr">
              <a:defRPr sz="165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de temperatura</a:t>
            </a:r>
          </a:p>
        </p:txBody>
      </p:sp>
      <p:sp>
        <p:nvSpPr>
          <p:cNvPr id="7" name="text-kavayxw">
            <a:extLst xmlns:a="http://schemas.openxmlformats.org/drawingml/2006/main">
              <a:ext uri="{FF2B5EF4-FFF2-40B4-BE49-F238E27FC236}">
                <a16:creationId xmlns:a16="http://schemas.microsoft.com/office/drawing/2014/main" id="{D1093A28-D7BE-4054-84DB-A5A4E29C5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762250"/>
            <a:ext cx="95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4800" b="1" i="0">
                <a:solidFill>
                  <a:srgbClr val="F28C45"/>
                </a:solidFill>
                <a:latin typeface="Arial"/>
                <a:ea typeface="Arial"/>
                <a:cs typeface="Arial"/>
              </a:defRPr>
            </a:pPr>
            <a:r>
              <a:rPr sz="4800" b="1" i="0">
                <a:solidFill>
                  <a:srgbClr val="F28C45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8" name="text-hrk1zq6">
            <a:extLst xmlns:a="http://schemas.openxmlformats.org/drawingml/2006/main">
              <a:ext uri="{FF2B5EF4-FFF2-40B4-BE49-F238E27FC236}">
                <a16:creationId xmlns:a16="http://schemas.microsoft.com/office/drawing/2014/main" id="{A0728E45-D9DB-4BFE-9125-94A7308AA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762250"/>
            <a:ext cx="95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48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48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9" name="system-box">
            <a:extLst xmlns:a="http://schemas.openxmlformats.org/drawingml/2006/main">
              <a:ext uri="{FF2B5EF4-FFF2-40B4-BE49-F238E27FC236}">
                <a16:creationId xmlns:a16="http://schemas.microsoft.com/office/drawing/2014/main" id="{C35CE9B6-9CC0-4C22-9EDE-419B8F716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076450"/>
            <a:ext cx="4419600" cy="257175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0A1026"/>
          </a:solidFill>
          <a:ln xmlns:a="http://schemas.openxmlformats.org/drawingml/2006/main" w="9525">
            <a:solidFill>
              <a:srgbClr val="0A1026"/>
            </a:solidFill>
            <a:prstDash val="solid"/>
          </a:ln>
        </p:spPr>
      </p:sp>
      <p:sp>
        <p:nvSpPr>
          <p:cNvPr id="10" name="text-hnh3luu">
            <a:extLst xmlns:a="http://schemas.openxmlformats.org/drawingml/2006/main">
              <a:ext uri="{FF2B5EF4-FFF2-40B4-BE49-F238E27FC236}">
                <a16:creationId xmlns:a16="http://schemas.microsoft.com/office/drawing/2014/main" id="{4F45F8A1-873D-46EE-94A0-09AC499DB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457450"/>
            <a:ext cx="3276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36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GÁS</a:t>
            </a:r>
          </a:p>
        </p:txBody>
      </p:sp>
      <p:sp>
        <p:nvSpPr>
          <p:cNvPr id="11" name="text-r3xpi84">
            <a:extLst xmlns:a="http://schemas.openxmlformats.org/drawingml/2006/main">
              <a:ext uri="{FF2B5EF4-FFF2-40B4-BE49-F238E27FC236}">
                <a16:creationId xmlns:a16="http://schemas.microsoft.com/office/drawing/2014/main" id="{2A974CB3-42CB-4B67-B663-59A17788A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143250"/>
            <a:ext cx="3276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0" i="0">
                <a:solidFill>
                  <a:srgbClr val="16C8D8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16C8D8"/>
                </a:solidFill>
                <a:latin typeface="Arial"/>
                <a:ea typeface="Arial"/>
                <a:cs typeface="Arial"/>
              </a:rPr>
              <a:t>sistema</a:t>
            </a:r>
          </a:p>
        </p:txBody>
      </p:sp>
      <p:sp>
        <p:nvSpPr>
          <p:cNvPr id="12" name="text-s381127">
            <a:extLst xmlns:a="http://schemas.openxmlformats.org/drawingml/2006/main">
              <a:ext uri="{FF2B5EF4-FFF2-40B4-BE49-F238E27FC236}">
                <a16:creationId xmlns:a16="http://schemas.microsoft.com/office/drawing/2014/main" id="{7ED08A15-1B6A-4FA1-B441-92CC7393F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790950"/>
            <a:ext cx="3276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energia interna U</a:t>
            </a:r>
          </a:p>
        </p:txBody>
      </p:sp>
      <p:sp>
        <p:nvSpPr>
          <p:cNvPr id="13" name="text-2wq5hwa">
            <a:extLst xmlns:a="http://schemas.openxmlformats.org/drawingml/2006/main">
              <a:ext uri="{FF2B5EF4-FFF2-40B4-BE49-F238E27FC236}">
                <a16:creationId xmlns:a16="http://schemas.microsoft.com/office/drawing/2014/main" id="{37804189-02F6-4766-BFFB-C17796083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552700"/>
            <a:ext cx="228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TRABALHO W</a:t>
            </a:r>
          </a:p>
        </p:txBody>
      </p:sp>
      <p:sp>
        <p:nvSpPr>
          <p:cNvPr id="14" name="text-br3a57l">
            <a:extLst xmlns:a="http://schemas.openxmlformats.org/drawingml/2006/main">
              <a:ext uri="{FF2B5EF4-FFF2-40B4-BE49-F238E27FC236}">
                <a16:creationId xmlns:a16="http://schemas.microsoft.com/office/drawing/2014/main" id="{79E93434-A28D-4D98-ACA6-3DFA10E4F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028950"/>
            <a:ext cx="228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energia por força e</a:t>
            </a:r>
          </a:p>
          <a:p xmlns:a="http://schemas.openxmlformats.org/drawingml/2006/main">
            <a:pPr algn="ctr">
              <a:defRPr sz="165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deslocamento do pistão</a:t>
            </a:r>
          </a:p>
        </p:txBody>
      </p:sp>
      <p:sp>
        <p:nvSpPr>
          <p:cNvPr id="15" name="rule">
            <a:extLst xmlns:a="http://schemas.openxmlformats.org/drawingml/2006/main">
              <a:ext uri="{FF2B5EF4-FFF2-40B4-BE49-F238E27FC236}">
                <a16:creationId xmlns:a16="http://schemas.microsoft.com/office/drawing/2014/main" id="{EF328EC2-5464-4AAD-8013-83DEAEB4B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124450"/>
            <a:ext cx="9029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text-lhibmuz">
            <a:extLst xmlns:a="http://schemas.openxmlformats.org/drawingml/2006/main">
              <a:ext uri="{FF2B5EF4-FFF2-40B4-BE49-F238E27FC236}">
                <a16:creationId xmlns:a16="http://schemas.microsoft.com/office/drawing/2014/main" id="{E32C00FD-EC6B-4F64-B578-5E27431A3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5467350"/>
            <a:ext cx="9067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Calor e trabalho são energia em trânsito; o sistema armazena energia interna.</a:t>
            </a:r>
          </a:p>
        </p:txBody>
      </p:sp>
      <p:sp>
        <p:nvSpPr>
          <p:cNvPr id="17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E41F0A15-891B-4315-9169-CBF600251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>Convenção adotada: W &gt; 0 quando o gás realiza trabalho</a:t>
            </a:r>
          </a:p>
        </p:txBody>
      </p:sp>
    </p:spTree>
    <p:extLst>
      <p:ext uri="{BB962C8B-B14F-4D97-AF65-F5344CB8AC3E}">
        <p14:creationId xmlns:p14="http://schemas.microsoft.com/office/powerpoint/2010/main" val="52793605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eyebrow">
            <a:extLst xmlns:a="http://schemas.openxmlformats.org/drawingml/2006/main">
              <a:ext uri="{FF2B5EF4-FFF2-40B4-BE49-F238E27FC236}">
                <a16:creationId xmlns:a16="http://schemas.microsoft.com/office/drawing/2014/main" id="{C0431A7E-92EF-4078-86A0-B6514DDB5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PRIMEIRA LEI DA TERMODINÂMICA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DAF007C-0FDE-4156-9592-951C1745B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A 1ª Lei é a conservação da energia no sistema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D9AADDB6-8E92-4897-8F98-1D6010D02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13">
            <a:extLst xmlns:a="http://schemas.openxmlformats.org/drawingml/2006/main">
              <a:ext uri="{FF2B5EF4-FFF2-40B4-BE49-F238E27FC236}">
                <a16:creationId xmlns:a16="http://schemas.microsoft.com/office/drawing/2014/main" id="{B2AF8E86-0B4E-48E5-8198-16E6BAF4E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5" name="first-law">
            <a:extLst xmlns:a="http://schemas.openxmlformats.org/drawingml/2006/main">
              <a:ext uri="{FF2B5EF4-FFF2-40B4-BE49-F238E27FC236}">
                <a16:creationId xmlns:a16="http://schemas.microsoft.com/office/drawing/2014/main" id="{A4182F71-DCFC-402E-B058-CACB9D5C0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14550"/>
            <a:ext cx="5334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5700" b="1" i="0">
                <a:solidFill>
                  <a:srgbClr val="0A1026"/>
                </a:solidFill>
                <a:latin typeface="Arial"/>
                <a:ea typeface="Arial"/>
                <a:cs typeface="Arial"/>
              </a:defRPr>
            </a:pPr>
            <a:r>
              <a:rPr sz="5700" b="1" i="0">
                <a:solidFill>
                  <a:srgbClr val="0A1026"/>
                </a:solidFill>
                <a:latin typeface="Arial"/>
                <a:ea typeface="Arial"/>
                <a:cs typeface="Arial"/>
              </a:rPr>
              <a:t>ΔU = Q − W</a:t>
            </a:r>
          </a:p>
        </p:txBody>
      </p:sp>
      <p:sp>
        <p:nvSpPr>
          <p:cNvPr id="6" name="text-r4fsmis">
            <a:extLst xmlns:a="http://schemas.openxmlformats.org/drawingml/2006/main">
              <a:ext uri="{FF2B5EF4-FFF2-40B4-BE49-F238E27FC236}">
                <a16:creationId xmlns:a16="http://schemas.microsoft.com/office/drawing/2014/main" id="{FB4AD577-E1AB-4C8F-9FB1-45E3ED8F6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333750"/>
            <a:ext cx="4229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variação da energia interna</a:t>
            </a:r>
          </a:p>
        </p:txBody>
      </p:sp>
      <p:sp>
        <p:nvSpPr>
          <p:cNvPr id="7" name="rule">
            <a:extLst xmlns:a="http://schemas.openxmlformats.org/drawingml/2006/main">
              <a:ext uri="{FF2B5EF4-FFF2-40B4-BE49-F238E27FC236}">
                <a16:creationId xmlns:a16="http://schemas.microsoft.com/office/drawing/2014/main" id="{29748A67-D974-420D-AEB0-C075E286D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00250"/>
            <a:ext cx="9525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hqbobar">
            <a:extLst xmlns:a="http://schemas.openxmlformats.org/drawingml/2006/main">
              <a:ext uri="{FF2B5EF4-FFF2-40B4-BE49-F238E27FC236}">
                <a16:creationId xmlns:a16="http://schemas.microsoft.com/office/drawing/2014/main" id="{99167D14-D924-476A-B960-75FDA5DCC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038350"/>
            <a:ext cx="1676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F28C45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F28C45"/>
                </a:solidFill>
                <a:latin typeface="Arial"/>
                <a:ea typeface="Arial"/>
                <a:cs typeface="Arial"/>
              </a:rPr>
              <a:t>Q &gt; 0</a:t>
            </a:r>
          </a:p>
        </p:txBody>
      </p:sp>
      <p:sp>
        <p:nvSpPr>
          <p:cNvPr id="9" name="text-ua6emk4">
            <a:extLst xmlns:a="http://schemas.openxmlformats.org/drawingml/2006/main">
              <a:ext uri="{FF2B5EF4-FFF2-40B4-BE49-F238E27FC236}">
                <a16:creationId xmlns:a16="http://schemas.microsoft.com/office/drawing/2014/main" id="{3593AEEF-3FD1-4EE1-8857-1650E498A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05740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o gás recebe energia por calor</a:t>
            </a:r>
          </a:p>
        </p:txBody>
      </p:sp>
      <p:sp>
        <p:nvSpPr>
          <p:cNvPr id="10" name="text-nqrtg31">
            <a:extLst xmlns:a="http://schemas.openxmlformats.org/drawingml/2006/main">
              <a:ext uri="{FF2B5EF4-FFF2-40B4-BE49-F238E27FC236}">
                <a16:creationId xmlns:a16="http://schemas.microsoft.com/office/drawing/2014/main" id="{7E8F1CAC-F7D3-4BFE-8490-E570C2CB7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162300"/>
            <a:ext cx="1676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3D8DFF"/>
                </a:solidFill>
                <a:latin typeface="Arial"/>
                <a:ea typeface="Arial"/>
                <a:cs typeface="Arial"/>
              </a:rPr>
              <a:t>W &gt; 0</a:t>
            </a:r>
          </a:p>
        </p:txBody>
      </p:sp>
      <p:sp>
        <p:nvSpPr>
          <p:cNvPr id="11" name="text-zpbfhj3">
            <a:extLst xmlns:a="http://schemas.openxmlformats.org/drawingml/2006/main">
              <a:ext uri="{FF2B5EF4-FFF2-40B4-BE49-F238E27FC236}">
                <a16:creationId xmlns:a16="http://schemas.microsoft.com/office/drawing/2014/main" id="{C0C246CA-3B99-4D8C-A20A-176638664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18135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o gás realiza trabalho ao expandir</a:t>
            </a:r>
          </a:p>
        </p:txBody>
      </p:sp>
      <p:sp>
        <p:nvSpPr>
          <p:cNvPr id="12" name="text-ogiuhaw">
            <a:extLst xmlns:a="http://schemas.openxmlformats.org/drawingml/2006/main">
              <a:ext uri="{FF2B5EF4-FFF2-40B4-BE49-F238E27FC236}">
                <a16:creationId xmlns:a16="http://schemas.microsoft.com/office/drawing/2014/main" id="{C661CBDA-1305-42D0-8988-CBCC8CDFF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286250"/>
            <a:ext cx="1676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3DBB91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3DBB91"/>
                </a:solidFill>
                <a:latin typeface="Arial"/>
                <a:ea typeface="Arial"/>
                <a:cs typeface="Arial"/>
              </a:rPr>
              <a:t>ΔU &gt; 0</a:t>
            </a:r>
          </a:p>
        </p:txBody>
      </p:sp>
      <p:sp>
        <p:nvSpPr>
          <p:cNvPr id="13" name="text-jba0h6z">
            <a:extLst xmlns:a="http://schemas.openxmlformats.org/drawingml/2006/main">
              <a:ext uri="{FF2B5EF4-FFF2-40B4-BE49-F238E27FC236}">
                <a16:creationId xmlns:a16="http://schemas.microsoft.com/office/drawing/2014/main" id="{A032CD80-E676-4074-847C-236E1DD83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30530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a energia interna aumenta</a:t>
            </a:r>
          </a:p>
        </p:txBody>
      </p:sp>
      <p:sp>
        <p:nvSpPr>
          <p:cNvPr id="14" name="energy-balance">
            <a:extLst xmlns:a="http://schemas.openxmlformats.org/drawingml/2006/main">
              <a:ext uri="{FF2B5EF4-FFF2-40B4-BE49-F238E27FC236}">
                <a16:creationId xmlns:a16="http://schemas.microsoft.com/office/drawing/2014/main" id="{E35A724B-8478-4E0B-8638-4E8B841D1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81500"/>
            <a:ext cx="4953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-3n7bmqn">
            <a:extLst xmlns:a="http://schemas.openxmlformats.org/drawingml/2006/main">
              <a:ext uri="{FF2B5EF4-FFF2-40B4-BE49-F238E27FC236}">
                <a16:creationId xmlns:a16="http://schemas.microsoft.com/office/drawing/2014/main" id="{27377B22-F657-42D8-8102-EB900A5BB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648200"/>
            <a:ext cx="43434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Se Q &gt; W, parte da energia recebida permanece no gás: ΔU aumenta.</a:t>
            </a:r>
          </a:p>
        </p:txBody>
      </p:sp>
      <p:sp>
        <p:nvSpPr>
          <p:cNvPr id="16" name="text-5g2b4um">
            <a:extLst xmlns:a="http://schemas.openxmlformats.org/drawingml/2006/main">
              <a:ext uri="{FF2B5EF4-FFF2-40B4-BE49-F238E27FC236}">
                <a16:creationId xmlns:a16="http://schemas.microsoft.com/office/drawing/2014/main" id="{0226B248-CA10-4FD6-B9B7-BB3CBA72B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505450"/>
            <a:ext cx="4286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E95B65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E95B65"/>
                </a:solidFill>
                <a:latin typeface="Arial"/>
                <a:ea typeface="Arial"/>
                <a:cs typeface="Arial"/>
              </a:rPr>
              <a:t>Use sempre a convenção de sinais indicada.</a:t>
            </a:r>
          </a:p>
        </p:txBody>
      </p:sp>
      <p:sp>
        <p:nvSpPr>
          <p:cNvPr id="17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83E0A63B-8432-40CA-9FE4-F19B08654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>Modelo de gás ideal</a:t>
            </a:r>
          </a:p>
        </p:txBody>
      </p:sp>
    </p:spTree>
    <p:extLst>
      <p:ext uri="{BB962C8B-B14F-4D97-AF65-F5344CB8AC3E}">
        <p14:creationId xmlns:p14="http://schemas.microsoft.com/office/powerpoint/2010/main" val="208022073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yebrow">
            <a:extLst xmlns:a="http://schemas.openxmlformats.org/drawingml/2006/main">
              <a:ext uri="{FF2B5EF4-FFF2-40B4-BE49-F238E27FC236}">
                <a16:creationId xmlns:a16="http://schemas.microsoft.com/office/drawing/2014/main" id="{C49CB637-092A-4CA2-BF24-F01D2D2EF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GASES IDEAIS + TERMODINÂMICA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C2E818F-9BFD-42E5-9C08-8EA2CF73D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Cada transformação conta uma história de energia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21570672-6C43-4DBD-87D6-EA11B3AD8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14">
            <a:extLst xmlns:a="http://schemas.openxmlformats.org/drawingml/2006/main">
              <a:ext uri="{FF2B5EF4-FFF2-40B4-BE49-F238E27FC236}">
                <a16:creationId xmlns:a16="http://schemas.microsoft.com/office/drawing/2014/main" id="{0BA0A2C2-3E0E-4BF8-B38E-815E946C0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533400" y="1771650"/>
          <a:ext xmlns:a="http://schemas.openxmlformats.org/drawingml/2006/main" cx="111252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2667000"/>
                <a:gridCol w="2667000"/>
                <a:gridCol w="3695700"/>
              </a:tblGrid>
              <a:tr h="928688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Processo</a:t>
                      </a:r>
                    </a:p>
                  </a:txBody>
                  <a:tcPr marL="95250" marR="95250" marT="76200" marB="76200" anchor="ctr">
                    <a:solidFill>
                      <a:srgbClr val="087E8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 que não muda</a:t>
                      </a:r>
                    </a:p>
                  </a:txBody>
                  <a:tcPr marL="95250" marR="95250" marT="76200" marB="76200" anchor="ctr">
                    <a:solidFill>
                      <a:srgbClr val="087E8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Trabalho / energia</a:t>
                      </a:r>
                    </a:p>
                  </a:txBody>
                  <a:tcPr marL="95250" marR="95250" marT="76200" marB="76200" anchor="ctr">
                    <a:solidFill>
                      <a:srgbClr val="087E8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Leitura física</a:t>
                      </a:r>
                    </a:p>
                  </a:txBody>
                  <a:tcPr marL="95250" marR="95250" marT="76200" marB="76200" anchor="ctr">
                    <a:solidFill>
                      <a:srgbClr val="087E8B"/>
                    </a:solidFill>
                  </a:tcPr>
                </a:tc>
              </a:tr>
              <a:tr h="928688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Isocórico</a:t>
                      </a:r>
                    </a:p>
                  </a:txBody>
                  <a:tcPr marL="95250" marR="95250" marT="66675" marB="66675" anchor="ctr">
                    <a:solidFill>
                      <a:srgbClr val="E4F6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V constante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W = 0; ΔU = Q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Aquecer aumenta T, U e P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928688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Isotérmico</a:t>
                      </a:r>
                    </a:p>
                  </a:txBody>
                  <a:tcPr marL="95250" marR="95250" marT="66675" marB="66675" anchor="ctr">
                    <a:solidFill>
                      <a:srgbClr val="DD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T constante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ΔU = 0; Q = W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Energia recebida sustenta a expansão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  <a:tr h="928688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Isobárico</a:t>
                      </a:r>
                    </a:p>
                  </a:txBody>
                  <a:tcPr marL="95250" marR="95250" marT="66675" marB="66675" anchor="ctr">
                    <a:solidFill>
                      <a:srgbClr val="FDE8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P constante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Q = ΔU + W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0131A"/>
                          </a:solidFill>
                          <a:latin typeface="Arial"/>
                          <a:ea typeface="Arial"/>
                          <a:cs typeface="Arial"/>
                        </a:rPr>
                        <a:t>Aquecer aumenta T e expande o gás</a:t>
                      </a:r>
                    </a:p>
                  </a:txBody>
                  <a:tcPr marL="95250" marR="95250" marT="66675" marB="66675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-txlv8c6">
            <a:extLst xmlns:a="http://schemas.openxmlformats.org/drawingml/2006/main">
              <a:ext uri="{FF2B5EF4-FFF2-40B4-BE49-F238E27FC236}">
                <a16:creationId xmlns:a16="http://schemas.microsoft.com/office/drawing/2014/main" id="{36C63C7C-099F-4287-A3CF-537F97A2E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810250"/>
            <a:ext cx="9486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0A1026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0A1026"/>
                </a:solidFill>
                <a:latin typeface="Arial"/>
                <a:ea typeface="Arial"/>
                <a:cs typeface="Arial"/>
              </a:rPr>
              <a:t>Para um gás ideal, mudar a temperatura significa mudar a energia interna.</a:t>
            </a:r>
          </a:p>
        </p:txBody>
      </p:sp>
      <p:sp>
        <p:nvSpPr>
          <p:cNvPr id="7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68433B6F-8526-4F6E-82A2-5376C23EB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>Síntese conceitual • sem cálculo de áreas no 1º ano</a:t>
            </a:r>
          </a:p>
        </p:txBody>
      </p:sp>
    </p:spTree>
    <p:extLst>
      <p:ext uri="{BB962C8B-B14F-4D97-AF65-F5344CB8AC3E}">
        <p14:creationId xmlns:p14="http://schemas.microsoft.com/office/powerpoint/2010/main" val="115074815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eyebrow">
            <a:extLst xmlns:a="http://schemas.openxmlformats.org/drawingml/2006/main">
              <a:ext uri="{FF2B5EF4-FFF2-40B4-BE49-F238E27FC236}">
                <a16:creationId xmlns:a16="http://schemas.microsoft.com/office/drawing/2014/main" id="{EF334376-026D-4F60-B5DE-31B68EA4C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EXIT TICKET</a:t>
            </a:r>
          </a:p>
        </p:txBody>
      </p:sp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971786C-1BFB-4E16-A9AD-3E708CA3A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85800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Saída: três respostas em quatro minutos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9B5EC89A-B453-4845-95F4-4F43C913B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525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page-15">
            <a:extLst xmlns:a="http://schemas.openxmlformats.org/drawingml/2006/main">
              <a:ext uri="{FF2B5EF4-FFF2-40B4-BE49-F238E27FC236}">
                <a16:creationId xmlns:a16="http://schemas.microsoft.com/office/drawing/2014/main" id="{D4FDE260-0362-4480-9888-0E890C08F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2350" y="624840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05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5" name="text-2h7uqrl">
            <a:extLst xmlns:a="http://schemas.openxmlformats.org/drawingml/2006/main">
              <a:ext uri="{FF2B5EF4-FFF2-40B4-BE49-F238E27FC236}">
                <a16:creationId xmlns:a16="http://schemas.microsoft.com/office/drawing/2014/main" id="{BA9695F1-889D-4250-9613-69524A4C3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288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text-jaqzqbn">
            <a:extLst xmlns:a="http://schemas.openxmlformats.org/drawingml/2006/main">
              <a:ext uri="{FF2B5EF4-FFF2-40B4-BE49-F238E27FC236}">
                <a16:creationId xmlns:a16="http://schemas.microsoft.com/office/drawing/2014/main" id="{365485F2-E0CF-4FF4-894D-28DE96ECF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18097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Em um recipiente rígido, por que aquecer o gás aumenta a pressão?</a:t>
            </a:r>
          </a:p>
        </p:txBody>
      </p:sp>
      <p:sp>
        <p:nvSpPr>
          <p:cNvPr id="7" name="rule">
            <a:extLst xmlns:a="http://schemas.openxmlformats.org/drawingml/2006/main">
              <a:ext uri="{FF2B5EF4-FFF2-40B4-BE49-F238E27FC236}">
                <a16:creationId xmlns:a16="http://schemas.microsoft.com/office/drawing/2014/main" id="{2FF34E70-0E6F-404E-B26C-5C728AD42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27622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text-ip40j0r">
            <a:extLst xmlns:a="http://schemas.openxmlformats.org/drawingml/2006/main">
              <a:ext uri="{FF2B5EF4-FFF2-40B4-BE49-F238E27FC236}">
                <a16:creationId xmlns:a16="http://schemas.microsoft.com/office/drawing/2014/main" id="{06502912-0082-4E99-BCD0-41544ECF1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861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text-2mfr9lt">
            <a:extLst xmlns:a="http://schemas.openxmlformats.org/drawingml/2006/main">
              <a:ext uri="{FF2B5EF4-FFF2-40B4-BE49-F238E27FC236}">
                <a16:creationId xmlns:a16="http://schemas.microsoft.com/office/drawing/2014/main" id="{28EE8F15-0024-4800-B845-8167FCB5B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0670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Se o volume dobra com T e n constantes, o que ocorre com a pressão?</a:t>
            </a:r>
          </a:p>
        </p:txBody>
      </p:sp>
      <p:sp>
        <p:nvSpPr>
          <p:cNvPr id="10" name="rule">
            <a:extLst xmlns:a="http://schemas.openxmlformats.org/drawingml/2006/main">
              <a:ext uri="{FF2B5EF4-FFF2-40B4-BE49-F238E27FC236}">
                <a16:creationId xmlns:a16="http://schemas.microsoft.com/office/drawing/2014/main" id="{973FE075-9590-48CC-B2EF-8F1B26336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019550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umy42l9">
            <a:extLst xmlns:a="http://schemas.openxmlformats.org/drawingml/2006/main">
              <a:ext uri="{FF2B5EF4-FFF2-40B4-BE49-F238E27FC236}">
                <a16:creationId xmlns:a16="http://schemas.microsoft.com/office/drawing/2014/main" id="{8E924FC8-2F7D-4C9C-AD79-AD7014BC1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43400"/>
            <a:ext cx="68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950" b="1" i="0">
                <a:solidFill>
                  <a:srgbClr val="087E8B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87E8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text-nabcoc3">
            <a:extLst xmlns:a="http://schemas.openxmlformats.org/drawingml/2006/main">
              <a:ext uri="{FF2B5EF4-FFF2-40B4-BE49-F238E27FC236}">
                <a16:creationId xmlns:a16="http://schemas.microsoft.com/office/drawing/2014/main" id="{0E596E60-1F38-44EA-A2D5-1FBBA198D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3243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10131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0131A"/>
                </a:solidFill>
                <a:latin typeface="Arial"/>
                <a:ea typeface="Arial"/>
                <a:cs typeface="Arial"/>
              </a:rPr>
              <a:t>Um gás recebe 100 J de calor e realiza 40 J de trabalho. Qual é ΔU?</a:t>
            </a:r>
          </a:p>
        </p:txBody>
      </p:sp>
      <p:sp>
        <p:nvSpPr>
          <p:cNvPr id="13" name="closing-box">
            <a:extLst xmlns:a="http://schemas.openxmlformats.org/drawingml/2006/main">
              <a:ext uri="{FF2B5EF4-FFF2-40B4-BE49-F238E27FC236}">
                <a16:creationId xmlns:a16="http://schemas.microsoft.com/office/drawing/2014/main" id="{2807A345-6B81-44A8-A58E-E194D8F4F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657850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A10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5fnwh88">
            <a:extLst xmlns:a="http://schemas.openxmlformats.org/drawingml/2006/main">
              <a:ext uri="{FF2B5EF4-FFF2-40B4-BE49-F238E27FC236}">
                <a16:creationId xmlns:a16="http://schemas.microsoft.com/office/drawing/2014/main" id="{137B858F-11CB-4EBF-9664-F32412863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5781675"/>
            <a:ext cx="67818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Explique com partículas, relações e energia.</a:t>
            </a:r>
          </a:p>
        </p:txBody>
      </p:sp>
      <p:sp>
        <p:nvSpPr>
          <p:cNvPr id="15" name="source-footer">
            <a:extLst xmlns:a="http://schemas.openxmlformats.org/drawingml/2006/main">
              <a:ext uri="{FF2B5EF4-FFF2-40B4-BE49-F238E27FC236}">
                <a16:creationId xmlns:a16="http://schemas.microsoft.com/office/drawing/2014/main" id="{5CB69F38-8A63-46D8-BC3E-AB3EE89CE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53175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7A8089"/>
                </a:solidFill>
                <a:latin typeface="Arial"/>
                <a:ea typeface="Arial"/>
                <a:cs typeface="Arial"/>
              </a:defRPr>
            </a:pPr>
            <a:r>
              <a:rPr sz="975" b="0" i="0">
                <a:solidFill>
                  <a:srgbClr val="7A8089"/>
                </a:solidFill>
                <a:latin typeface="Arial"/>
                <a:ea typeface="Arial"/>
                <a:cs typeface="Arial"/>
              </a:rPr>
              <a:t>Síntese individual</a:t>
            </a:r>
          </a:p>
        </p:txBody>
      </p:sp>
    </p:spTree>
    <p:extLst>
      <p:ext uri="{BB962C8B-B14F-4D97-AF65-F5344CB8AC3E}">
        <p14:creationId xmlns:p14="http://schemas.microsoft.com/office/powerpoint/2010/main" val="82333779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2026-08-23T16:32:54.0090000Z</dcterms:created>
  <dcterms:modified xsi:type="dcterms:W3CDTF">2026-08-23T16:32:54.0090000Z</dcterms:modified>
</coreProperties>
</file>